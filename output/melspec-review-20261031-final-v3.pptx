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512a93a5a4362" /><Relationship Type="http://schemas.openxmlformats.org/officeDocument/2006/relationships/extended-properties" Target="/docProps/app.xml" Id="R60fccedfedbd4791" /><Relationship Type="http://schemas.openxmlformats.org/officeDocument/2006/relationships/officeDocument" Target="/ppt/presentation.xml" Id="Rbda2c1f5f32f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1702f549047d6"/>
  </p:sldMasterIdLst>
  <p:notesMasterIdLst>
    <p:notesMasterId xmlns:r="http://schemas.openxmlformats.org/officeDocument/2006/relationships" r:id="Ra9eeae37a1c14deb"/>
  </p:notesMasterIdLst>
  <p:sldIdLst>
    <p:sldId xmlns:r="http://schemas.openxmlformats.org/officeDocument/2006/relationships" id="256" r:id="Rff9c611912354f2d"/>
    <p:sldId xmlns:r="http://schemas.openxmlformats.org/officeDocument/2006/relationships" id="257" r:id="R2519022e04054a6e"/>
    <p:sldId xmlns:r="http://schemas.openxmlformats.org/officeDocument/2006/relationships" id="258" r:id="R3409a85e88bd4f07"/>
    <p:sldId xmlns:r="http://schemas.openxmlformats.org/officeDocument/2006/relationships" id="259" r:id="R05f0d23b8b7e4567"/>
    <p:sldId xmlns:r="http://schemas.openxmlformats.org/officeDocument/2006/relationships" id="260" r:id="R5382e0b3b65a40cf"/>
    <p:sldId xmlns:r="http://schemas.openxmlformats.org/officeDocument/2006/relationships" id="261" r:id="Rb264a94a04f54f1c"/>
    <p:sldId xmlns:r="http://schemas.openxmlformats.org/officeDocument/2006/relationships" id="262" r:id="R5436238a9ae64c8b"/>
    <p:sldId xmlns:r="http://schemas.openxmlformats.org/officeDocument/2006/relationships" id="263" r:id="R35eb148b5a7a4ff6"/>
    <p:sldId xmlns:r="http://schemas.openxmlformats.org/officeDocument/2006/relationships" id="264" r:id="R93e530c4db7c498f"/>
    <p:sldId xmlns:r="http://schemas.openxmlformats.org/officeDocument/2006/relationships" id="265" r:id="R0b42c6aa36824421"/>
    <p:sldId xmlns:r="http://schemas.openxmlformats.org/officeDocument/2006/relationships" id="266" r:id="R5c8056dfc4944253"/>
    <p:sldId xmlns:r="http://schemas.openxmlformats.org/officeDocument/2006/relationships" id="267" r:id="R1ecba1f4f7ea475f"/>
    <p:sldId xmlns:r="http://schemas.openxmlformats.org/officeDocument/2006/relationships" id="268" r:id="Reedb597c88524828"/>
    <p:sldId xmlns:r="http://schemas.openxmlformats.org/officeDocument/2006/relationships" id="269" r:id="R6ad4930321554322"/>
    <p:sldId xmlns:r="http://schemas.openxmlformats.org/officeDocument/2006/relationships" id="270" r:id="Ref64926dad6b4d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78d2f82fc430f" /><Relationship Type="http://schemas.openxmlformats.org/officeDocument/2006/relationships/slideMaster" Target="/ppt/slideMasters/slideMaster1.xml" Id="R0b61702f549047d6" /><Relationship Type="http://schemas.openxmlformats.org/officeDocument/2006/relationships/notesMaster" Target="/ppt/notesMasters/notesMaster1.xml" Id="Ra9eeae37a1c14deb" /><Relationship Type="http://schemas.openxmlformats.org/officeDocument/2006/relationships/presProps" Target="/ppt/presProps.xml" Id="R1211718dc98c4ede" /><Relationship Type="http://schemas.openxmlformats.org/officeDocument/2006/relationships/tableStyles" Target="/ppt/tableStyles.xml" Id="R7b4801ab61784afa" /><Relationship Type="http://schemas.openxmlformats.org/officeDocument/2006/relationships/slide" Target="/ppt/slides/slide1.xml" Id="Rff9c611912354f2d" /><Relationship Type="http://schemas.openxmlformats.org/officeDocument/2006/relationships/slide" Target="/ppt/slides/slide2.xml" Id="R2519022e04054a6e" /><Relationship Type="http://schemas.openxmlformats.org/officeDocument/2006/relationships/slide" Target="/ppt/slides/slide3.xml" Id="R3409a85e88bd4f07" /><Relationship Type="http://schemas.openxmlformats.org/officeDocument/2006/relationships/slide" Target="/ppt/slides/slide4.xml" Id="R05f0d23b8b7e4567" /><Relationship Type="http://schemas.openxmlformats.org/officeDocument/2006/relationships/slide" Target="/ppt/slides/slide5.xml" Id="R5382e0b3b65a40cf" /><Relationship Type="http://schemas.openxmlformats.org/officeDocument/2006/relationships/slide" Target="/ppt/slides/slide6.xml" Id="Rb264a94a04f54f1c" /><Relationship Type="http://schemas.openxmlformats.org/officeDocument/2006/relationships/slide" Target="/ppt/slides/slide7.xml" Id="R5436238a9ae64c8b" /><Relationship Type="http://schemas.openxmlformats.org/officeDocument/2006/relationships/slide" Target="/ppt/slides/slide8.xml" Id="R35eb148b5a7a4ff6" /><Relationship Type="http://schemas.openxmlformats.org/officeDocument/2006/relationships/slide" Target="/ppt/slides/slide9.xml" Id="R93e530c4db7c498f" /><Relationship Type="http://schemas.openxmlformats.org/officeDocument/2006/relationships/slide" Target="/ppt/slides/slide10.xml" Id="R0b42c6aa36824421" /><Relationship Type="http://schemas.openxmlformats.org/officeDocument/2006/relationships/slide" Target="/ppt/slides/slide11.xml" Id="R5c8056dfc4944253" /><Relationship Type="http://schemas.openxmlformats.org/officeDocument/2006/relationships/slide" Target="/ppt/slides/slide12.xml" Id="R1ecba1f4f7ea475f" /><Relationship Type="http://schemas.openxmlformats.org/officeDocument/2006/relationships/slide" Target="/ppt/slides/slide13.xml" Id="Reedb597c88524828" /><Relationship Type="http://schemas.openxmlformats.org/officeDocument/2006/relationships/slide" Target="/ppt/slides/slide14.xml" Id="R6ad4930321554322" /><Relationship Type="http://schemas.openxmlformats.org/officeDocument/2006/relationships/slide" Target="/ppt/slides/slide15.xml" Id="Ref64926dad6b4d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cfbec1ceb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65950e9fa1438a" /><Relationship Type="http://schemas.openxmlformats.org/officeDocument/2006/relationships/notesMaster" Target="/ppt/notesMasters/notesMaster1.xml" Id="Raa66e9605cfc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b251d7d5d94377" /><Relationship Type="http://schemas.openxmlformats.org/officeDocument/2006/relationships/notesMaster" Target="/ppt/notesMasters/notesMaster1.xml" Id="R45d1d6b2ca01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e2c93364d14f40" /><Relationship Type="http://schemas.openxmlformats.org/officeDocument/2006/relationships/notesMaster" Target="/ppt/notesMasters/notesMaster1.xml" Id="R8bc9e2675f6e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6f3ce622f40a9" /><Relationship Type="http://schemas.openxmlformats.org/officeDocument/2006/relationships/notesMaster" Target="/ppt/notesMasters/notesMaster1.xml" Id="R8ff9990d93c843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ebff1cb6c94dc6" /><Relationship Type="http://schemas.openxmlformats.org/officeDocument/2006/relationships/notesMaster" Target="/ppt/notesMasters/notesMaster1.xml" Id="Reeeec751408241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4e53f692374954" /><Relationship Type="http://schemas.openxmlformats.org/officeDocument/2006/relationships/notesMaster" Target="/ppt/notesMasters/notesMaster1.xml" Id="R2c11b41224074f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07cc629cf7457e" /><Relationship Type="http://schemas.openxmlformats.org/officeDocument/2006/relationships/notesMaster" Target="/ppt/notesMasters/notesMaster1.xml" Id="R3ad91efc254f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99e5598627425d" /><Relationship Type="http://schemas.openxmlformats.org/officeDocument/2006/relationships/notesMaster" Target="/ppt/notesMasters/notesMaster1.xml" Id="R1c5c1e3e469743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a2cb62bb4e42eb" /><Relationship Type="http://schemas.openxmlformats.org/officeDocument/2006/relationships/notesMaster" Target="/ppt/notesMasters/notesMaster1.xml" Id="Rd3e47003ad884e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2d04e2fe3a4cb4" /><Relationship Type="http://schemas.openxmlformats.org/officeDocument/2006/relationships/notesMaster" Target="/ppt/notesMasters/notesMaster1.xml" Id="R1955c48e2bd8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3acad5cdc48b8" /><Relationship Type="http://schemas.openxmlformats.org/officeDocument/2006/relationships/notesMaster" Target="/ppt/notesMasters/notesMaster1.xml" Id="R8bc77325b57b4d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30737edd574eec" /><Relationship Type="http://schemas.openxmlformats.org/officeDocument/2006/relationships/notesMaster" Target="/ppt/notesMasters/notesMaster1.xml" Id="Rf2f67c873d7549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a0210567184730" /><Relationship Type="http://schemas.openxmlformats.org/officeDocument/2006/relationships/notesMaster" Target="/ppt/notesMasters/notesMaster1.xml" Id="R165c4615877943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4c7090ae3145eb" /><Relationship Type="http://schemas.openxmlformats.org/officeDocument/2006/relationships/notesMaster" Target="/ppt/notesMasters/notesMaster1.xml" Id="R184b42452e7644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3437447e564b59" /><Relationship Type="http://schemas.openxmlformats.org/officeDocument/2006/relationships/notesMaster" Target="/ppt/notesMasters/notesMaster1.xml" Id="R7d53bb4a38d1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这一页覆盖 001 到 009 的每一步思路和效果。相对 exp001 列使用完整四用例。</a:t>
            </a:r>
          </a:p>
          <a:p xmlns:a="http://schemas.openxmlformats.org/drawingml/2006/main">
            <a:r>
              <a:t>原实现的前 1M 样本同口径对照：exp008 为 1427.391x，exp009 为 156.271x。</a:t>
            </a:r>
          </a:p>
          <a:p xmlns:a="http://schemas.openxmlformats.org/drawingml/2006/main">
            <a:r>
              <a:t>证据来源：docs/experiment-report.md、results/final-metrics.csv、results/relative-to-original.csv。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原始版本正确，但每一帧重复分配、位反转和 twiddle 三角函数计算。</a:t>
            </a:r>
          </a:p>
          <a:p xmlns:a="http://schemas.openxmlformats.org/drawingml/2006/main">
            <a:r>
              <a:t>实数输入执行全长度复数 FFT，Mel 投影对零权重也做乘法，并物化完整的 6.3 GB double 功率谱。</a:t>
            </a:r>
          </a:p>
          <a:p xmlns:a="http://schemas.openxmlformats.org/drawingml/2006/main">
            <a:r>
              <a:t>同口径 1M 样本上，原实现为 61.663 秒，exp001 为 0.084 秒，加速 731.206x。</a:t>
            </a:r>
          </a:p>
          <a:p xmlns:a="http://schemas.openxmlformats.org/drawingml/2006/main">
            <a:r>
              <a:t>证据来源：docs/experiment-report.md 和 logs/001_packed_fft_sparse_mel_simd_slurm-187.log。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官方四用例全部通过，同口径 1M 样本相对原实现加速 1427.391x。来源：jobs 413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倍；同口径 1M 相对原实现为 156.271x。来源：jobs 415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项目内依据来自原始代码、官方评测脚本和全部 expected 数据。</a:t>
            </a:r>
          </a:p>
          <a:p xmlns:a="http://schemas.openxmlformats.org/drawingml/2006/main">
            <a:r>
              <a:t>API 设计参考 CUDA Runtime、cuFFT、OpenMP、GCC 与 Slurm 的官方文档。</a:t>
            </a:r>
          </a:p>
          <a:p xmlns:a="http://schemas.openxmlformats.org/drawingml/2006/main">
            <a:r>
              <a:t>使用 OpenAI Codex（GPT-5）辅助分析、实现草稿、实验编排和材料整理。所有结论以真实作业日志为准。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 bug 都来自实际运行，不是概念性风险。</a:t>
            </a:r>
          </a:p>
          <a:p xmlns:a="http://schemas.openxmlformats.org/drawingml/2006/main">
            <a:r>
              <a:t>跨节点 /tmp 和 ready token 竞态都涉及多进程可见性与一致性。</a:t>
            </a:r>
          </a:p>
          <a:p xmlns:a="http://schemas.openxmlformats.org/drawingml/2006/main">
            <a:r>
              <a:t>NVCC 参数和 perf 权限说明工具链边界也必须通过远程实测确认。</a:t>
            </a:r>
          </a:p>
          <a:p xmlns:a="http://schemas.openxmlformats.org/drawingml/2006/main">
            <a:r>
              <a:t>证据来源：docs/references-and-ai.md、相关 failed/success Slurm 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最终成果保留两个独立方案。单节点 exp008 为 2.733 秒，三节点 exp009 为 2.186 秒。</a:t>
            </a:r>
          </a:p>
          <a:p xmlns:a="http://schemas.openxmlformats.org/drawingml/2006/main">
            <a:r>
              <a:t>相对 exp001 的官方四用例加速分别为 1.382 倍和 1.728 倍。</a:t>
            </a:r>
          </a:p>
          <a:p xmlns:a="http://schemas.openxmlformats.org/drawingml/2006/main">
            <a:r>
              <a:t>同口径 1M 样本相对原实现分别为 1427.391 倍和 156.271 倍。</a:t>
            </a:r>
          </a:p>
          <a:p xmlns:a="http://schemas.openxmlformats.org/drawingml/2006/main">
            <a:r>
              <a:t>两个方案都通过官方四个用例。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时先确认评委问的是性能口径、实现细节还是工程过程。</a:t>
            </a:r>
          </a:p>
          <a:p xmlns:a="http://schemas.openxmlformats.org/drawingml/2006/main">
            <a:r>
              <a:t>高频问题包括基线为什么慢、CPU 与 GPU 的取舍、三个加速比的口径、输出写入和复现方式。</a:t>
            </a:r>
          </a:p>
          <a:p xmlns:a="http://schemas.openxmlformats.org/drawingml/2006/main">
            <a:r>
              <a:t>完整答案在 docs/presentation-script.md 的 Q&amp;A 速查部分。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5bd188b1540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363dd58a347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4619074ac4b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b2f51798345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1ac1f4d9944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2a2ff7d5d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05076D-A4ED-4EE0-97BE-33EDC48DC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77A91E-64A1-4AD1-B74F-E7CF1E3912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3D0528-F712-4289-AA64-95253BABB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7A376-8FDA-4EDB-829D-4EB918BA1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435E3C-7BC6-4DEF-A20F-96B6D1278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BCE7BF-DFDA-4248-B14C-5282BF240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FF5EBE-96FE-4628-A65B-35B763052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B9373E-B0A0-4E55-9B4A-84F18BB135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631DC2-04CA-4306-96B9-8E2DE3B10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7C6AD6-5F01-4003-B89E-F952B88A3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262202f58a4571" /><Relationship Type="http://schemas.openxmlformats.org/officeDocument/2006/relationships/slideLayout" Target="/ppt/slideLayouts/slideLayout1.xml" Id="R2ad11d017c024503" /><Relationship Type="http://schemas.openxmlformats.org/officeDocument/2006/relationships/slideLayout" Target="/ppt/slideLayouts/slideLayout2.xml" Id="R56fbc993ca594b75" /><Relationship Type="http://schemas.openxmlformats.org/officeDocument/2006/relationships/slideLayout" Target="/ppt/slideLayouts/slideLayout3.xml" Id="Ra9b6c12a10214239" /><Relationship Type="http://schemas.openxmlformats.org/officeDocument/2006/relationships/slideLayout" Target="/ppt/slideLayouts/slideLayout4.xml" Id="R283092e4697f49f9" /><Relationship Type="http://schemas.openxmlformats.org/officeDocument/2006/relationships/slideLayout" Target="/ppt/slideLayouts/slideLayout5.xml" Id="Ra724110dcb344e7a" /><Relationship Type="http://schemas.openxmlformats.org/officeDocument/2006/relationships/slideLayout" Target="/ppt/slideLayouts/slideLayout6.xml" Id="R34c81940366e48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d11d017c024503"/>
    <p:sldLayoutId xmlns:r="http://schemas.openxmlformats.org/officeDocument/2006/relationships" id="2147483650" r:id="R56fbc993ca594b75"/>
    <p:sldLayoutId xmlns:r="http://schemas.openxmlformats.org/officeDocument/2006/relationships" id="2147483651" r:id="Ra9b6c12a10214239"/>
    <p:sldLayoutId xmlns:r="http://schemas.openxmlformats.org/officeDocument/2006/relationships" id="2147483652" r:id="R283092e4697f49f9"/>
    <p:sldLayoutId xmlns:r="http://schemas.openxmlformats.org/officeDocument/2006/relationships" id="2147483653" r:id="Ra724110dcb344e7a"/>
    <p:sldLayoutId xmlns:r="http://schemas.openxmlformats.org/officeDocument/2006/relationships" id="2147483654" r:id="R34c81940366e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ec18c36454cc0" /><Relationship Type="http://schemas.openxmlformats.org/officeDocument/2006/relationships/notesSlide" Target="/ppt/notesSlides/notesSlide1.xml" Id="Ree266312896b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96f102f734a3e" /><Relationship Type="http://schemas.openxmlformats.org/officeDocument/2006/relationships/notesSlide" Target="/ppt/notesSlides/notesSlide2.xml" Id="Red9a0cb3c8c7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c7ab82df34318" /><Relationship Type="http://schemas.openxmlformats.org/officeDocument/2006/relationships/chart" Target="/ppt/slides/charts/chart1.xml" Id="R1e567af0ea6446b4" /><Relationship Type="http://schemas.openxmlformats.org/officeDocument/2006/relationships/notesSlide" Target="/ppt/notesSlides/notesSlide3.xml" Id="R88dbdd4667a34c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827552678430b" /><Relationship Type="http://schemas.openxmlformats.org/officeDocument/2006/relationships/notesSlide" Target="/ppt/notesSlides/notesSlide4.xml" Id="R2b0aec654a594b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6b83a6d6b4222" /><Relationship Type="http://schemas.openxmlformats.org/officeDocument/2006/relationships/notesSlide" Target="/ppt/notesSlides/notesSlide5.xml" Id="Rd4ce53b8c68345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027f258c34527" /><Relationship Type="http://schemas.openxmlformats.org/officeDocument/2006/relationships/notesSlide" Target="/ppt/notesSlides/notesSlide6.xml" Id="Rd1df750ae5fa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9df37bb12405c" /><Relationship Type="http://schemas.openxmlformats.org/officeDocument/2006/relationships/chart" Target="/ppt/slides/charts/chart2.xml" Id="R3cf022761a0343c4" /><Relationship Type="http://schemas.openxmlformats.org/officeDocument/2006/relationships/notesSlide" Target="/ppt/notesSlides/notesSlide7.xml" Id="R9987a63efa0a4c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1933837e54e83" /><Relationship Type="http://schemas.openxmlformats.org/officeDocument/2006/relationships/chart" Target="/ppt/slides/charts/chart3.xml" Id="R28e69432aa0c406a" /><Relationship Type="http://schemas.openxmlformats.org/officeDocument/2006/relationships/notesSlide" Target="/ppt/notesSlides/notesSlide8.xml" Id="R59e2d6cab90c46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a1d7c4ad04dc6" /><Relationship Type="http://schemas.openxmlformats.org/officeDocument/2006/relationships/notesSlide" Target="/ppt/notesSlides/notesSlide9.xml" Id="Rcb156dbaf769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edf3ebdb34735" /><Relationship Type="http://schemas.openxmlformats.org/officeDocument/2006/relationships/notesSlide" Target="/ppt/notesSlides/notesSlide10.xml" Id="Rab6a5fdb9f4e44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751fe69be492e" /><Relationship Type="http://schemas.openxmlformats.org/officeDocument/2006/relationships/chart" Target="/ppt/slides/charts/chart4.xml" Id="R402f9246ed21479b" /><Relationship Type="http://schemas.openxmlformats.org/officeDocument/2006/relationships/notesSlide" Target="/ppt/notesSlides/notesSlide11.xml" Id="R9a59e4d1e1524e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5436b41bc4ed3" /><Relationship Type="http://schemas.openxmlformats.org/officeDocument/2006/relationships/notesSlide" Target="/ppt/notesSlides/notesSlide12.xml" Id="R8e0e7dd5f0fd45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d075c3127414f" /><Relationship Type="http://schemas.openxmlformats.org/officeDocument/2006/relationships/notesSlide" Target="/ppt/notesSlides/notesSlide13.xml" Id="R82629258f5274b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be9eb3e1b4288" /><Relationship Type="http://schemas.openxmlformats.org/officeDocument/2006/relationships/notesSlide" Target="/ppt/notesSlides/notesSlide14.xml" Id="R31544b40ed9142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d7e3708e1463a" /><Relationship Type="http://schemas.openxmlformats.org/officeDocument/2006/relationships/notesSlide" Target="/ppt/notesSlides/notesSlide15.xml" Id="R1cfe80cbc4f942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D29986C-82CF-467E-9A5E-21DB03C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AFDD4D-8B12-495B-AE53-5A0E1954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6536DC9-5989-4D25-B7DC-06C6AAA5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3DB0C-829E-42AC-B695-1485C14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9E21FDAB-C487-47C6-9FAC-27D43B5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64286C5A-07B3-4A47-A97F-C92E6325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官方四例 4/4 PASS  /  三节点相对 exp001 1.728x  /  原实现 1M：exp008 1427.391x</a:t>
            </a:r>
          </a:p>
        </p:txBody>
      </p:sp>
    </p:spTree>
    <p:extLst>
      <p:ext uri="{BB962C8B-B14F-4D97-AF65-F5344CB8AC3E}">
        <p14:creationId xmlns:p14="http://schemas.microsoft.com/office/powerpoint/2010/main" val="1428151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8B2768D3-4673-4C0B-A8E1-C72AA9BD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2D159F4-A1DB-4BB2-8BA7-6648FB5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42FD8036-2095-481E-816A-6E198B3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2C58D-099C-4852-90AB-7588C4B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2423D989-A284-4568-A21C-5D1CEFA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43AC5-FA41-4D60-B559-CC1165B93F96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A04CC-8B6E-455A-97B6-C85BD52F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8B6E90CF-CE52-4555-A66E-325DD9B5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322999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3C618314-3FD4-49A0-B42A-59D6CC1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32CB617-F17A-43F9-BF09-D5E07B2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D98859C8-3F95-48F9-B780-8DE8E7C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08549-457C-4D6E-8CCD-A782DB53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954F266-DB14-47E5-83C2-D42CAA55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E232A12-FECE-4B98-903A-52B7B9DF780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67af0ea6446b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092F9-C4E7-47EB-B021-99F9373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95FC5-581D-43EF-AE3D-DBC066B5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921B0-3D48-4E0F-8C57-DA456CE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AF02A-5B4C-4BE1-83D2-510613F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008F6-B2C0-48C6-9A87-9F0EE9F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default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exp008 1427.391x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exp009 156.271x</a:t>
            </a:r>
          </a:p>
        </p:txBody>
      </p:sp>
    </p:spTree>
    <p:extLst>
      <p:ext uri="{BB962C8B-B14F-4D97-AF65-F5344CB8AC3E}">
        <p14:creationId xmlns:p14="http://schemas.microsoft.com/office/powerpoint/2010/main" val="407388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902B21C0-80CA-4B8F-B2B6-0B5EB5E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FFD1CE0-2D8C-4D08-A89A-C2F97681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每一步优化与实测效果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6A9BF62F-CA3F-46B4-A6B7-43A7F7B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四用例对照 exp001；同口径 1M 样本：exp008 1427.391x，exp009 156.271x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4E939-B89B-4235-8664-E51D2E01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DC79B58-CDF5-4D62-8CA5-D492F0D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86AAB-61D9-4223-B63A-F263588CA41A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26720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思路与过程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相对 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打包实数 FFT、稀疏 Mel、tile、SIMD、OpenMP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cuFFT D2Z；两个 CUDA context / stream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4% CPU 帧与双 GPU 并行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 rank 原生 Slurm；本地读；token +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 CPU 2% + 双 GPU；完整 PCM 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两节点纯 GPU；本地 PCM 区间读取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阶段计时 driver；不改算法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并行归一化；单 OMP 区域；直接 float32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三节点复用 exp008；本地读 + 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51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250C0CE0-4F17-40F0-A1FB-6D211FC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F943D7D-42D4-4F5F-A604-F15C285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基线实现的主要问题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ECAB21F0-0836-42A2-A554-D64B35FC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正确但热路径包含重复计算、乘零和大块无效内存流量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26C6E-39F2-4CCB-91F4-7B29D74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D6139075-3D56-4433-932F-DB6570E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1052-FE5B-4CEE-A3DD-EA545B0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8FF05-7849-4545-BA88-30AF604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F678D-7D23-41CE-820F-9CDBAD56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每帧重新分配中间数组、计算位反转和每级 twiddle 的 cos / sin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F4259-7033-4389-9D91-11E8D2D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D3CC2-0909-4FCE-9D34-4FB16F4F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F6E2A-82E2-4688-89BF-6BAFBE5F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全长度复数 FFT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7F469-DEEC-4B58-81ED-4AFA135E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实数输入仍执行 n_fft 复数 FFT，没有利用共轭对称减半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3665A-38B1-4899-87CC-86FB1C2D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375DF-4A24-4672-BF6B-61852888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D9135-3778-46B4-8E1D-E67B1BD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稠密 Mel 投影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BF7DD-A290-4F08-B837-2B382C18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766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投影遍历所有频率箱并乘零，没有利用三角滤波器的局部非零支撑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2C5AF-5E61-46C2-94B6-E18125C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4B9D0-700E-40E9-B56B-85C633B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283-A55D-45D0-9C43-DE5934C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完整功率谱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5AF16-415D-4184-B26E-917933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double 功率谱约 6.3 GB，且 power[bin][frame] 跨行访问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FE9F0-E603-4967-BE15-D498D21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同口径 1M default：61.663 s 降至 0.084 s，exp001 加速 731.206x</a:t>
            </a:r>
          </a:p>
        </p:txBody>
      </p:sp>
    </p:spTree>
    <p:extLst>
      <p:ext uri="{BB962C8B-B14F-4D97-AF65-F5344CB8AC3E}">
        <p14:creationId xmlns:p14="http://schemas.microsoft.com/office/powerpoint/2010/main" val="2003438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A0BD29AA-3DF0-4BDD-A303-BF35952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44E163C-E1FB-433B-9651-B4B4001B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1EE7A553-1EA8-4082-A267-7BCB17D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38A03-21BD-40FA-90ED-50CF06FC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307B2134-A7FD-41B0-8BE2-7B6FE78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D5169-9969-4B5D-8BB8-5AED9F1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18798-ADAA-4EC4-BEFE-CA6690A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D5B46-468B-46D9-9D9D-B56635BB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BB364-D752-420F-95B0-4815C2D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455A6-C9C9-4D4A-AC18-EF86F62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0E7B9-A268-4C00-9B97-0744435D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5E1FF-5803-455F-B239-9316BBAB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418FD-185C-4A74-B553-8B02E7E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A5815-FE0E-4687-92EC-07242FCE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42017-3BC0-4DB8-A2FA-6FF815F8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8A049-EF4D-4452-BB62-A349BFD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C880B-048D-48D3-801F-B9CB2E05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107FF-D0E5-4D50-BBEC-719FF59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0AA01-95B5-4394-81CC-C7F16E8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84CF8-7948-4CD1-AEEA-5778C4F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1887773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4280297B-75D3-43C0-8ECA-25F5E6E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419D5DB-C61B-43C0-8C1A-052B30F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ABAC932F-4408-4681-9B11-87858E8D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6A5B7-7235-4424-9295-B579750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2C675A89-9363-498F-97D5-649B015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BBF33E0-9446-457D-8A92-D4C37872F695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f022761a0343c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A0A21-2A3B-411B-A153-2A4752E5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128AC-CEE3-449A-808D-D336FDFA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1511241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EDC89383-A9DB-4959-B7CD-823FA1F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1899DFF-66D4-45F2-8877-71E00A9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5896903C-35EB-4583-A89D-516BE4E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60912-F171-4A4C-ACDA-74A5BD5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2ADBAEEF-38DE-4F9A-A542-492C06B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A668BA-BC19-40B1-A3EE-FEFFEE78DEC1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e69432aa0c406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18BEF-C50D-46FF-BCD7-E23C466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91DA4-AD68-4356-B5A2-C5D60C84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CA9DA-63CA-4104-8275-45540A5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3B76B-D989-43AE-B12C-6CD942A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7BDD5-7960-49FD-85A8-08BAD9C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1860204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5DD5F55E-38B5-4E15-8FFA-0F430E2D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35E57F1-E6E0-4033-812A-E71981C6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单节点最终方案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DBA5B925-73A9-4F50-9303-EB4A7BE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并行归一化、单 OpenMP 区域和直接 float32；同口径 1M 原实现加速 1427.391x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C115A-24A4-460F-BA7F-2C8AFFA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22EDC7A5-096D-4EDC-915C-0273C92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15359-D0DA-42BC-BB6A-4FCBC6D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237CC-0261-4CF7-8721-155E9397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08C1-09CB-48DA-BA8D-2061ECC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7F448-6D34-4324-B6D4-8485003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1C912-A9F6-41E8-AFA1-67644D8C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AD41E-9F76-452C-9231-FD4766F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2FAF6-BB72-4F0F-8CFA-DEB84B1D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A0F4A-1C59-4617-A240-CF7A4917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75772-45C5-4808-8768-8AC6BD35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D75A8-5E26-46D1-815E-0A3C789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9C835-CEEA-4905-B7D0-2B1BAF9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5EB93-5691-4988-9A9E-F36B59C8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5FE90-753C-4674-BC8A-A35486B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D9C32-AC24-49BC-8499-FC69C502314E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99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092FA170-546B-4F04-A9BB-1F008B9E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7192247-1EF0-4E67-80B8-C268A15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三节点最终方案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2289843C-87C6-498A-BF1D-F714096E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每个节点处理本地帧区间；同口径 1M 原实现加速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1AE70-2A85-4A2F-9D3E-888A904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B30C4E3F-1902-4884-9E61-06D5B03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6B8B-7137-47AC-8827-7D8FF60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549D0-667E-486D-A32E-00E9E3CC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54D98-B72E-4AB6-B160-9861A7F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95F8A-5719-465B-9E49-43A28FBB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3FE42-77FA-476B-94ED-4D93C00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806C0-AF51-4155-A224-E6968620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DB90E-CA33-4242-BD42-D4B93A97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9D8A3-EE6D-4A22-852B-2185551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4A29E-FAD0-4D67-BF2C-6F4AABAC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7837-BA4C-4BCF-869D-21A7DA1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AFDB8-DDCD-44C5-9B01-601F951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926DC-1CBA-4271-8AC4-97D148E4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1796366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1">
            <a:extLst xmlns:a="http://schemas.openxmlformats.org/drawingml/2006/main">
              <a:ext uri="{FF2B5EF4-FFF2-40B4-BE49-F238E27FC236}">
                <a16:creationId xmlns:a16="http://schemas.microsoft.com/office/drawing/2014/main" id="{7FE99CF9-1F9D-4493-88BA-BC31676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E85BDE4-6EEA-4628-BD1E-1EB4F6F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8C0A891-5DB6-4921-B3A4-260279FA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9B89-80E5-40F1-9CD0-A7A90BA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80ECFB0A-5BA3-438A-B434-E2878537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75D4607-057A-4FDD-AD0F-3C8DBBE0D354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2f9246ed21479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34B75-9079-4410-8AFB-795FD6C5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EB0A4-767F-4A0E-A04C-C6F6F67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AC29-90D4-4C8F-A4EA-E48CA0D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123391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mark-12">
            <a:extLst xmlns:a="http://schemas.openxmlformats.org/drawingml/2006/main">
              <a:ext uri="{FF2B5EF4-FFF2-40B4-BE49-F238E27FC236}">
                <a16:creationId xmlns:a16="http://schemas.microsoft.com/office/drawing/2014/main" id="{D2AC736C-AB67-4157-8403-F5656954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4680E37-0022-43CC-B878-9317A38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参考资料与 AI 工具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F0BA14C8-1391-4ABE-B48B-C7DDB07F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实现依据、外部接口文档和 AI 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EBCD0-F6A5-4A19-B256-F99E251F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04CCFB7D-F945-4587-8BA1-96669F9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D7C43-6E6B-4A04-96D0-22D5744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项目内资料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E9696-E52A-4DCC-80B1-42D7018A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题目 README、原始 C++ 与 Python 实现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公开头文件、validate.py 与四份 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Slurm 原始日志和 nvidia-smi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9FC7E-4E52-4621-8D0A-18EC3C8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外部与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1D2B4-779A-4C84-ABB9-EBBEB3C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CUDA Runtime、cuFFT、OpenMP、GCC、Slurm API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OpenAI Codex（GPT-5）：代码阅读、方案草稿和实验编排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所有正式性能与正确性数据均来自真实 Slurm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2464E-A2FF-4275-A3F6-726052F1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0615-3031-4CB6-B44D-E55FAED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AI 辅助实现经过编译、官方用例、日志复核和口径检查。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08058-DABF-421B-9A9B-4E932AA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详细来源：docs/references-and-ai.md</a:t>
            </a:r>
          </a:p>
        </p:txBody>
      </p:sp>
    </p:spTree>
    <p:extLst>
      <p:ext uri="{BB962C8B-B14F-4D97-AF65-F5344CB8AC3E}">
        <p14:creationId xmlns:p14="http://schemas.microsoft.com/office/powerpoint/2010/main" val="14830977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13">
            <a:extLst xmlns:a="http://schemas.openxmlformats.org/drawingml/2006/main">
              <a:ext uri="{FF2B5EF4-FFF2-40B4-BE49-F238E27FC236}">
                <a16:creationId xmlns:a16="http://schemas.microsoft.com/office/drawing/2014/main" id="{D52BE6BE-1BF0-497B-8160-73A2D630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E78F332-FCC4-4B3D-807C-78E5A98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几个值得记住的 bug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F7E3B251-9887-488D-8B26-E074997B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这些问题改变了实现细节，也解释了为什么 profile 必须配合真实运行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49A2F-95C9-431A-9052-C305FE8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6F0F3AFD-C1FE-4060-8458-3F4D15B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63056-3AA5-4B4A-A79C-7C00EA4A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4F18A-1EF8-423E-820C-50EF842F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跨节点临时输入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CA763-B2BF-47F8-9C5D-28FE012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81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benchmark 把 1M PCM 放在 batch 节点 /tmp，其他 rank 不可见，作业退出 143。改为共享目录输入。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2B19A-4144-419A-BD84-07389A9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5386B-D3AD-4EA6-AC65-B810EDE8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D8109-3CD9-41E9-956A-83F378E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ready token 竞态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13AB0-5965-41FE-88C0-2C2C973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 ready 文件可能让 rank 抢跑。最终使用每轮 64-bit token，确认当前轮状态后再 pwrite。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CC5E7-7BC4-4B2B-8848-A22C3A24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2DBAE-5697-4D2C-8224-10AD272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A5384-D7AE-4109-AEDF-4CCD565D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NVCC 链接参数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1634C-F135-44CC-A9FF-3EE6145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NVCC 把 -Wl,-rpath 当作未知选项。改为通过 LD_LIBRARY_PATH 定位 CUDA 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11BDE-87BF-43DA-B0B2-32F20C7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021DE-C074-4938-81B0-28E2434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10148-23C5-4FDE-A33F-B783BEB0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perf 权限限制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5B8A7-7A12-497A-9597-76C956C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perf_event_paranoid=4 禁止硬件计数器。改用阶段计时 driver，保留有效阶段 profile 数据。</a:t>
            </a:r>
          </a:p>
        </p:txBody>
      </p:sp>
    </p:spTree>
    <p:extLst>
      <p:ext uri="{BB962C8B-B14F-4D97-AF65-F5344CB8AC3E}">
        <p14:creationId xmlns:p14="http://schemas.microsoft.com/office/powerpoint/2010/main" val="1861053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D2E4F-A389-4737-934F-8623FDE3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A4941-D298-4678-97A9-A58C6AC0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两个最终成果，覆盖单节点与三节点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150A4-D2E0-4D92-AD58-30B94177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单节点最终方案  /  exp008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87B46-7C3F-4425-8764-662F1F03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869E4-76C6-48B8-9CB7-5180C72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1.382x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6D227-C78A-4D6E-B99F-5C8A6D90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1427.391x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DE851-F322-461C-9507-D7DBEF5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三节点最终方案  /  exp009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B4D4B-41D1-4FCE-AD56-BC64C21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AE695-BEB6-47BB-A1F0-1886C64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0365A-041A-4149-88F7-E37EEFA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156.271x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5F5BC-CBB1-48A4-B7C6-4F338F2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3F17F-C025-42B3-ADE3-DB7330AF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C4939-4C31-48B3-81E2-22AA36B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两个方案均 4/4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FCEBD-17E1-4074-8A66-4EF9B835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优化阶段已停止。最终单节点与三节点成果、原始日志和复现脚本均已归档。</a:t>
            </a:r>
          </a:p>
        </p:txBody>
      </p:sp>
    </p:spTree>
    <p:extLst>
      <p:ext uri="{BB962C8B-B14F-4D97-AF65-F5344CB8AC3E}">
        <p14:creationId xmlns:p14="http://schemas.microsoft.com/office/powerpoint/2010/main" val="98680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mark-15">
            <a:extLst xmlns:a="http://schemas.openxmlformats.org/drawingml/2006/main">
              <a:ext uri="{FF2B5EF4-FFF2-40B4-BE49-F238E27FC236}">
                <a16:creationId xmlns:a16="http://schemas.microsoft.com/office/drawing/2014/main" id="{16B86508-EDC5-4E68-895D-57B77C75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5972F221-A4C9-4DAC-AE43-F51E9D8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Q&amp;A：重点追问</a:t>
            </a:r>
          </a:p>
        </p:txBody>
      </p:sp>
      <p:sp>
        <p:nvSpPr>
          <p:cNvPr id="3" name="subtitle-15">
            <a:extLst xmlns:a="http://schemas.openxmlformats.org/drawingml/2006/main">
              <a:ext uri="{FF2B5EF4-FFF2-40B4-BE49-F238E27FC236}">
                <a16:creationId xmlns:a16="http://schemas.microsoft.com/office/drawing/2014/main" id="{217D850D-AC5F-48C7-910A-467066F8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先确认问题口径，再给结论、数字和日志位置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2003C-58EB-4BC0-B78E-54EE788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5">
            <a:extLst xmlns:a="http://schemas.openxmlformats.org/drawingml/2006/main">
              <a:ext uri="{FF2B5EF4-FFF2-40B4-BE49-F238E27FC236}">
                <a16:creationId xmlns:a16="http://schemas.microsoft.com/office/drawing/2014/main" id="{56F99783-44D4-4683-8D50-0216F784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B854D-D45A-4393-A8E0-B65AFA67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C34EF-B08B-41BD-8CEA-4646439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逐页讲稿与 14 组 Q&amp;A 速查见 docs/presentation-script.md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B95BA-BAFC-4443-97E4-D1E28DA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基线为什么慢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9C68A-AD81-4FD0-ACB9-A7125EC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重复准备、全长度 FFT、稠密 Mel、6.3 GB 功率谱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786EE-E906-480A-8E0A-2EB0759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CPU 为什么赢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6CFB1-B75E-4864-B672-C180152E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479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优势被 H2D、D2H、同步和完整文件 I/O 抵消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67CB0-61A4-4B1A-9483-E8C6D73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数字怎么读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A5FC1-AD89-4117-A93E-03830E44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48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1.728x 用完整四例；1427.391x 与 156.271x 用 1M 前缀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FDC52-A270-480A-AFFC-D90D4AB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如何复现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CDD6C-5B6E-4343-8FF9-EEB2CDB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48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默认 make 构建 exp008；make final-three-node 构建 exp009</a:t>
            </a:r>
          </a:p>
        </p:txBody>
      </p:sp>
    </p:spTree>
    <p:extLst>
      <p:ext uri="{BB962C8B-B14F-4D97-AF65-F5344CB8AC3E}">
        <p14:creationId xmlns:p14="http://schemas.microsoft.com/office/powerpoint/2010/main" val="18061012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2026-10-31T01:48:37.9260000Z</dcterms:created>
  <dcterms:modified xsi:type="dcterms:W3CDTF">2026-10-31T01:48:37.9260000Z</dcterms:modified>
</coreProperties>
</file>