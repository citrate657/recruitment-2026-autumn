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bd1601d69145f3" /><Relationship Type="http://schemas.openxmlformats.org/officeDocument/2006/relationships/extended-properties" Target="/docProps/app.xml" Id="Rc4d7a57cc2cf4960" /><Relationship Type="http://schemas.openxmlformats.org/officeDocument/2006/relationships/officeDocument" Target="/ppt/presentation.xml" Id="R8ec3618387754f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da5b024e84ed5"/>
  </p:sldMasterIdLst>
  <p:notesMasterIdLst>
    <p:notesMasterId xmlns:r="http://schemas.openxmlformats.org/officeDocument/2006/relationships" r:id="R52e399ec5a7f404a"/>
  </p:notesMasterIdLst>
  <p:sldIdLst>
    <p:sldId xmlns:r="http://schemas.openxmlformats.org/officeDocument/2006/relationships" id="256" r:id="R0b5351b1d9c24fac"/>
    <p:sldId xmlns:r="http://schemas.openxmlformats.org/officeDocument/2006/relationships" id="257" r:id="Rd12115c5b6fc461d"/>
    <p:sldId xmlns:r="http://schemas.openxmlformats.org/officeDocument/2006/relationships" id="258" r:id="R50b721d7b0d74caf"/>
    <p:sldId xmlns:r="http://schemas.openxmlformats.org/officeDocument/2006/relationships" id="259" r:id="Rad8ef0a0105440e4"/>
    <p:sldId xmlns:r="http://schemas.openxmlformats.org/officeDocument/2006/relationships" id="260" r:id="R4c30aff8e1274baa"/>
    <p:sldId xmlns:r="http://schemas.openxmlformats.org/officeDocument/2006/relationships" id="261" r:id="Ra97da8cf0cd64568"/>
    <p:sldId xmlns:r="http://schemas.openxmlformats.org/officeDocument/2006/relationships" id="262" r:id="Rd2e0e17ac3684abb"/>
    <p:sldId xmlns:r="http://schemas.openxmlformats.org/officeDocument/2006/relationships" id="263" r:id="Ra531894021fd4ae3"/>
    <p:sldId xmlns:r="http://schemas.openxmlformats.org/officeDocument/2006/relationships" id="264" r:id="R363e77f0b6294e4d"/>
    <p:sldId xmlns:r="http://schemas.openxmlformats.org/officeDocument/2006/relationships" id="265" r:id="Rd3037cae7fa04c2c"/>
    <p:sldId xmlns:r="http://schemas.openxmlformats.org/officeDocument/2006/relationships" id="266" r:id="R9b2e290d5bc84690"/>
    <p:sldId xmlns:r="http://schemas.openxmlformats.org/officeDocument/2006/relationships" id="267" r:id="R794214a2c6c94647"/>
    <p:sldId xmlns:r="http://schemas.openxmlformats.org/officeDocument/2006/relationships" id="268" r:id="R2f35e9fc5a6e42ea"/>
    <p:sldId xmlns:r="http://schemas.openxmlformats.org/officeDocument/2006/relationships" id="269" r:id="Reab0e5dc393f4ca0"/>
    <p:sldId xmlns:r="http://schemas.openxmlformats.org/officeDocument/2006/relationships" id="270" r:id="Rb9e2a02526ec4355"/>
    <p:sldId xmlns:r="http://schemas.openxmlformats.org/officeDocument/2006/relationships" id="271" r:id="R9d0798f1559641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94377bcfd64682" /><Relationship Type="http://schemas.openxmlformats.org/officeDocument/2006/relationships/slideMaster" Target="/ppt/slideMasters/slideMaster1.xml" Id="R705da5b024e84ed5" /><Relationship Type="http://schemas.openxmlformats.org/officeDocument/2006/relationships/notesMaster" Target="/ppt/notesMasters/notesMaster1.xml" Id="R52e399ec5a7f404a" /><Relationship Type="http://schemas.openxmlformats.org/officeDocument/2006/relationships/presProps" Target="/ppt/presProps.xml" Id="Ra7ff77a3d9644cfa" /><Relationship Type="http://schemas.openxmlformats.org/officeDocument/2006/relationships/tableStyles" Target="/ppt/tableStyles.xml" Id="Re3b9ce491c404172" /><Relationship Type="http://schemas.openxmlformats.org/officeDocument/2006/relationships/slide" Target="/ppt/slides/slide1.xml" Id="R0b5351b1d9c24fac" /><Relationship Type="http://schemas.openxmlformats.org/officeDocument/2006/relationships/slide" Target="/ppt/slides/slide2.xml" Id="Rd12115c5b6fc461d" /><Relationship Type="http://schemas.openxmlformats.org/officeDocument/2006/relationships/slide" Target="/ppt/slides/slide3.xml" Id="R50b721d7b0d74caf" /><Relationship Type="http://schemas.openxmlformats.org/officeDocument/2006/relationships/slide" Target="/ppt/slides/slide4.xml" Id="Rad8ef0a0105440e4" /><Relationship Type="http://schemas.openxmlformats.org/officeDocument/2006/relationships/slide" Target="/ppt/slides/slide5.xml" Id="R4c30aff8e1274baa" /><Relationship Type="http://schemas.openxmlformats.org/officeDocument/2006/relationships/slide" Target="/ppt/slides/slide6.xml" Id="Ra97da8cf0cd64568" /><Relationship Type="http://schemas.openxmlformats.org/officeDocument/2006/relationships/slide" Target="/ppt/slides/slide7.xml" Id="Rd2e0e17ac3684abb" /><Relationship Type="http://schemas.openxmlformats.org/officeDocument/2006/relationships/slide" Target="/ppt/slides/slide8.xml" Id="Ra531894021fd4ae3" /><Relationship Type="http://schemas.openxmlformats.org/officeDocument/2006/relationships/slide" Target="/ppt/slides/slide9.xml" Id="R363e77f0b6294e4d" /><Relationship Type="http://schemas.openxmlformats.org/officeDocument/2006/relationships/slide" Target="/ppt/slides/slide10.xml" Id="Rd3037cae7fa04c2c" /><Relationship Type="http://schemas.openxmlformats.org/officeDocument/2006/relationships/slide" Target="/ppt/slides/slide11.xml" Id="R9b2e290d5bc84690" /><Relationship Type="http://schemas.openxmlformats.org/officeDocument/2006/relationships/slide" Target="/ppt/slides/slide12.xml" Id="R794214a2c6c94647" /><Relationship Type="http://schemas.openxmlformats.org/officeDocument/2006/relationships/slide" Target="/ppt/slides/slide13.xml" Id="R2f35e9fc5a6e42ea" /><Relationship Type="http://schemas.openxmlformats.org/officeDocument/2006/relationships/slide" Target="/ppt/slides/slide14.xml" Id="Reab0e5dc393f4ca0" /><Relationship Type="http://schemas.openxmlformats.org/officeDocument/2006/relationships/slide" Target="/ppt/slides/slide15.xml" Id="Rb9e2a02526ec4355" /><Relationship Type="http://schemas.openxmlformats.org/officeDocument/2006/relationships/slide" Target="/ppt/slides/slide16.xml" Id="R9d0798f1559641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1cda3754e648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17ebf462954ea2" /><Relationship Type="http://schemas.openxmlformats.org/officeDocument/2006/relationships/notesMaster" Target="/ppt/notesMasters/notesMaster1.xml" Id="Rb837e973623e4a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c7031fbf3f4a6a" /><Relationship Type="http://schemas.openxmlformats.org/officeDocument/2006/relationships/notesMaster" Target="/ppt/notesMasters/notesMaster1.xml" Id="R98f4876a85b649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b877704c5c4b6c" /><Relationship Type="http://schemas.openxmlformats.org/officeDocument/2006/relationships/notesMaster" Target="/ppt/notesMasters/notesMaster1.xml" Id="Rf6c4444fe7624c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9ddf8fd42340fc" /><Relationship Type="http://schemas.openxmlformats.org/officeDocument/2006/relationships/notesMaster" Target="/ppt/notesMasters/notesMaster1.xml" Id="Rd9ae0224eb6d45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525f968a464056" /><Relationship Type="http://schemas.openxmlformats.org/officeDocument/2006/relationships/notesMaster" Target="/ppt/notesMasters/notesMaster1.xml" Id="R5f2cdab94b54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98c309df1a4fcc" /><Relationship Type="http://schemas.openxmlformats.org/officeDocument/2006/relationships/notesMaster" Target="/ppt/notesMasters/notesMaster1.xml" Id="Rc17c92281bdb4d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a21a65896a4f13" /><Relationship Type="http://schemas.openxmlformats.org/officeDocument/2006/relationships/notesMaster" Target="/ppt/notesMasters/notesMaster1.xml" Id="R711072791eb549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178bdbf9964835" /><Relationship Type="http://schemas.openxmlformats.org/officeDocument/2006/relationships/notesMaster" Target="/ppt/notesMasters/notesMaster1.xml" Id="R9bce028cd01849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1f861ba79b483f" /><Relationship Type="http://schemas.openxmlformats.org/officeDocument/2006/relationships/notesMaster" Target="/ppt/notesMasters/notesMaster1.xml" Id="R2aad12aaa37a42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829f04a02a4baf" /><Relationship Type="http://schemas.openxmlformats.org/officeDocument/2006/relationships/notesMaster" Target="/ppt/notesMasters/notesMaster1.xml" Id="Re065f6fe8a604e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088f527de54b71" /><Relationship Type="http://schemas.openxmlformats.org/officeDocument/2006/relationships/notesMaster" Target="/ppt/notesMasters/notesMaster1.xml" Id="R264721f2011a49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473e7e7b284fdc" /><Relationship Type="http://schemas.openxmlformats.org/officeDocument/2006/relationships/notesMaster" Target="/ppt/notesMasters/notesMaster1.xml" Id="R12da0a5c5d6741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fd0a1b11914a14" /><Relationship Type="http://schemas.openxmlformats.org/officeDocument/2006/relationships/notesMaster" Target="/ppt/notesMasters/notesMaster1.xml" Id="R1b4e6ed9a3ac42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f1fb4ed02d4a52" /><Relationship Type="http://schemas.openxmlformats.org/officeDocument/2006/relationships/notesMaster" Target="/ppt/notesMasters/notesMaster1.xml" Id="Rcc12c80a50474f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33eb2e08064778" /><Relationship Type="http://schemas.openxmlformats.org/officeDocument/2006/relationships/notesMaster" Target="/ppt/notesMasters/notesMaster1.xml" Id="R97266d118f4b40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5a189749fb4658" /><Relationship Type="http://schemas.openxmlformats.org/officeDocument/2006/relationships/notesMaster" Target="/ppt/notesMasters/notesMaster1.xml" Id="R9c16bf903e9c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本页用于开场。</a:t>
            </a:r>
          </a:p>
          <a:p xmlns:a="http://schemas.openxmlformats.org/drawingml/2006/main">
            <a:r>
              <a:t>汇报覆盖单节点 CPU、单节点 GPU、多节点 CPU 和多节点 GPU 路线，最终以三个节点上的 exp009 作为当前最快结果。</a:t>
            </a:r>
          </a:p>
          <a:p xmlns:a="http://schemas.openxmlformats.org/drawingml/2006/main">
            <a:r>
              <a:t>数据来源为 docs/experiment-report.md 和 logs/009_three_node_cpu_slurm-415.log。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评测框架固定四个用例，每个正式结果运行三次并取最小值。</a:t>
            </a:r>
          </a:p>
          <a:p xmlns:a="http://schemas.openxmlformats.org/drawingml/2006/main">
            <a:r>
              <a:t>性能基线使用 exp001 的 64 线程 spread 结果 3.777 秒。16 线程的 7.572 秒只保留为历史记录，不能用于高估后续优化。</a:t>
            </a:r>
          </a:p>
          <a:p xmlns:a="http://schemas.openxmlformats.org/drawingml/2006/main">
            <a:r>
              <a:t>证据来源：docs/experiment-report.md、logs/cpu-thread-scaling_slurm-275.log。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横向条形图按总耗时从低到高展示全部关键版本。</a:t>
            </a:r>
          </a:p>
          <a:p xmlns:a="http://schemas.openxmlformats.org/drawingml/2006/main">
            <a:r>
              <a:t>exp009 为 2.186 秒，exp004 为 2.533 秒，exp008 为 2.733 秒。GPU 路线最好的是 exp006，4.024 秒。</a:t>
            </a:r>
          </a:p>
          <a:p xmlns:a="http://schemas.openxmlformats.org/drawingml/2006/main">
            <a:r>
              <a:t>证据来源：docs/experiment-report.md 的最终结果表，日志包括 jobs 359、413 和 415。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这一页覆盖 001 到 009 的每一步思路和效果。相对 exp001 列使用完整四用例。</a:t>
            </a:r>
          </a:p>
          <a:p xmlns:a="http://schemas.openxmlformats.org/drawingml/2006/main">
            <a:r>
              <a:t>原实现的前 1M 样本同口径对照：exp008 为 1427.391x，exp009 为 156.271x。</a:t>
            </a:r>
          </a:p>
          <a:p xmlns:a="http://schemas.openxmlformats.org/drawingml/2006/main">
            <a:r>
              <a:t>证据来源：docs/experiment-report.md、results/final-metrics.csv、results/relative-to-original.csv。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这张图区分了两类关系：蓝线表示主要演化或直接源码复用，灰线表示设计复用和对照。</a:t>
            </a:r>
          </a:p>
          <a:p xmlns:a="http://schemas.openxmlformats.org/drawingml/2006/main">
            <a:r>
              <a:t>exp007 和 exp008 都直接 include exp001。exp009 直接 include exp008，同时复用 exp004 的本地帧划分和分布写入设计。</a:t>
            </a:r>
          </a:p>
          <a:p xmlns:a="http://schemas.openxmlformats.org/drawingml/2006/main">
            <a:r>
              <a:t>GPU 分支 exp002 到 exp005 是探索路线，exp006 是独立纯 GPU 对照，最终没有进入双方案交付。</a:t>
            </a:r>
          </a:p>
          <a:p xmlns:a="http://schemas.openxmlformats.org/drawingml/2006/main">
            <a:r>
              <a:t>最终主线是 baseline 到 exp001，再到 exp008 和 exp009。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原始版本正确，但每一帧重复分配、位反转和 twiddle 三角函数计算。</a:t>
            </a:r>
          </a:p>
          <a:p xmlns:a="http://schemas.openxmlformats.org/drawingml/2006/main">
            <a:r>
              <a:t>实数输入执行全长度复数 FFT，Mel 投影对零权重也做乘法，并物化完整的 6.3 GB double 功率谱。</a:t>
            </a:r>
          </a:p>
          <a:p xmlns:a="http://schemas.openxmlformats.org/drawingml/2006/main">
            <a:r>
              <a:t>同口径 1M 样本上，原实现为 61.663 秒，exp001 为 0.084 秒，加速 731.206x。</a:t>
            </a:r>
          </a:p>
          <a:p xmlns:a="http://schemas.openxmlformats.org/drawingml/2006/main">
            <a:r>
              <a:t>证据来源：docs/experiment-report.md 和 logs/001_packed_fft_sparse_mel_simd_slurm-187.log。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exp001 的核心不是换语言，而是让每个阶段只做必要工作。</a:t>
            </a:r>
          </a:p>
          <a:p xmlns:a="http://schemas.openxmlformats.org/drawingml/2006/main">
            <a:r>
              <a:t>实数输入通过打包把核心 FFT 长度减半。Mel 投影删除乘零运算。分块让中间数据留在缓存层级内。</a:t>
            </a:r>
          </a:p>
          <a:p xmlns:a="http://schemas.openxmlformats.org/drawingml/2006/main">
            <a:r>
              <a:t>64 线程 spread 合计 3.777 秒。来源：logs/cpu-thread-scaling_slurm-275.log。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图显示 exp006 是 GPU 路线中最好的，4.024 秒，但仍慢于 64 线程 exp001。</a:t>
            </a:r>
          </a:p>
          <a:p xmlns:a="http://schemas.openxmlformats.org/drawingml/2006/main">
            <a:r>
              <a:t>GPU 计算不慢，问题在于短进程里的启动、搬运、同步和最终输出。</a:t>
            </a:r>
          </a:p>
          <a:p xmlns:a="http://schemas.openxmlformats.org/drawingml/2006/main">
            <a:r>
              <a:t>证据来源：logs/006_multi_node_gpu_only_slurm-410.log、logs/003_cpu_gpu_tuning_slurm-299.log。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exp007 把 default 拆成读取与归一化约 0.20 秒，计算约 0.50 秒，转换与写入约 0.24 秒。</a:t>
            </a:r>
          </a:p>
          <a:p xmlns:a="http://schemas.openxmlformats.org/drawingml/2006/main">
            <a:r>
              <a:t>完整写盘和写入 /dev/null 只差 70 到 90 毫秒，因此先优化主机侧内存和转换路径，收益比直接换磁盘策略更明确。</a:t>
            </a:r>
          </a:p>
          <a:p xmlns:a="http://schemas.openxmlformats.org/drawingml/2006/main">
            <a:r>
              <a:t>证据来源：logs/007_single_node_profile_slurm-412.log。job 411 的 perf 无权限问题已在报告中披露。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exp008 保留 exp001 的 FFT 和 Mel 数学，只修改数据路径。</a:t>
            </a:r>
          </a:p>
          <a:p xmlns:a="http://schemas.openxmlformats.org/drawingml/2006/main">
            <a:r>
              <a:t>并行归一化、单 OpenMP 区域和直接 float32 输出把合计从 3.777 秒降到 2.733 秒，峰值内存降到 394 MB。</a:t>
            </a:r>
          </a:p>
          <a:p xmlns:a="http://schemas.openxmlformats.org/drawingml/2006/main">
            <a:r>
              <a:t>官方四用例全部通过，同口径 1M 样本相对原实现加速 1427.391x。来源：jobs 413 和 418。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使用三个 rank，每个节点读取自己的连续 PCM 区间，再用单 OpenMP 区域直接生成 float32 Mel。</a:t>
            </a:r>
          </a:p>
          <a:p xmlns:a="http://schemas.openxmlformats.org/drawingml/2006/main">
            <a:r>
              <a:t>rank 0 写入 token，其他 rank 确认 token 后并行写入不重叠的帧列。</a:t>
            </a:r>
          </a:p>
          <a:p xmlns:a="http://schemas.openxmlformats.org/drawingml/2006/main">
            <a:r>
              <a:t>四用例合计 2.186 秒，比三节点 exp004 再快 1.159 倍；同口径 1M 相对原实现为 156.271x。来源：jobs 415 和 418。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的 default profile 中，读取约 0.02 秒，归一化约 0.04 秒，计算约 0.13 秒，分布式写入约 0.28 秒。</a:t>
            </a:r>
          </a:p>
          <a:p xmlns:a="http://schemas.openxmlformats.org/drawingml/2006/main">
            <a:r>
              <a:t>写入占单个 rank wall time 的一半以上。下一步不应先增加 CPU 核数或 GPU。</a:t>
            </a:r>
          </a:p>
          <a:p xmlns:a="http://schemas.openxmlformats.org/drawingml/2006/main">
            <a:r>
              <a:t>优化工作已按当前决定停止，这里的建议只作为后续可能方向。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项目内依据来自原始代码、官方评测脚本和全部 expected 数据。</a:t>
            </a:r>
          </a:p>
          <a:p xmlns:a="http://schemas.openxmlformats.org/drawingml/2006/main">
            <a:r>
              <a:t>API 设计参考 CUDA Runtime、cuFFT、OpenMP、GCC 与 Slurm 的官方文档。</a:t>
            </a:r>
          </a:p>
          <a:p xmlns:a="http://schemas.openxmlformats.org/drawingml/2006/main">
            <a:r>
              <a:t>使用 OpenAI Codex（GPT-5）辅助分析、实现草稿、实验编排和材料整理。所有结论以真实作业日志为准。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 bug 都来自实际运行，不是概念性风险。</a:t>
            </a:r>
          </a:p>
          <a:p xmlns:a="http://schemas.openxmlformats.org/drawingml/2006/main">
            <a:r>
              <a:t>跨节点 /tmp 和 ready token 竞态都涉及多进程可见性与一致性。</a:t>
            </a:r>
          </a:p>
          <a:p xmlns:a="http://schemas.openxmlformats.org/drawingml/2006/main">
            <a:r>
              <a:t>NVCC 参数和 perf 权限说明工具链边界也必须通过远程实测确认。</a:t>
            </a:r>
          </a:p>
          <a:p xmlns:a="http://schemas.openxmlformats.org/drawingml/2006/main">
            <a:r>
              <a:t>证据来源：docs/references-and-ai.md、相关 failed/success Slurm 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最终成果保留两个独立方案。单节点 exp008 为 2.733 秒，三节点 exp009 为 2.186 秒。</a:t>
            </a:r>
          </a:p>
          <a:p xmlns:a="http://schemas.openxmlformats.org/drawingml/2006/main">
            <a:r>
              <a:t>相对 exp001 的官方四用例加速分别为 1.382 倍和 1.728 倍。</a:t>
            </a:r>
          </a:p>
          <a:p xmlns:a="http://schemas.openxmlformats.org/drawingml/2006/main">
            <a:r>
              <a:t>同口径 1M 样本相对原实现分别为 1427.391 倍和 156.271 倍。</a:t>
            </a:r>
          </a:p>
          <a:p xmlns:a="http://schemas.openxmlformats.org/drawingml/2006/main">
            <a:r>
              <a:t>两个方案都通过官方四个用例。</a:t>
            </a:r>
          </a:p>
          <a:p xmlns:a="http://schemas.openxmlformats.org/drawingml/2006/main">
            <a:r>
              <a:t>优化阶段已经停止，后续工作只保留文档、PPT 和汇报内容。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时先确认评委问的是性能口径、实现细节还是工程过程。</a:t>
            </a:r>
          </a:p>
          <a:p xmlns:a="http://schemas.openxmlformats.org/drawingml/2006/main">
            <a:r>
              <a:t>高频问题包括基线为什么慢、CPU 与 GPU 的取舍、三个加速比的口径、输出写入和复现方式。</a:t>
            </a:r>
          </a:p>
          <a:p xmlns:a="http://schemas.openxmlformats.org/drawingml/2006/main">
            <a:r>
              <a:t>完整答案在 docs/presentation-script.md 的 Q&amp;A 速查部分。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6c9fdb5e548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6ff9058b4c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451833f624f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768640abe47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27321cb2544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5014165b144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ACFB43-D390-47AB-BD02-763077A88A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383478-8351-485B-8496-6836E293CC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F8A3BD-CB60-4465-90F8-843D26FE81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598CBF-3905-4DC8-8ECC-58C8D7E16A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833197-DD5E-4CF6-B2A4-8B64C548A5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4EF55D-9C56-4F83-83FE-AABB8395E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255ADB-B517-4DD8-8077-135778D695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7807B8-161A-4F79-8668-D9710A2B09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649ED6-6BEC-4DE0-A8C4-705FA1230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BB109D-F2D9-4998-8932-A16C97D5A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acfdcae2e54c76" /><Relationship Type="http://schemas.openxmlformats.org/officeDocument/2006/relationships/slideLayout" Target="/ppt/slideLayouts/slideLayout1.xml" Id="Rea88f71f89fd4bc6" /><Relationship Type="http://schemas.openxmlformats.org/officeDocument/2006/relationships/slideLayout" Target="/ppt/slideLayouts/slideLayout2.xml" Id="R6c00c383eac94892" /><Relationship Type="http://schemas.openxmlformats.org/officeDocument/2006/relationships/slideLayout" Target="/ppt/slideLayouts/slideLayout3.xml" Id="R593971f33d254269" /><Relationship Type="http://schemas.openxmlformats.org/officeDocument/2006/relationships/slideLayout" Target="/ppt/slideLayouts/slideLayout4.xml" Id="R7c9cce123a654bca" /><Relationship Type="http://schemas.openxmlformats.org/officeDocument/2006/relationships/slideLayout" Target="/ppt/slideLayouts/slideLayout5.xml" Id="Rcfb80a732e80450d" /><Relationship Type="http://schemas.openxmlformats.org/officeDocument/2006/relationships/slideLayout" Target="/ppt/slideLayouts/slideLayout6.xml" Id="R399073b35d0143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88f71f89fd4bc6"/>
    <p:sldLayoutId xmlns:r="http://schemas.openxmlformats.org/officeDocument/2006/relationships" id="2147483650" r:id="R6c00c383eac94892"/>
    <p:sldLayoutId xmlns:r="http://schemas.openxmlformats.org/officeDocument/2006/relationships" id="2147483651" r:id="R593971f33d254269"/>
    <p:sldLayoutId xmlns:r="http://schemas.openxmlformats.org/officeDocument/2006/relationships" id="2147483652" r:id="R7c9cce123a654bca"/>
    <p:sldLayoutId xmlns:r="http://schemas.openxmlformats.org/officeDocument/2006/relationships" id="2147483653" r:id="Rcfb80a732e80450d"/>
    <p:sldLayoutId xmlns:r="http://schemas.openxmlformats.org/officeDocument/2006/relationships" id="2147483654" r:id="R399073b35d0143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74d53c480441b" /><Relationship Type="http://schemas.openxmlformats.org/officeDocument/2006/relationships/notesSlide" Target="/ppt/notesSlides/notesSlide1.xml" Id="R7d5c975eeb3849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a0e252ac04379" /><Relationship Type="http://schemas.openxmlformats.org/officeDocument/2006/relationships/notesSlide" Target="/ppt/notesSlides/notesSlide2.xml" Id="R03f012e353484a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89ef75598492e" /><Relationship Type="http://schemas.openxmlformats.org/officeDocument/2006/relationships/chart" Target="/ppt/slides/charts/chart1.xml" Id="Rf407568262b24291" /><Relationship Type="http://schemas.openxmlformats.org/officeDocument/2006/relationships/notesSlide" Target="/ppt/notesSlides/notesSlide3.xml" Id="R28eab47154d243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76bd781f64418" /><Relationship Type="http://schemas.openxmlformats.org/officeDocument/2006/relationships/notesSlide" Target="/ppt/notesSlides/notesSlide4.xml" Id="Re674d5b1e3a84c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a5c853c66441a" /><Relationship Type="http://schemas.openxmlformats.org/officeDocument/2006/relationships/notesSlide" Target="/ppt/notesSlides/notesSlide5.xml" Id="Reca63f0032144c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e8b28b0e14b0c" /><Relationship Type="http://schemas.openxmlformats.org/officeDocument/2006/relationships/notesSlide" Target="/ppt/notesSlides/notesSlide6.xml" Id="R6a49c0e767ef4f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78bc8392149ee" /><Relationship Type="http://schemas.openxmlformats.org/officeDocument/2006/relationships/notesSlide" Target="/ppt/notesSlides/notesSlide7.xml" Id="Rdc1e8d58246c41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d6fbe7b4b431f" /><Relationship Type="http://schemas.openxmlformats.org/officeDocument/2006/relationships/chart" Target="/ppt/slides/charts/chart2.xml" Id="R560c60cff2244192" /><Relationship Type="http://schemas.openxmlformats.org/officeDocument/2006/relationships/notesSlide" Target="/ppt/notesSlides/notesSlide8.xml" Id="R9bad783ad2434f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ed007f7274707" /><Relationship Type="http://schemas.openxmlformats.org/officeDocument/2006/relationships/chart" Target="/ppt/slides/charts/chart3.xml" Id="Rb89f0002c2c1485e" /><Relationship Type="http://schemas.openxmlformats.org/officeDocument/2006/relationships/notesSlide" Target="/ppt/notesSlides/notesSlide9.xml" Id="R2d1b83fc21a547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334021ca44249" /><Relationship Type="http://schemas.openxmlformats.org/officeDocument/2006/relationships/notesSlide" Target="/ppt/notesSlides/notesSlide10.xml" Id="R482b8b0656ea42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50b8f5860499d" /><Relationship Type="http://schemas.openxmlformats.org/officeDocument/2006/relationships/notesSlide" Target="/ppt/notesSlides/notesSlide11.xml" Id="Rb4da188fba3c4c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3185dcb284464" /><Relationship Type="http://schemas.openxmlformats.org/officeDocument/2006/relationships/chart" Target="/ppt/slides/charts/chart4.xml" Id="R56a0d9e7f3c04f0a" /><Relationship Type="http://schemas.openxmlformats.org/officeDocument/2006/relationships/notesSlide" Target="/ppt/notesSlides/notesSlide12.xml" Id="R43ed304944fa41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4df9b1e2c4a38" /><Relationship Type="http://schemas.openxmlformats.org/officeDocument/2006/relationships/notesSlide" Target="/ppt/notesSlides/notesSlide13.xml" Id="Rf492f2797b5c4e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2825c073c4e04" /><Relationship Type="http://schemas.openxmlformats.org/officeDocument/2006/relationships/notesSlide" Target="/ppt/notesSlides/notesSlide14.xml" Id="R37a4b961b7bb48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120e9e3e84d66" /><Relationship Type="http://schemas.openxmlformats.org/officeDocument/2006/relationships/notesSlide" Target="/ppt/notesSlides/notesSlide15.xml" Id="Rd019a296b43345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8719fb92b4767" /><Relationship Type="http://schemas.openxmlformats.org/officeDocument/2006/relationships/notesSlide" Target="/ppt/notesSlides/notesSlide16.xml" Id="R8f4379f880874d7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009 三节点 CPU</c:v>
                </c:pt>
                <c:pt idx="1">
                  <c:v>004 三节点 CPU</c:v>
                </c:pt>
                <c:pt idx="2">
                  <c:v>008 单节点 CPU</c:v>
                </c:pt>
                <c:pt idx="3">
                  <c:v>001 单节点 CPU</c:v>
                </c:pt>
                <c:pt idx="4">
                  <c:v>006 两节点 GPU</c:v>
                </c:pt>
                <c:pt idx="5">
                  <c:v>002 单节点 GPU</c:v>
                </c:pt>
                <c:pt idx="6">
                  <c:v>005 两节点 CPU+GPU</c:v>
                </c:pt>
                <c:pt idx="7">
                  <c:v>003 单节点 CPU+GPU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2.186</c:v>
                </c:pt>
                <c:pt idx="1">
                  <c:v>2.533</c:v>
                </c:pt>
                <c:pt idx="2">
                  <c:v>2.733</c:v>
                </c:pt>
                <c:pt idx="3">
                  <c:v>3.777</c:v>
                </c:pt>
                <c:pt idx="4">
                  <c:v>4.024</c:v>
                </c:pt>
                <c:pt idx="5">
                  <c:v>5.164</c:v>
                </c:pt>
                <c:pt idx="6">
                  <c:v>5.179</c:v>
                </c:pt>
                <c:pt idx="7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006  两节点纯 GPU</c:v>
                </c:pt>
                <c:pt idx="1">
                  <c:v>002  单节点双 GPU</c:v>
                </c:pt>
                <c:pt idx="2">
                  <c:v>005  两节点 CPU+GPU</c:v>
                </c:pt>
                <c:pt idx="3">
                  <c:v>003  单节点 CPU+GPU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4.024</c:v>
                </c:pt>
                <c:pt idx="1">
                  <c:v>5.164</c:v>
                </c:pt>
                <c:pt idx="2">
                  <c:v>5.179</c:v>
                </c:pt>
                <c:pt idx="3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75CD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2B7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读取与归一化</c:v>
                </c:pt>
                <c:pt idx="1">
                  <c:v>FFT / 功率 / Mel</c:v>
                </c:pt>
                <c:pt idx="2">
                  <c:v>转换与写入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0.2</c:v>
                </c:pt>
                <c:pt idx="1">
                  <c:v>0.5</c:v>
                </c:pt>
                <c:pt idx="2">
                  <c:v>0.24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每 rank 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本地读取</c:v>
                </c:pt>
                <c:pt idx="1">
                  <c:v>归一化</c:v>
                </c:pt>
                <c:pt idx="2">
                  <c:v>计算</c:v>
                </c:pt>
                <c:pt idx="3">
                  <c:v>分布式写入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0.02</c:v>
                </c:pt>
                <c:pt idx="1">
                  <c:v>0.04</c:v>
                </c:pt>
                <c:pt idx="2">
                  <c:v>0.13</c:v>
                </c:pt>
                <c:pt idx="3">
                  <c:v>0.28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D384EDA-0631-4576-94B2-FEBC0CAD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2026 秋季招新题  /  技术复盘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C519F4B-33A7-44D7-A0A0-9F46D09C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Melspec 高性能实现复盘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39ACE12-37D2-46A9-9C0E-333FAA18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从 CPU 算法优化到三节点流水线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DD23D-11B5-44CA-9815-6D8D01C6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esult">
            <a:extLst xmlns:a="http://schemas.openxmlformats.org/drawingml/2006/main">
              <a:ext uri="{FF2B5EF4-FFF2-40B4-BE49-F238E27FC236}">
                <a16:creationId xmlns:a16="http://schemas.microsoft.com/office/drawing/2014/main" id="{2574B38C-7F6A-469E-A5C3-A05A5163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exp009  2.186 s</a:t>
            </a:r>
          </a:p>
        </p:txBody>
      </p:sp>
      <p:sp>
        <p:nvSpPr>
          <p:cNvPr id="6" name="cover-baseline">
            <a:extLst xmlns:a="http://schemas.openxmlformats.org/drawingml/2006/main">
              <a:ext uri="{FF2B5EF4-FFF2-40B4-BE49-F238E27FC236}">
                <a16:creationId xmlns:a16="http://schemas.microsoft.com/office/drawing/2014/main" id="{FEC05678-2FD6-4701-9459-72761B7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官方四例 4/4 PASS  /  三节点相对 exp001 1.728x  /  原实现 1M：exp008 1427.391x</a:t>
            </a:r>
          </a:p>
        </p:txBody>
      </p:sp>
    </p:spTree>
    <p:extLst>
      <p:ext uri="{BB962C8B-B14F-4D97-AF65-F5344CB8AC3E}">
        <p14:creationId xmlns:p14="http://schemas.microsoft.com/office/powerpoint/2010/main" val="1110770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2">
            <a:extLst xmlns:a="http://schemas.openxmlformats.org/drawingml/2006/main">
              <a:ext uri="{FF2B5EF4-FFF2-40B4-BE49-F238E27FC236}">
                <a16:creationId xmlns:a16="http://schemas.microsoft.com/office/drawing/2014/main" id="{F4BD1ADA-2174-46D1-ABB5-3E8AAC2A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54E34C4-7E62-43F8-9E05-9314E94B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评测范围与统一口径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33A196D2-C6CE-4C60-80CE-F4C43D2E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四个官方用例，三次运行取最小值，所有性能统一对照 exp001 的 64 线程结果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00A68-8E96-433C-AC8F-44767CDB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824D40EA-2F63-42CC-B81F-942EBE7B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A8C00-A53D-4CF6-AA8B-4AEC3089B3A3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5810250" cy="28003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2324100"/>
                <a:gridCol w="1106714"/>
                <a:gridCol w="1106714"/>
                <a:gridCol w="1272721"/>
              </a:tblGrid>
              <a:tr h="56007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n_fft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n_mels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帧数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6FB19-F74A-4069-B016-E58D6D86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官方 expected 输出容差：rtol 1e-3，atol 1e-4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统一性能基线：exp001，64 线程 spread，3.777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计算环境：hepnode1 到 hepnode3，64 核 CPU 与 2 张 L40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所有计时均来自 Slurm 计算节点</a:t>
            </a:r>
          </a:p>
        </p:txBody>
      </p:sp>
      <p:sp>
        <p:nvSpPr>
          <p:cNvPr id="8" name="baseline-note">
            <a:extLst xmlns:a="http://schemas.openxmlformats.org/drawingml/2006/main">
              <a:ext uri="{FF2B5EF4-FFF2-40B4-BE49-F238E27FC236}">
                <a16:creationId xmlns:a16="http://schemas.microsoft.com/office/drawing/2014/main" id="{6A3942E0-0D81-41E3-8386-EC2CC2B9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注：exp001 原始 16 线程正式结果为 7.572 s，后续比较不再使用该口径。</a:t>
            </a:r>
          </a:p>
        </p:txBody>
      </p:sp>
    </p:spTree>
    <p:extLst>
      <p:ext uri="{BB962C8B-B14F-4D97-AF65-F5344CB8AC3E}">
        <p14:creationId xmlns:p14="http://schemas.microsoft.com/office/powerpoint/2010/main" val="147296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3">
            <a:extLst xmlns:a="http://schemas.openxmlformats.org/drawingml/2006/main">
              <a:ext uri="{FF2B5EF4-FFF2-40B4-BE49-F238E27FC236}">
                <a16:creationId xmlns:a16="http://schemas.microsoft.com/office/drawing/2014/main" id="{E2EE6131-7ECA-4FE1-8EF2-69BF145F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45FEFC3-4A5B-4B41-B5D6-D4A140C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总体性能结果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54F51AC6-7329-465F-9370-9CD819B4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三节点 CPU 流水化版本以 2.186 s 排名第一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5E815-4133-4B1E-9630-BFF66AB5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EC9DBCE4-FC0A-48E6-8C05-3ECE0238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B72E53E-0DD0-4E80-AAD9-3F460299CF5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78105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07568262b2429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F3F81-703A-46ED-A6FB-7C8D3BDA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1571E-3166-494D-A129-E3ACD3A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四用例合计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B7B98-B29B-4524-8DE6-8B4DD7B2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265ED-E981-4929-9443-0D378B92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682CB-E8C9-40DA-BF77-492C6F44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原实现 1M default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exp008 1427.391x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exp009 156.271x</a:t>
            </a:r>
          </a:p>
        </p:txBody>
      </p:sp>
    </p:spTree>
    <p:extLst>
      <p:ext uri="{BB962C8B-B14F-4D97-AF65-F5344CB8AC3E}">
        <p14:creationId xmlns:p14="http://schemas.microsoft.com/office/powerpoint/2010/main" val="668712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mark-4">
            <a:extLst xmlns:a="http://schemas.openxmlformats.org/drawingml/2006/main">
              <a:ext uri="{FF2B5EF4-FFF2-40B4-BE49-F238E27FC236}">
                <a16:creationId xmlns:a16="http://schemas.microsoft.com/office/drawing/2014/main" id="{8A1D809C-E262-488B-B97C-A8C4C41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B51217F-47BB-4E0F-B5D2-878516E0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每一步优化与实测效果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5A6E80CE-CFA5-413E-8B88-1B3AFE09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四用例对照 exp001；同口径 1M 样本：exp008 1427.391x，exp009 156.271x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FFBB6-AC2A-40CF-831E-7444A660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FA5FB84F-2056-4E47-8AB6-F4635B4A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FC393-01A9-48A6-9966-39BA79B3A4BF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426720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666750"/>
                <a:gridCol w="7391400"/>
                <a:gridCol w="1428750"/>
                <a:gridCol w="1333500"/>
              </a:tblGrid>
              <a:tr h="426720">
                <a:tc>
                  <a:txBody>
                    <a:bodyPr/>
                    <a:lstStyle/>
                    <a:p>
                      <a:r>
                        <a:t>实验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思路与过程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四例合计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相对 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打包实数 FFT、稀疏 Mel、tile、SIMD、OpenMP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3.777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1.000x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cuFFT D2Z；两个 CUDA context / stream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5.164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0.731x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4% CPU 帧与双 GPU 并行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5.207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0.725x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三 rank 原生 Slurm；本地读；token + pwrite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2.533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1.491x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两节点 CPU 2% + 双 GPU；完整 PCM 读取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5.179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0.729x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两节点纯 GPU；本地 PCM 区间读取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4.024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0.939x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阶段计时 driver；不改算法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基线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并行归一化；单 OMP 区域；直接 float32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2.733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1.382x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三节点复用 exp008；本地读 + 分布写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2.186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1.728x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46941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-mark-5">
            <a:extLst xmlns:a="http://schemas.openxmlformats.org/drawingml/2006/main">
              <a:ext uri="{FF2B5EF4-FFF2-40B4-BE49-F238E27FC236}">
                <a16:creationId xmlns:a16="http://schemas.microsoft.com/office/drawing/2014/main" id="{F2B066CA-119D-428C-B284-B55D4688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712E0C8-8722-483A-98E5-25A884B3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exp001–009 代码演进关系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B446BDD4-CB44-4F21-A06C-66612D4B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蓝色为直接包含或主要演化，灰色为设计复用与对照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E4705-AEF0-4AE5-B0A0-FA0C087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83B97816-8E5A-4631-ADBE-916F02B6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CBF8E-3BF6-4818-91BA-3E7F24FA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src/melspec.cpp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9DD5D-0D93-4783-BDBF-CEF698D1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 核心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FFT + Mel + OMP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78EC4-9ADC-43EE-9F28-9CC704F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00125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exp002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双 GPU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cuFFT D2Z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A51D8-4E86-4552-984D-8F08BE8E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00125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exp003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CPU+GPU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异构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BD65E-E3EA-4633-93EA-CEAAB7AB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00125"/>
            <a:ext cx="1476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exp005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多节点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CPU+GPU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0FDD8-0FAD-465B-8C20-8E13DFED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1476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exp006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两节点纯 GPU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本地读取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EAC04-D10C-4B2D-B900-A03332D2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exp004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多节点 CPU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本地帧 + pwrite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27CFD-4194-4C17-804E-606D2E86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62375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exp007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阶段 profile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不改算法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657A4-0BDB-4204-AD71-8B2F5E29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62375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AE6"/>
          </a:solidFill>
          <a:ln xmlns:a="http://schemas.openxmlformats.org/drawingml/2006/main" w="28575">
            <a:solidFill>
              <a:srgbClr val="12B7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exp008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单节点最终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直出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78E67-769F-4F01-8D41-C361691B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AE6"/>
          </a:solidFill>
          <a:ln xmlns:a="http://schemas.openxmlformats.org/drawingml/2006/main" w="28575">
            <a:solidFill>
              <a:srgbClr val="12B7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exp009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三节点最终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本地读 + 分布写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DFDE7-765E-4D4F-A60E-EF93E6AD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74D0B-182C-4C9D-B301-93C795FE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F5181-4940-4E26-8162-B8D813EE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14450"/>
            <a:ext cx="28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49709-10CF-4334-997C-81B49B16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314450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CD799-59E3-4702-BF4F-9390161C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9D9FB-9105-451D-B4A2-48327FEB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BF64C-8003-45AC-A791-988A0E17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97F36-E088-4B38-A44F-721831DD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AD0A9-E2FE-4BAA-A9BB-2BB6138E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DE0C9-CAD6-440B-A93A-F84C5BDC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6287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1FEB4-5234-4842-9207-71089934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285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8B74D-0369-4D79-B43D-F5BD8BF1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91025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02A458-9BC8-4F7C-87A8-8ABC2239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534B8D-BA4B-4CDE-95AC-3F4019FF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9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9695DA-4CE7-46F7-8626-E88FB04B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5475D-7CEB-4E65-8273-E74E7DC5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26EC1C-4898-4798-91B7-666AF4F2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71825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185DBA-3A2A-4187-8660-9E069325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1020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D0841C-F019-4BB6-84D6-5EC0EDE6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CUDA 移植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55C074-0841-4E30-8524-2B5D0B32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多节点分支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4B6077-172B-4898-9D67-450EF70D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194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#include 001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4DF2CD-E5F4-4FD2-B0A2-31302484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576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profile 数据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28CB10-6E3B-4729-AFB5-BE8A42FA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profile 分支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292B6D-6647-48C8-8597-C525953F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#include 008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BC8021-083E-4693-BFDC-021458A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622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分发设计复用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21EBE2-92C2-42C1-BDA7-C360855D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两节点 GPU 对照</a:t>
            </a:r>
          </a:p>
        </p:txBody>
      </p:sp>
    </p:spTree>
    <p:extLst>
      <p:ext uri="{BB962C8B-B14F-4D97-AF65-F5344CB8AC3E}">
        <p14:creationId xmlns:p14="http://schemas.microsoft.com/office/powerpoint/2010/main" val="4915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mark-6">
            <a:extLst xmlns:a="http://schemas.openxmlformats.org/drawingml/2006/main">
              <a:ext uri="{FF2B5EF4-FFF2-40B4-BE49-F238E27FC236}">
                <a16:creationId xmlns:a16="http://schemas.microsoft.com/office/drawing/2014/main" id="{C389B3B5-BA18-48D3-AF80-93AC140F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577EB93-268C-4DA1-AD48-862BD295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基线实现的主要问题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CF0E3480-EFB9-45B3-948D-88B123E3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正确但热路径包含重复计算、乘零和大块无效内存流量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3A405-0F90-4E54-9EE1-55F8B08F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C010AB09-7855-43C0-BAE2-13B60C0E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4D5C3-62B4-4F05-8772-1E5B0ECA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518BB-1D1D-447C-B65B-FFE66634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重复准备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1363A-3087-42AB-9616-D810FA4C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02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每帧重新分配中间数组、计算位反转和每级 twiddle 的 cos / sin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8C201-508E-4A8A-B1F2-FD956D11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94552-D35D-4A1D-BD18-D21805CD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DC836-A01C-43C2-A927-91B6F01D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479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全长度复数 FFT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90303-0113-42E5-BAF9-58E4A64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384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实数输入仍执行 n_fft 复数 FFT，没有利用共轭对称减半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8C547-3BCB-498A-93AF-595934A4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C055F-1642-400D-BAE7-7D7A211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0D955-32AB-4E19-8ABE-3E1434DF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稠密 Mel 投影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FC55B-B9FA-4FAB-B67D-B2890ED9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766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投影遍历所有频率箱并乘零，没有利用三角滤波器的局部非零支撑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27541-228D-4AA7-8A39-3BC9A8C9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B4541-F03E-45E5-AF6B-DC5452E7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0734D-FF30-4D68-8B60-1C00AE22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244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完整功率谱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F6857-86EA-48EB-A2D2-DBA53F1B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double 功率谱约 6.3 GB，且 power[bin][frame] 跨行访问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F24F4-A1CC-4961-8A5B-BD508333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同口径 1M default：61.663 s 降至 0.084 s，exp001 加速 731.206x</a:t>
            </a:r>
          </a:p>
        </p:txBody>
      </p:sp>
    </p:spTree>
    <p:extLst>
      <p:ext uri="{BB962C8B-B14F-4D97-AF65-F5344CB8AC3E}">
        <p14:creationId xmlns:p14="http://schemas.microsoft.com/office/powerpoint/2010/main" val="663452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7">
            <a:extLst xmlns:a="http://schemas.openxmlformats.org/drawingml/2006/main">
              <a:ext uri="{FF2B5EF4-FFF2-40B4-BE49-F238E27FC236}">
                <a16:creationId xmlns:a16="http://schemas.microsoft.com/office/drawing/2014/main" id="{A63026B9-4563-43BB-B362-45B14F91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D8D12B7-EB2A-44B2-B771-ABBFB9F8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 的计算优化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2935AEF5-F113-4EA4-AD10-67817B26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先消除算法中的重复计算与乘零工作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8B718-477B-495C-AF19-2C6FB64F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D0E14055-5E55-476F-9D28-922FF62C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538EB-703E-4F1C-9246-68B1AB60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933B8-A405-4A94-9168-31EA7140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半长度实数 FFT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61DF1-4B81-4A3B-BB4F-E069DA8B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将核心复数 FFT 从 n_fft 降到 n_fft/2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54616-4415-4829-806F-39067644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46E05-4BB1-43C1-BE9F-00232AD7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B99F6-218D-4F6D-8532-49EBD9CA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稀疏 Mel 投影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FF585-2490-414A-B76E-38EF8C38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只遍历三角滤波器非零区间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3272B-14A6-41E8-9F35-D09FA5DD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729C8-F50C-46BA-ACA5-36524D37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628F2-628F-402B-BFDE-66BBCAA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719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分块与 OpenMP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EDDA2-5BCA-4F92-88A3-925BA124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91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复用一个 FFT plan 和每线程工作区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42CD3-2E52-45F5-86B9-CDD10881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rPr>
              <a:t>3.777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6C0FF-76B6-4D12-A29D-E2F6E9B8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64 线程四用例合计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A3F06-FD9E-4BC1-91BA-753D9144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7.572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A9926-1C82-4937-8397-5C1215CB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67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 16 线程正式结果</a:t>
            </a:r>
          </a:p>
        </p:txBody>
      </p:sp>
    </p:spTree>
    <p:extLst>
      <p:ext uri="{BB962C8B-B14F-4D97-AF65-F5344CB8AC3E}">
        <p14:creationId xmlns:p14="http://schemas.microsoft.com/office/powerpoint/2010/main" val="16063800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8">
            <a:extLst xmlns:a="http://schemas.openxmlformats.org/drawingml/2006/main">
              <a:ext uri="{FF2B5EF4-FFF2-40B4-BE49-F238E27FC236}">
                <a16:creationId xmlns:a16="http://schemas.microsoft.com/office/drawing/2014/main" id="{7D319BD6-7BC8-4014-BF34-AB3BED1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EE77991-E7C5-487B-B194-232A9F79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路线的收益与限制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3A4F9CD3-424E-40AF-BF77-2CA80FDD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GPU 计算很快，但端到端时间被数据搬运和同步拉长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3A651-1229-4AD2-9893-FC3B4A3B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27A24820-AB7F-4430-BC63-1ECEA664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1A68377-47FC-47B8-B659-F7676204852D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0c60cff224419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D49FB-01EF-4DFB-880E-A7BBB9D8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计算只占一小段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50F8A-64A5-45CE-B78B-E0787030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4480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exp006 的 GPU 计算约 0.16 到 0.23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H2D、D2H、cuFFT plan 与 stream 同步仍需支付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 分担帧数没有超过纯 GPU，资源竞争抵消收益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输出文件接近 188 MiB，成为共同下限</a:t>
            </a:r>
          </a:p>
        </p:txBody>
      </p:sp>
    </p:spTree>
    <p:extLst>
      <p:ext uri="{BB962C8B-B14F-4D97-AF65-F5344CB8AC3E}">
        <p14:creationId xmlns:p14="http://schemas.microsoft.com/office/powerpoint/2010/main" val="1608650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9">
            <a:extLst xmlns:a="http://schemas.openxmlformats.org/drawingml/2006/main">
              <a:ext uri="{FF2B5EF4-FFF2-40B4-BE49-F238E27FC236}">
                <a16:creationId xmlns:a16="http://schemas.microsoft.com/office/drawing/2014/main" id="{1998BB7C-13B8-444D-8BB3-91601452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261D924-975E-448D-AE78-B9B7622C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单节点阶段 profiling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BCE186C2-18ED-4E0E-874C-B7B3BF10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用例中，计算约占一半，读取和输出转换仍占明显比例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CC4A1-9FD5-4AC3-9E84-F34D0C7B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A545BD39-8B89-420E-8CA4-B94281A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CD019F6-D152-4741-BFB4-AFB86C4D411C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524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9f0002c2c1485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B5B2A-9A8E-4C7D-8932-B0BAC6A9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779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2DB0E-FD3B-4AFA-9228-9932E46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exp001 峰值内存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16DEC-347D-43F2-B1A5-4A23CA7C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写入 /dev/null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41F7F-6C43-4727-8353-9D6DF556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24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0.90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46867-E012-4710-9A01-FA05EBEA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完整写盘 0.97 s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差异约 70 到 90 ms</a:t>
            </a:r>
          </a:p>
        </p:txBody>
      </p:sp>
    </p:spTree>
    <p:extLst>
      <p:ext uri="{BB962C8B-B14F-4D97-AF65-F5344CB8AC3E}">
        <p14:creationId xmlns:p14="http://schemas.microsoft.com/office/powerpoint/2010/main" val="1594697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mark-10">
            <a:extLst xmlns:a="http://schemas.openxmlformats.org/drawingml/2006/main">
              <a:ext uri="{FF2B5EF4-FFF2-40B4-BE49-F238E27FC236}">
                <a16:creationId xmlns:a16="http://schemas.microsoft.com/office/drawing/2014/main" id="{F4FA656F-BC7D-4436-BE1F-DDA40547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75AEC513-876C-481E-8F8B-CA6DF03D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exp008 单节点最终方案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30713238-AC99-4F59-B923-1813D174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并行归一化、单 OpenMP 区域和直接 float32；同口径 1M 原实现加速 1427.391x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B364C-62DA-4FC7-8F89-C76B84D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332DE32F-E680-4829-8C87-0BA5836D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B07E2-EF7C-4503-9EF4-B652460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A585B-74C0-4CBF-AE8C-B562A4FF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64 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DB64A-5A86-4EB3-952E-BF2D903C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direct float32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EE317-E8FD-493A-B1E2-D66B3573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single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C28C6-D893-4B79-B760-97B89BD8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813FA-0709-4B3C-BBB9-FFEA0D77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25FC6-7073-4710-9997-16F9C32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613B3-E183-454D-871E-D0AD3175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94800-D5F2-4EB4-815C-9614DBF8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BA062-1565-41BF-9999-B394B343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1.382x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49704-3426-49F9-B88F-F483943A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60B78-D538-4E82-B4C7-EBBDA74C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394 MB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6EDE6-5EA9-40B9-AB71-600657B0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峰值 RSS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EC7F9-3815-48EC-A46D-6664A01C69B9}"/>
              </a:ext>
            </a:extLst>
          </p:cNvPr>
          <p:cNvGraphicFramePr/>
          <p:nvPr/>
        </p:nvGraphicFramePr>
        <p:xfrm>
          <a:off xmlns:a="http://schemas.openxmlformats.org/drawingml/2006/main" x="685800" y="4362450"/>
          <a:ext xmlns:a="http://schemas.openxmlformats.org/drawingml/2006/main" cx="9810750" cy="1428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4150702"/>
                <a:gridCol w="1886683"/>
                <a:gridCol w="1886683"/>
                <a:gridCol w="1886683"/>
              </a:tblGrid>
              <a:tr h="28575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5960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mark-11">
            <a:extLst xmlns:a="http://schemas.openxmlformats.org/drawingml/2006/main">
              <a:ext uri="{FF2B5EF4-FFF2-40B4-BE49-F238E27FC236}">
                <a16:creationId xmlns:a16="http://schemas.microsoft.com/office/drawing/2014/main" id="{E2479E47-8616-4CE4-AA6C-125F8916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92784A7D-687E-437B-90D2-80F0A6BA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exp009 三节点最终方案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C124DB60-9317-4399-910E-B54A9F6B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每个节点处理本地帧区间；同口径 1M 原实现加速 156.271x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5A598-C803-47B8-A916-FE58883D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7CB5103E-76AC-41C8-BB3F-BFA5DCDF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C3E05-DECE-4CED-9AD2-1BF42CD0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09B91-DEC9-41DF-965E-1FD42E74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EDFCD-B9ED-4634-B484-14376FE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hepnode3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42C2B-D6FE-46AE-B470-553B5306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BCEAD-1440-4171-B150-69A2B23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4E9F8-B31B-42AB-B574-36ADC6D4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A4A90-B2BE-40D3-A299-282632E9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共享输出文件  /  64-bit token 协调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A0400-46F0-4AD2-AB2F-F49FC81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7A7A8-41E6-457D-9903-16BE0D4B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A816A-FD33-4F03-9BD0-4647C2C7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1.159x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4FA0C-31D5-4D8D-BBF8-CC889507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8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相对三节点 exp004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CF64C-27A6-4D5B-AE38-49E5DA03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与 exp008 数据路径相同，优势来自三节点并行读取、计算与写出</a:t>
            </a:r>
          </a:p>
        </p:txBody>
      </p:sp>
    </p:spTree>
    <p:extLst>
      <p:ext uri="{BB962C8B-B14F-4D97-AF65-F5344CB8AC3E}">
        <p14:creationId xmlns:p14="http://schemas.microsoft.com/office/powerpoint/2010/main" val="19205718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mark-12">
            <a:extLst xmlns:a="http://schemas.openxmlformats.org/drawingml/2006/main">
              <a:ext uri="{FF2B5EF4-FFF2-40B4-BE49-F238E27FC236}">
                <a16:creationId xmlns:a16="http://schemas.microsoft.com/office/drawing/2014/main" id="{EC38D0A8-5D11-4414-8B7C-A626E46C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8CF3A26-3F24-433A-AF2C-230E8987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当前瓶颈已经从计算转向输出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69716876-01E5-4CEB-A123-24A6A071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的 default profile 显示，分布式写入约占总时间的一半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90430-DC6D-4F0B-AD46-0345873F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2693F8B7-E4A4-4A68-B996-60BD56EC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C4ECEB6-C7D6-49AF-9DB5-EB6DFB5DDDD3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a0d9e7f3c04f0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1FFC6-7AB9-4EC0-A037-34432B65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57%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69B77-BBD6-40FF-B202-BD91E11F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default profile 中，</a:t>
            </a:r>
          </a:p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写入占单 rank 总耗时约 57%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91254-D75B-4371-BE32-3770A311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继续增加计算资源的边际收益有限。下一轮应先验证异步写、输出布局或 mmap 的成本。</a:t>
            </a:r>
          </a:p>
        </p:txBody>
      </p:sp>
    </p:spTree>
    <p:extLst>
      <p:ext uri="{BB962C8B-B14F-4D97-AF65-F5344CB8AC3E}">
        <p14:creationId xmlns:p14="http://schemas.microsoft.com/office/powerpoint/2010/main" val="7373875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mark-13">
            <a:extLst xmlns:a="http://schemas.openxmlformats.org/drawingml/2006/main">
              <a:ext uri="{FF2B5EF4-FFF2-40B4-BE49-F238E27FC236}">
                <a16:creationId xmlns:a16="http://schemas.microsoft.com/office/drawing/2014/main" id="{2B315D92-D6A2-4E61-ABC2-D32C642E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24FD7176-00E1-4C22-BF85-F0D12FAA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参考资料与 AI 工具</a:t>
            </a:r>
          </a:p>
        </p:txBody>
      </p:sp>
      <p:sp>
        <p:nvSpPr>
          <p:cNvPr id="3" name="subtitle-13">
            <a:extLst xmlns:a="http://schemas.openxmlformats.org/drawingml/2006/main">
              <a:ext uri="{FF2B5EF4-FFF2-40B4-BE49-F238E27FC236}">
                <a16:creationId xmlns:a16="http://schemas.microsoft.com/office/drawing/2014/main" id="{E9D72B8C-DC05-4281-B726-2320D24F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实现依据、外部接口文档和 AI 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C6D11-F461-4CDC-999C-B8649AA5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3">
            <a:extLst xmlns:a="http://schemas.openxmlformats.org/drawingml/2006/main">
              <a:ext uri="{FF2B5EF4-FFF2-40B4-BE49-F238E27FC236}">
                <a16:creationId xmlns:a16="http://schemas.microsoft.com/office/drawing/2014/main" id="{1901DFA7-6A2A-4E2A-BD5E-EBC58ED3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B1BB3-03C3-4CBB-A2B2-D8368B3E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项目内资料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A3425-8CE7-4D12-9BF1-FBB94BDB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题目 README、原始 C++ 与 Python 实现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公开头文件、validate.py 与四份 expected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Slurm 原始日志和 nvidia-smi 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50C86-34EB-4D78-B47E-81305F14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外部与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52B82-28A5-485C-84A1-88677559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CUDA Runtime、cuFFT、OpenMP、GCC、Slurm API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OpenAI Codex（GPT-5）：代码阅读、方案草稿和实验编排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所有正式性能与正确性数据均来自真实 Slurm 作业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F66C0-C57F-4540-9ECB-E469F801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20161-F759-4ECC-BD01-47215F46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AI 辅助实现经过编译、官方用例、日志复核和口径检查。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D1B3A-4D9F-4E28-890B-E1131226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详细来源：docs/references-and-ai.md</a:t>
            </a:r>
          </a:p>
        </p:txBody>
      </p:sp>
    </p:spTree>
    <p:extLst>
      <p:ext uri="{BB962C8B-B14F-4D97-AF65-F5344CB8AC3E}">
        <p14:creationId xmlns:p14="http://schemas.microsoft.com/office/powerpoint/2010/main" val="14578381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14">
            <a:extLst xmlns:a="http://schemas.openxmlformats.org/drawingml/2006/main">
              <a:ext uri="{FF2B5EF4-FFF2-40B4-BE49-F238E27FC236}">
                <a16:creationId xmlns:a16="http://schemas.microsoft.com/office/drawing/2014/main" id="{71B757F7-C299-48C3-86EA-265013E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32E700CD-7775-4820-A854-BD1EFC69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几个值得记住的 bug</a:t>
            </a:r>
          </a:p>
        </p:txBody>
      </p:sp>
      <p:sp>
        <p:nvSpPr>
          <p:cNvPr id="3" name="subtitle-14">
            <a:extLst xmlns:a="http://schemas.openxmlformats.org/drawingml/2006/main">
              <a:ext uri="{FF2B5EF4-FFF2-40B4-BE49-F238E27FC236}">
                <a16:creationId xmlns:a16="http://schemas.microsoft.com/office/drawing/2014/main" id="{2E35CB7C-8B31-4A5A-B572-33AC3332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这些问题改变了实现细节，也解释了为什么 profile 必须配合真实运行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326C8-2486-4483-A892-9E9FF5F3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4">
            <a:extLst xmlns:a="http://schemas.openxmlformats.org/drawingml/2006/main">
              <a:ext uri="{FF2B5EF4-FFF2-40B4-BE49-F238E27FC236}">
                <a16:creationId xmlns:a16="http://schemas.microsoft.com/office/drawing/2014/main" id="{5509E8DD-94A9-4957-80F6-782E0772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382E1-5929-4513-BA52-E61665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11055-618D-4A3D-8706-4BF909C3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90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跨节点临时输入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D8A40-9233-4926-8BCB-3E22301F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8117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benchmark 把 1M PCM 放在 batch 节点 /tmp，其他 rank 不可见，作业退出 143。改为共享目录输入。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F2CC8-28CA-4A43-8AAC-2ECC79D4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22C31-1ACF-463F-A532-AFE15F63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1429F-0D07-4B88-B1E6-1E73E48E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670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ready token 竞态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CAF38-1C16-4615-A496-3F15294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旧 ready 文件可能让 rank 抢跑。最终使用每轮 64-bit token，确认当前轮状态后再 pwrite。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745A9-5B4F-4767-8DA4-CFAA1F6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86838-C91B-48BB-B6D8-1906A9BF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2AA7F-BF66-4DC0-BB1E-5D799564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NVCC 链接参数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785B3-EDA5-4DCE-98A9-EC91B13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3382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NVCC 把 -Wl,-rpath 当作未知选项。改为通过 LD_LIBRARY_PATH 定位 CUDA 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66F78-3C95-44D3-BF34-0A7B702A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02A7F-7642-4711-98AB-ED7877CD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A2045-4849-4E7F-AC71-8117E52C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perf 权限限制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1699B-0DE3-4935-835C-B36BDD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perf_event_paranoid=4 禁止硬件计数器。改用阶段计时 driver，保留有效阶段 profile 数据。</a:t>
            </a:r>
          </a:p>
        </p:txBody>
      </p:sp>
    </p:spTree>
    <p:extLst>
      <p:ext uri="{BB962C8B-B14F-4D97-AF65-F5344CB8AC3E}">
        <p14:creationId xmlns:p14="http://schemas.microsoft.com/office/powerpoint/2010/main" val="17354214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06124-8F7C-4970-8A31-522B3DAA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B4DF2-8409-4DA4-827A-B0470659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两个最终成果，覆盖单节点与三节点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F914B-792F-4072-86C0-AA42CD35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单节点最终方案  /  exp008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03003-4A82-4E06-94A4-5B5CF217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46512-0E56-4943-8AE3-0489499B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exp001  1.382x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47195-914C-49B7-AFDE-E36D6CC4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原实现 1M  1427.391x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2C7AA-CAB0-4EE5-9ACF-C84F96F5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rPr>
              <a:t>三节点最终方案  /  exp009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36A65-6278-4C99-AD2F-69CED226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AC63F-296E-4F65-849B-CA871640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exp001  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BB2A0-B53D-4F6B-B6FA-EEC4EDAE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原实现 1M  156.271x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B6B8A-D36F-403F-9345-58F8E5DF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A9A9C-3DA9-463B-B0F0-20ABF071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0D611-040E-4A0E-BF5A-0D820ADA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两个方案均 4/4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B7065-E06A-4927-957C-BEF376C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优化阶段已停止。最终单节点与三节点成果、原始日志和复现脚本均已归档。</a:t>
            </a:r>
          </a:p>
        </p:txBody>
      </p:sp>
    </p:spTree>
    <p:extLst>
      <p:ext uri="{BB962C8B-B14F-4D97-AF65-F5344CB8AC3E}">
        <p14:creationId xmlns:p14="http://schemas.microsoft.com/office/powerpoint/2010/main" val="10932943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mark-16">
            <a:extLst xmlns:a="http://schemas.openxmlformats.org/drawingml/2006/main">
              <a:ext uri="{FF2B5EF4-FFF2-40B4-BE49-F238E27FC236}">
                <a16:creationId xmlns:a16="http://schemas.microsoft.com/office/drawing/2014/main" id="{A5D0D03E-AE99-466A-B1EB-DD6258C9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429D7D51-6CA0-456C-82DB-7D17D974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Q&amp;A：重点追问</a:t>
            </a:r>
          </a:p>
        </p:txBody>
      </p:sp>
      <p:sp>
        <p:nvSpPr>
          <p:cNvPr id="3" name="subtitle-16">
            <a:extLst xmlns:a="http://schemas.openxmlformats.org/drawingml/2006/main">
              <a:ext uri="{FF2B5EF4-FFF2-40B4-BE49-F238E27FC236}">
                <a16:creationId xmlns:a16="http://schemas.microsoft.com/office/drawing/2014/main" id="{F20C1A13-5E73-46D0-8779-FB2A9127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先确认问题口径，再给结论、数字和日志位置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1EA4C-DA6D-45ED-813D-50AAA075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6">
            <a:extLst xmlns:a="http://schemas.openxmlformats.org/drawingml/2006/main">
              <a:ext uri="{FF2B5EF4-FFF2-40B4-BE49-F238E27FC236}">
                <a16:creationId xmlns:a16="http://schemas.microsoft.com/office/drawing/2014/main" id="{DBA2029F-4F77-430F-A892-7B6E972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1EA69-9D56-4D38-BA90-532BCAB7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DE38A-157E-423B-AB74-4F097E44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逐页讲稿与 14 组 Q&amp;A 速查见 docs/presentation-script.md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BF3CA-1FED-4C29-AE16-2DDA3CEA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基线为什么慢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8C380-330A-4604-BDA6-0280040F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重复准备、全长度 FFT、稠密 Mel、6.3 GB 功率谱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15FD2-6DC7-432C-AA4A-AC1ED34F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47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CPU 为什么赢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FD41C-EA99-452A-9E31-BDD53313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479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优势被 H2D、D2H、同步和完整文件 I/O 抵消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FD4C2-15A6-4A91-9E76-C2FED330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数字怎么读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8723B-9353-48F9-B97B-BF97879B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481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1.728x 用完整四例；1427.391x 与 156.271x 用 1M 前缀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623DE-8455-439A-86E7-19B25838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482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如何复现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99823-E0E7-452B-8D74-F110A6E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482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默认 make 构建 exp008；make final-three-node 构建 exp009</a:t>
            </a:r>
          </a:p>
        </p:txBody>
      </p:sp>
    </p:spTree>
    <p:extLst>
      <p:ext uri="{BB962C8B-B14F-4D97-AF65-F5344CB8AC3E}">
        <p14:creationId xmlns:p14="http://schemas.microsoft.com/office/powerpoint/2010/main" val="225570390"/>
      </p:ext>
    </p:extLst>
  </p:cSld>
</p:sld>
</file>

<file path=ppt/theme/theme1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2026-10-31T01:59:55.4100000Z</dcterms:created>
  <dcterms:modified xsi:type="dcterms:W3CDTF">2026-10-31T01:59:55.4100000Z</dcterms:modified>
</coreProperties>
</file>