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3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4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5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3f78ffc29a4513" /><Relationship Type="http://schemas.openxmlformats.org/officeDocument/2006/relationships/extended-properties" Target="/docProps/app.xml" Id="R38b6507107dc4cb3" /><Relationship Type="http://schemas.openxmlformats.org/officeDocument/2006/relationships/officeDocument" Target="/ppt/presentation.xml" Id="R3e77aad5dd5742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2bb64000bb438a"/>
  </p:sldMasterIdLst>
  <p:notesMasterIdLst>
    <p:notesMasterId xmlns:r="http://schemas.openxmlformats.org/officeDocument/2006/relationships" r:id="Rcae15053dd2e42fa"/>
  </p:notesMasterIdLst>
  <p:sldIdLst>
    <p:sldId xmlns:r="http://schemas.openxmlformats.org/officeDocument/2006/relationships" id="256" r:id="Rdef418e7fd43434c"/>
    <p:sldId xmlns:r="http://schemas.openxmlformats.org/officeDocument/2006/relationships" id="257" r:id="Rad95386c236b46b6"/>
    <p:sldId xmlns:r="http://schemas.openxmlformats.org/officeDocument/2006/relationships" id="258" r:id="Rba7c2d8c2edc4249"/>
    <p:sldId xmlns:r="http://schemas.openxmlformats.org/officeDocument/2006/relationships" id="259" r:id="R70af9d49e58145a6"/>
    <p:sldId xmlns:r="http://schemas.openxmlformats.org/officeDocument/2006/relationships" id="260" r:id="R7a74ed5b08ce4efd"/>
    <p:sldId xmlns:r="http://schemas.openxmlformats.org/officeDocument/2006/relationships" id="261" r:id="Rde13a1eb52a64902"/>
    <p:sldId xmlns:r="http://schemas.openxmlformats.org/officeDocument/2006/relationships" id="262" r:id="R15e579a3720843cd"/>
    <p:sldId xmlns:r="http://schemas.openxmlformats.org/officeDocument/2006/relationships" id="263" r:id="R5371c2935087452b"/>
    <p:sldId xmlns:r="http://schemas.openxmlformats.org/officeDocument/2006/relationships" id="264" r:id="Re031173ac49a4b31"/>
    <p:sldId xmlns:r="http://schemas.openxmlformats.org/officeDocument/2006/relationships" id="265" r:id="R96fe9cfd34fc44e9"/>
    <p:sldId xmlns:r="http://schemas.openxmlformats.org/officeDocument/2006/relationships" id="266" r:id="Ra0598e6d12824f59"/>
    <p:sldId xmlns:r="http://schemas.openxmlformats.org/officeDocument/2006/relationships" id="267" r:id="R581c1cb7aa52454c"/>
    <p:sldId xmlns:r="http://schemas.openxmlformats.org/officeDocument/2006/relationships" id="268" r:id="R85941d3deaa74f4c"/>
    <p:sldId xmlns:r="http://schemas.openxmlformats.org/officeDocument/2006/relationships" id="269" r:id="R88abcd3ff9454d19"/>
    <p:sldId xmlns:r="http://schemas.openxmlformats.org/officeDocument/2006/relationships" id="270" r:id="R687be62b982a4f27"/>
    <p:sldId xmlns:r="http://schemas.openxmlformats.org/officeDocument/2006/relationships" id="271" r:id="R2088350b9b374c9c"/>
    <p:sldId xmlns:r="http://schemas.openxmlformats.org/officeDocument/2006/relationships" id="272" r:id="R9ed582897b83426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5065a8d58d431e" /><Relationship Type="http://schemas.openxmlformats.org/officeDocument/2006/relationships/slideMaster" Target="/ppt/slideMasters/slideMaster1.xml" Id="R102bb64000bb438a" /><Relationship Type="http://schemas.openxmlformats.org/officeDocument/2006/relationships/notesMaster" Target="/ppt/notesMasters/notesMaster1.xml" Id="Rcae15053dd2e42fa" /><Relationship Type="http://schemas.openxmlformats.org/officeDocument/2006/relationships/presProps" Target="/ppt/presProps.xml" Id="Re9ce9e4acbbb45e8" /><Relationship Type="http://schemas.openxmlformats.org/officeDocument/2006/relationships/tableStyles" Target="/ppt/tableStyles.xml" Id="R31134e43a2274795" /><Relationship Type="http://schemas.openxmlformats.org/officeDocument/2006/relationships/slide" Target="/ppt/slides/slide1.xml" Id="Rdef418e7fd43434c" /><Relationship Type="http://schemas.openxmlformats.org/officeDocument/2006/relationships/slide" Target="/ppt/slides/slide2.xml" Id="Rad95386c236b46b6" /><Relationship Type="http://schemas.openxmlformats.org/officeDocument/2006/relationships/slide" Target="/ppt/slides/slide3.xml" Id="Rba7c2d8c2edc4249" /><Relationship Type="http://schemas.openxmlformats.org/officeDocument/2006/relationships/slide" Target="/ppt/slides/slide4.xml" Id="R70af9d49e58145a6" /><Relationship Type="http://schemas.openxmlformats.org/officeDocument/2006/relationships/slide" Target="/ppt/slides/slide5.xml" Id="R7a74ed5b08ce4efd" /><Relationship Type="http://schemas.openxmlformats.org/officeDocument/2006/relationships/slide" Target="/ppt/slides/slide6.xml" Id="Rde13a1eb52a64902" /><Relationship Type="http://schemas.openxmlformats.org/officeDocument/2006/relationships/slide" Target="/ppt/slides/slide7.xml" Id="R15e579a3720843cd" /><Relationship Type="http://schemas.openxmlformats.org/officeDocument/2006/relationships/slide" Target="/ppt/slides/slide8.xml" Id="R5371c2935087452b" /><Relationship Type="http://schemas.openxmlformats.org/officeDocument/2006/relationships/slide" Target="/ppt/slides/slide9.xml" Id="Re031173ac49a4b31" /><Relationship Type="http://schemas.openxmlformats.org/officeDocument/2006/relationships/slide" Target="/ppt/slides/slide10.xml" Id="R96fe9cfd34fc44e9" /><Relationship Type="http://schemas.openxmlformats.org/officeDocument/2006/relationships/slide" Target="/ppt/slides/slide11.xml" Id="Ra0598e6d12824f59" /><Relationship Type="http://schemas.openxmlformats.org/officeDocument/2006/relationships/slide" Target="/ppt/slides/slide12.xml" Id="R581c1cb7aa52454c" /><Relationship Type="http://schemas.openxmlformats.org/officeDocument/2006/relationships/slide" Target="/ppt/slides/slide13.xml" Id="R85941d3deaa74f4c" /><Relationship Type="http://schemas.openxmlformats.org/officeDocument/2006/relationships/slide" Target="/ppt/slides/slide14.xml" Id="R88abcd3ff9454d19" /><Relationship Type="http://schemas.openxmlformats.org/officeDocument/2006/relationships/slide" Target="/ppt/slides/slide15.xml" Id="R687be62b982a4f27" /><Relationship Type="http://schemas.openxmlformats.org/officeDocument/2006/relationships/slide" Target="/ppt/slides/slide16.xml" Id="R2088350b9b374c9c" /><Relationship Type="http://schemas.openxmlformats.org/officeDocument/2006/relationships/slide" Target="/ppt/slides/slide17.xml" Id="R9ed582897b83426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283cfb72dc41e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eeff3174f124436" /><Relationship Type="http://schemas.openxmlformats.org/officeDocument/2006/relationships/notesMaster" Target="/ppt/notesMasters/notesMaster1.xml" Id="Rdcbf53d4e8194c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20353f426494e9e" /><Relationship Type="http://schemas.openxmlformats.org/officeDocument/2006/relationships/notesMaster" Target="/ppt/notesMasters/notesMaster1.xml" Id="Re2f2ef8edf4e4b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bdcdca512440e8" /><Relationship Type="http://schemas.openxmlformats.org/officeDocument/2006/relationships/notesMaster" Target="/ppt/notesMasters/notesMaster1.xml" Id="Ra5a59252f6714b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3f04d47df204ea7" /><Relationship Type="http://schemas.openxmlformats.org/officeDocument/2006/relationships/notesMaster" Target="/ppt/notesMasters/notesMaster1.xml" Id="R895ecc3f0c30407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05eaded55a946c3" /><Relationship Type="http://schemas.openxmlformats.org/officeDocument/2006/relationships/notesMaster" Target="/ppt/notesMasters/notesMaster1.xml" Id="R334788bbf9b242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3432f88bf8744a6" /><Relationship Type="http://schemas.openxmlformats.org/officeDocument/2006/relationships/notesMaster" Target="/ppt/notesMasters/notesMaster1.xml" Id="Rcb09940c029b41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c67f0cf6720429e" /><Relationship Type="http://schemas.openxmlformats.org/officeDocument/2006/relationships/notesMaster" Target="/ppt/notesMasters/notesMaster1.xml" Id="R28f4a13dcbff4a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ea8a97714a47b7" /><Relationship Type="http://schemas.openxmlformats.org/officeDocument/2006/relationships/notesMaster" Target="/ppt/notesMasters/notesMaster1.xml" Id="R979b26b67f3a4e8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4f68a179054fff" /><Relationship Type="http://schemas.openxmlformats.org/officeDocument/2006/relationships/notesMaster" Target="/ppt/notesMasters/notesMaster1.xml" Id="R23cc32fa66be468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7d30959af54b06" /><Relationship Type="http://schemas.openxmlformats.org/officeDocument/2006/relationships/notesMaster" Target="/ppt/notesMasters/notesMaster1.xml" Id="R3b6abf52bd66469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5062b3ed16f4c43" /><Relationship Type="http://schemas.openxmlformats.org/officeDocument/2006/relationships/notesMaster" Target="/ppt/notesMasters/notesMaster1.xml" Id="R65ef10c44016402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a400f9fdd1b447d" /><Relationship Type="http://schemas.openxmlformats.org/officeDocument/2006/relationships/notesMaster" Target="/ppt/notesMasters/notesMaster1.xml" Id="R01f502fe387642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7baba1cafff4267" /><Relationship Type="http://schemas.openxmlformats.org/officeDocument/2006/relationships/notesMaster" Target="/ppt/notesMasters/notesMaster1.xml" Id="R32779a56c4564f5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a8515c7d2542ff" /><Relationship Type="http://schemas.openxmlformats.org/officeDocument/2006/relationships/notesMaster" Target="/ppt/notesMasters/notesMaster1.xml" Id="R7f779deea470475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d3a8dad495d4e65" /><Relationship Type="http://schemas.openxmlformats.org/officeDocument/2006/relationships/notesMaster" Target="/ppt/notesMasters/notesMaster1.xml" Id="R7d0a72a940854fb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0010f49af814e53" /><Relationship Type="http://schemas.openxmlformats.org/officeDocument/2006/relationships/notesMaster" Target="/ppt/notesMasters/notesMaster1.xml" Id="Rd662567d8b454d60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c8dd280600347d1" /><Relationship Type="http://schemas.openxmlformats.org/officeDocument/2006/relationships/notesMaster" Target="/ppt/notesMasters/notesMaster1.xml" Id="R466382f2fc1149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本页用于开场。</a:t>
            </a:r>
          </a:p>
          <a:p xmlns:a="http://schemas.openxmlformats.org/drawingml/2006/main">
            <a:r>
              <a:t>汇报覆盖单节点 CPU、单节点 GPU、多节点 CPU 和多节点 GPU 路线，最终以三个节点上的 exp009 作为当前最快结果。</a:t>
            </a:r>
          </a:p>
          <a:p xmlns:a="http://schemas.openxmlformats.org/drawingml/2006/main">
            <a:r>
              <a:t>数据来源为 docs/experiment-report.md 和 logs/009_three_node_cpu_slurm-415.log。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评测框架固定四个用例，每个正式结果运行三次并取最小值。</a:t>
            </a:r>
          </a:p>
          <a:p xmlns:a="http://schemas.openxmlformats.org/drawingml/2006/main">
            <a:r>
              <a:t>性能基线使用 exp001 的 64 线程 spread 结果 3.777 秒。16 线程的 7.572 秒只保留为历史记录，不能用于高估后续优化。</a:t>
            </a:r>
          </a:p>
          <a:p xmlns:a="http://schemas.openxmlformats.org/drawingml/2006/main">
            <a:r>
              <a:t>证据来源：docs/experiment-report.md、logs/cpu-thread-scaling_slurm-275.log。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横向条形图按总耗时从低到高展示全部关键版本。</a:t>
            </a:r>
          </a:p>
          <a:p xmlns:a="http://schemas.openxmlformats.org/drawingml/2006/main">
            <a:r>
              <a:t>exp009 为 2.186 秒，exp004 为 2.533 秒，exp008 为 2.733 秒。GPU 路线最好的是 exp006，4.024 秒。</a:t>
            </a:r>
          </a:p>
          <a:p xmlns:a="http://schemas.openxmlformats.org/drawingml/2006/main">
            <a:r>
              <a:t>证据来源：docs/experiment-report.md 的最终结果表，日志包括 jobs 359、413 和 415。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这一页覆盖 001 到 009 的每一步思路和效果。相对 exp001 列使用完整四用例。</a:t>
            </a:r>
          </a:p>
          <a:p xmlns:a="http://schemas.openxmlformats.org/drawingml/2006/main">
            <a:r>
              <a:t>原实现的前 1M 样本同口径对照：exp008 为 1427.391x，exp009 为 156.271x。</a:t>
            </a:r>
          </a:p>
          <a:p xmlns:a="http://schemas.openxmlformats.org/drawingml/2006/main">
            <a:r>
              <a:t>证据来源：docs/experiment-report.md、results/final-metrics.csv、results/relative-to-original.csv。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这张图区分了两类关系：蓝线表示主要演化或直接源码复用，灰线表示设计复用和对照。</a:t>
            </a:r>
          </a:p>
          <a:p xmlns:a="http://schemas.openxmlformats.org/drawingml/2006/main">
            <a:r>
              <a:t>exp007 和 exp008 都直接 include exp001。exp009 直接 include exp008，同时复用 exp004 的本地帧划分和分布写入设计。</a:t>
            </a:r>
          </a:p>
          <a:p xmlns:a="http://schemas.openxmlformats.org/drawingml/2006/main">
            <a:r>
              <a:t>GPU 分支 exp002 到 exp005 是探索路线，exp006 是独立纯 GPU 对照，最终没有进入双方案交付。</a:t>
            </a:r>
          </a:p>
          <a:p xmlns:a="http://schemas.openxmlformats.org/drawingml/2006/main">
            <a:r>
              <a:t>最终主线是 baseline 到 exp001，再到 exp008 和 exp009。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原始版本正确，但每一帧重复分配、位反转和 twiddle 三角函数计算。</a:t>
            </a:r>
          </a:p>
          <a:p xmlns:a="http://schemas.openxmlformats.org/drawingml/2006/main">
            <a:r>
              <a:t>实数输入执行全长度复数 FFT，Mel 投影对零权重也做乘法，并物化完整的 6.3 GB double 功率谱。</a:t>
            </a:r>
          </a:p>
          <a:p xmlns:a="http://schemas.openxmlformats.org/drawingml/2006/main">
            <a:r>
              <a:t>同口径 1M 样本上，原实现为 61.663 秒，exp001 为 0.084 秒，加速 731.206x。</a:t>
            </a:r>
          </a:p>
          <a:p xmlns:a="http://schemas.openxmlformats.org/drawingml/2006/main">
            <a:r>
              <a:t>证据来源：docs/experiment-report.md 和 logs/001_packed_fft_sparse_mel_simd_slurm-187.log。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exp001 的核心不是换语言，而是让每个阶段只做必要工作。</a:t>
            </a:r>
          </a:p>
          <a:p xmlns:a="http://schemas.openxmlformats.org/drawingml/2006/main">
            <a:r>
              <a:t>实数输入通过打包把核心 FFT 长度减半。Mel 投影删除乘零运算。分块让中间数据留在缓存层级内。</a:t>
            </a:r>
          </a:p>
          <a:p xmlns:a="http://schemas.openxmlformats.org/drawingml/2006/main">
            <a:r>
              <a:t>64 线程 spread 合计 3.777 秒。来源：logs/cpu-thread-scaling_slurm-275.log。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GPU 图显示 exp006 是 GPU 路线中最好的，4.024 秒，但仍慢于 64 线程 exp001。</a:t>
            </a:r>
          </a:p>
          <a:p xmlns:a="http://schemas.openxmlformats.org/drawingml/2006/main">
            <a:r>
              <a:t>GPU 计算不慢，问题在于短进程里的启动、搬运、同步和最终输出。</a:t>
            </a:r>
          </a:p>
          <a:p xmlns:a="http://schemas.openxmlformats.org/drawingml/2006/main">
            <a:r>
              <a:t>证据来源：logs/006_multi_node_gpu_only_slurm-410.log、logs/003_cpu_gpu_tuning_slurm-299.log。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exp006 的 default profile 中，每 rank 读取约 0.093 秒，初始化约 0.06 秒。</a:t>
            </a:r>
          </a:p>
          <a:p xmlns:a="http://schemas.openxmlformats.org/drawingml/2006/main">
            <a:r>
              <a:t>GPU 路径包含 H2D、kernel、D2H 和 stream 同步，约 0.16 到 0.23 秒；输出写入约 0.28 到 0.49 秒。</a:t>
            </a:r>
          </a:p>
          <a:p xmlns:a="http://schemas.openxmlformats.org/drawingml/2006/main">
            <a:r>
              <a:t>每 rank 约执行 94 次同步，D2H 又写入 pageable buffer，无法让计算和传输充分重叠。</a:t>
            </a:r>
          </a:p>
          <a:p xmlns:a="http://schemas.openxmlformats.org/drawingml/2006/main">
            <a:r>
              <a:t>因此输入磁盘 I/O 不是主因，瓶颈是端到端数据搬运、同步和共享输出写入。证据见 logs/006_multi_node_gpu_only_slurm-410.log。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exp007 把 default 拆成读取与归一化约 0.20 秒，计算约 0.50 秒，转换与写入约 0.24 秒。</a:t>
            </a:r>
          </a:p>
          <a:p xmlns:a="http://schemas.openxmlformats.org/drawingml/2006/main">
            <a:r>
              <a:t>完整写盘和写入 /dev/null 只差 70 到 90 毫秒，因此先优化主机侧内存和转换路径，收益比直接换磁盘策略更明确。</a:t>
            </a:r>
          </a:p>
          <a:p xmlns:a="http://schemas.openxmlformats.org/drawingml/2006/main">
            <a:r>
              <a:t>证据来源：logs/007_single_node_profile_slurm-412.log。job 411 的 perf 无权限问题已在报告中披露。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exp008 保留 exp001 的 FFT 和 Mel 数学，只修改数据路径。</a:t>
            </a:r>
          </a:p>
          <a:p xmlns:a="http://schemas.openxmlformats.org/drawingml/2006/main">
            <a:r>
              <a:t>并行归一化、单 OpenMP 区域和直接 float32 输出把合计从 3.777 秒降到 2.733 秒，峰值内存降到 394 MB。</a:t>
            </a:r>
          </a:p>
          <a:p xmlns:a="http://schemas.openxmlformats.org/drawingml/2006/main">
            <a:r>
              <a:t>官方四用例全部通过，同口径 1M 样本相对原实现加速 1427.391x。来源：jobs 413 和 418。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使用三个 rank，每个节点读取自己的连续 PCM 区间，再用单 OpenMP 区域直接生成 float32 Mel。</a:t>
            </a:r>
          </a:p>
          <a:p xmlns:a="http://schemas.openxmlformats.org/drawingml/2006/main">
            <a:r>
              <a:t>rank 0 写入 token，其他 rank 确认 token 后并行写入不重叠的帧列。</a:t>
            </a:r>
          </a:p>
          <a:p xmlns:a="http://schemas.openxmlformats.org/drawingml/2006/main">
            <a:r>
              <a:t>四用例合计 2.186 秒，比三节点 exp004 再快 1.159 倍；同口径 1M 相对原实现为 156.271x。来源：jobs 415 和 418。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exp009 的 default profile 中，读取约 0.02 秒，归一化约 0.04 秒，计算约 0.13 秒，分布式写入约 0.28 秒。</a:t>
            </a:r>
          </a:p>
          <a:p xmlns:a="http://schemas.openxmlformats.org/drawingml/2006/main">
            <a:r>
              <a:t>写入占单个 rank wall time 的一半以上。下一步不应先增加 CPU 核数或 GPU。</a:t>
            </a:r>
          </a:p>
          <a:p xmlns:a="http://schemas.openxmlformats.org/drawingml/2006/main">
            <a:r>
              <a:t>优化工作已按当前决定停止，这里的建议只作为后续可能方向。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项目内依据来自原始代码、官方评测脚本和全部 expected 数据。</a:t>
            </a:r>
          </a:p>
          <a:p xmlns:a="http://schemas.openxmlformats.org/drawingml/2006/main">
            <a:r>
              <a:t>API 设计参考 CUDA Runtime、cuFFT、OpenMP、GCC 与 Slurm 的官方文档。</a:t>
            </a:r>
          </a:p>
          <a:p xmlns:a="http://schemas.openxmlformats.org/drawingml/2006/main">
            <a:r>
              <a:t>使用 OpenAI Codex（GPT-5）辅助分析、实现草稿、实验编排和材料整理。所有结论以真实作业日志为准。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这些 bug 都来自实际运行，不是概念性风险。</a:t>
            </a:r>
          </a:p>
          <a:p xmlns:a="http://schemas.openxmlformats.org/drawingml/2006/main">
            <a:r>
              <a:t>跨节点 /tmp 和 ready token 竞态都涉及多进程可见性与一致性。</a:t>
            </a:r>
          </a:p>
          <a:p xmlns:a="http://schemas.openxmlformats.org/drawingml/2006/main">
            <a:r>
              <a:t>NVCC 参数和 perf 权限说明工具链边界也必须通过远程实测确认。</a:t>
            </a:r>
          </a:p>
          <a:p xmlns:a="http://schemas.openxmlformats.org/drawingml/2006/main">
            <a:r>
              <a:t>证据来源：docs/references-and-ai.md、相关 failed/success Slurm 日志。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最终成果保留两个独立方案。单节点 exp008 为 2.733 秒，三节点 exp009 为 2.186 秒。</a:t>
            </a:r>
          </a:p>
          <a:p xmlns:a="http://schemas.openxmlformats.org/drawingml/2006/main">
            <a:r>
              <a:t>相对 exp001 的官方四用例加速分别为 1.382 倍和 1.728 倍。</a:t>
            </a:r>
          </a:p>
          <a:p xmlns:a="http://schemas.openxmlformats.org/drawingml/2006/main">
            <a:r>
              <a:t>同口径 1M 样本相对原实现分别为 1427.391 倍和 156.271 倍。</a:t>
            </a:r>
          </a:p>
          <a:p xmlns:a="http://schemas.openxmlformats.org/drawingml/2006/main">
            <a:r>
              <a:t>两个方案都通过官方四个用例。</a:t>
            </a:r>
          </a:p>
          <a:p xmlns:a="http://schemas.openxmlformats.org/drawingml/2006/main">
            <a:r>
              <a:t>优化阶段已经停止，后续工作只保留文档、PPT 和汇报内容。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Q&amp;A 时先确认评委问的是性能口径、实现细节还是工程过程。</a:t>
            </a:r>
          </a:p>
          <a:p xmlns:a="http://schemas.openxmlformats.org/drawingml/2006/main">
            <a:r>
              <a:t>高频问题包括基线为什么慢、CPU 与 GPU 的取舍、三个加速比的口径、输出写入和复现方式。</a:t>
            </a:r>
          </a:p>
          <a:p xmlns:a="http://schemas.openxmlformats.org/drawingml/2006/main">
            <a:r>
              <a:t>完整答案在 docs/presentation-script.md 的 Q&amp;A 速查部分。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dbd2288295e489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b6e41437ca433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412e990024781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b0db800c0744f9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8947b58b41344e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94617933e5441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8BBBF14-5BE7-463E-8CBE-154F593BD23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80289B4-2C8B-47BE-BBAF-2F575FD2C0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51202AC-6EE2-4B04-9962-884D715125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C3D0FCB-5B66-49EE-B728-EAB1DB1E1B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6FD3E7B-C40F-4EDD-A198-54EB36F9E8F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6BD45189-A21C-4329-A0A7-F53F74E908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B189776-46DC-4A17-B057-A4454D3BD40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4F7D851-CB5D-41F3-BBA5-DD833D774DF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2D734CD-62D1-4F07-9254-85CE6A784F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E69097-DD06-4F58-835F-E09212BA6A2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b0531aa9ded4de5" /><Relationship Type="http://schemas.openxmlformats.org/officeDocument/2006/relationships/slideLayout" Target="/ppt/slideLayouts/slideLayout1.xml" Id="R0218df102670464e" /><Relationship Type="http://schemas.openxmlformats.org/officeDocument/2006/relationships/slideLayout" Target="/ppt/slideLayouts/slideLayout2.xml" Id="Rd9a0515feb304cbd" /><Relationship Type="http://schemas.openxmlformats.org/officeDocument/2006/relationships/slideLayout" Target="/ppt/slideLayouts/slideLayout3.xml" Id="R14b75f7a382841c6" /><Relationship Type="http://schemas.openxmlformats.org/officeDocument/2006/relationships/slideLayout" Target="/ppt/slideLayouts/slideLayout4.xml" Id="R36530fc44f514caf" /><Relationship Type="http://schemas.openxmlformats.org/officeDocument/2006/relationships/slideLayout" Target="/ppt/slideLayouts/slideLayout5.xml" Id="R8d66d6afe1c34eaa" /><Relationship Type="http://schemas.openxmlformats.org/officeDocument/2006/relationships/slideLayout" Target="/ppt/slideLayouts/slideLayout6.xml" Id="Rc95a6bdfe03e40b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218df102670464e"/>
    <p:sldLayoutId xmlns:r="http://schemas.openxmlformats.org/officeDocument/2006/relationships" id="2147483650" r:id="Rd9a0515feb304cbd"/>
    <p:sldLayoutId xmlns:r="http://schemas.openxmlformats.org/officeDocument/2006/relationships" id="2147483651" r:id="R14b75f7a382841c6"/>
    <p:sldLayoutId xmlns:r="http://schemas.openxmlformats.org/officeDocument/2006/relationships" id="2147483652" r:id="R36530fc44f514caf"/>
    <p:sldLayoutId xmlns:r="http://schemas.openxmlformats.org/officeDocument/2006/relationships" id="2147483653" r:id="R8d66d6afe1c34eaa"/>
    <p:sldLayoutId xmlns:r="http://schemas.openxmlformats.org/officeDocument/2006/relationships" id="2147483654" r:id="Rc95a6bdfe03e40b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aa3881396e4d8a" /><Relationship Type="http://schemas.openxmlformats.org/officeDocument/2006/relationships/notesSlide" Target="/ppt/notesSlides/notesSlide1.xml" Id="R23512db16adb418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c4ab82a327746d1" /><Relationship Type="http://schemas.openxmlformats.org/officeDocument/2006/relationships/notesSlide" Target="/ppt/notesSlides/notesSlide2.xml" Id="R052b23e8a3c4420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6e340bf37414cdc" /><Relationship Type="http://schemas.openxmlformats.org/officeDocument/2006/relationships/chart" Target="/ppt/slides/charts/chart1.xml" Id="R2ccc8877851146af" /><Relationship Type="http://schemas.openxmlformats.org/officeDocument/2006/relationships/notesSlide" Target="/ppt/notesSlides/notesSlide3.xml" Id="Rbc849ab218ba4d1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90872754d74224" /><Relationship Type="http://schemas.openxmlformats.org/officeDocument/2006/relationships/notesSlide" Target="/ppt/notesSlides/notesSlide4.xml" Id="Ra8af0f0b294949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5c4ae3220fa435b" /><Relationship Type="http://schemas.openxmlformats.org/officeDocument/2006/relationships/notesSlide" Target="/ppt/notesSlides/notesSlide5.xml" Id="R3505e622911d4cc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13d96d064a84693" /><Relationship Type="http://schemas.openxmlformats.org/officeDocument/2006/relationships/notesSlide" Target="/ppt/notesSlides/notesSlide6.xml" Id="Redd012fca30c413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0509b8d6f934704" /><Relationship Type="http://schemas.openxmlformats.org/officeDocument/2006/relationships/notesSlide" Target="/ppt/notesSlides/notesSlide7.xml" Id="R2a7488568fbd431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4139ac6d7641a4" /><Relationship Type="http://schemas.openxmlformats.org/officeDocument/2006/relationships/chart" Target="/ppt/slides/charts/chart2.xml" Id="Rf0312b3a69d7400d" /><Relationship Type="http://schemas.openxmlformats.org/officeDocument/2006/relationships/notesSlide" Target="/ppt/notesSlides/notesSlide8.xml" Id="Ra21b625e1bb0430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69ed1c35614f37" /><Relationship Type="http://schemas.openxmlformats.org/officeDocument/2006/relationships/chart" Target="/ppt/slides/charts/chart3.xml" Id="R6436c10a579c4100" /><Relationship Type="http://schemas.openxmlformats.org/officeDocument/2006/relationships/notesSlide" Target="/ppt/notesSlides/notesSlide9.xml" Id="R863a94fae91d4f2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d36cd85e26e4b75" /><Relationship Type="http://schemas.openxmlformats.org/officeDocument/2006/relationships/chart" Target="/ppt/slides/charts/chart4.xml" Id="Rf7ef8f7783b7431f" /><Relationship Type="http://schemas.openxmlformats.org/officeDocument/2006/relationships/notesSlide" Target="/ppt/notesSlides/notesSlide10.xml" Id="Ra151ef89c99d485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84714d910544d5f" /><Relationship Type="http://schemas.openxmlformats.org/officeDocument/2006/relationships/notesSlide" Target="/ppt/notesSlides/notesSlide11.xml" Id="R0e00fc85da3d4e85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0e76cfd86d84065" /><Relationship Type="http://schemas.openxmlformats.org/officeDocument/2006/relationships/notesSlide" Target="/ppt/notesSlides/notesSlide12.xml" Id="R6d1e992b086d4a5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45f8270ab134b3c" /><Relationship Type="http://schemas.openxmlformats.org/officeDocument/2006/relationships/chart" Target="/ppt/slides/charts/chart5.xml" Id="R41301dc33ee04b70" /><Relationship Type="http://schemas.openxmlformats.org/officeDocument/2006/relationships/notesSlide" Target="/ppt/notesSlides/notesSlide13.xml" Id="R3fc25eb077744c6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5f0963809c94607" /><Relationship Type="http://schemas.openxmlformats.org/officeDocument/2006/relationships/notesSlide" Target="/ppt/notesSlides/notesSlide14.xml" Id="R75439a1abfcf40f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fd3f0cbdfe45bb" /><Relationship Type="http://schemas.openxmlformats.org/officeDocument/2006/relationships/notesSlide" Target="/ppt/notesSlides/notesSlide15.xml" Id="Rb9b19e9a933645dd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85c84f1d2924b3c" /><Relationship Type="http://schemas.openxmlformats.org/officeDocument/2006/relationships/notesSlide" Target="/ppt/notesSlides/notesSlide16.xml" Id="Rb7d60784882e495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e5f60b3219493d" /><Relationship Type="http://schemas.openxmlformats.org/officeDocument/2006/relationships/notesSlide" Target="/ppt/notesSlides/notesSlide17.xml" Id="R4256f4e069744d0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Data'!$A$2:$A$9</c:f>
              <c:strCache>
                <c:ptCount val="8"/>
                <c:pt idx="0">
                  <c:v>009 三节点 CPU</c:v>
                </c:pt>
                <c:pt idx="1">
                  <c:v>004 三节点 CPU</c:v>
                </c:pt>
                <c:pt idx="2">
                  <c:v>008 单节点 CPU</c:v>
                </c:pt>
                <c:pt idx="3">
                  <c:v>001 单节点 CPU</c:v>
                </c:pt>
                <c:pt idx="4">
                  <c:v>006 两节点 GPU</c:v>
                </c:pt>
                <c:pt idx="5">
                  <c:v>002 单节点 GPU</c:v>
                </c:pt>
                <c:pt idx="6">
                  <c:v>005 两节点 CPU+GPU</c:v>
                </c:pt>
                <c:pt idx="7">
                  <c:v>003 单节点 CPU+GPU</c:v>
                </c:pt>
              </c:strCache>
            </c:strRef>
          </c:cat>
          <c:val>
            <c:numRef>
              <c:f>'Chart Data'!$B$2:$B$9</c:f>
              <c:numCache>
                <c:formatCode>General</c:formatCode>
                <c:ptCount val="8"/>
                <c:pt idx="0">
                  <c:v>2.186</c:v>
                </c:pt>
                <c:pt idx="1">
                  <c:v>2.533</c:v>
                </c:pt>
                <c:pt idx="2">
                  <c:v>2.733</c:v>
                </c:pt>
                <c:pt idx="3">
                  <c:v>3.777</c:v>
                </c:pt>
                <c:pt idx="4">
                  <c:v>4.024</c:v>
                </c:pt>
                <c:pt idx="5">
                  <c:v>5.164</c:v>
                </c:pt>
                <c:pt idx="6">
                  <c:v>5.179</c:v>
                </c:pt>
                <c:pt idx="7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DEE8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四用例合计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006  两节点纯 GPU</c:v>
                </c:pt>
                <c:pt idx="1">
                  <c:v>002  单节点双 GPU</c:v>
                </c:pt>
                <c:pt idx="2">
                  <c:v>005  两节点 CPU+GPU</c:v>
                </c:pt>
                <c:pt idx="3">
                  <c:v>003  单节点 CPU+GPU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4.024</c:v>
                </c:pt>
                <c:pt idx="1">
                  <c:v>5.164</c:v>
                </c:pt>
                <c:pt idx="2">
                  <c:v>5.179</c:v>
                </c:pt>
                <c:pt idx="3">
                  <c:v>5.207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rank 0</c:v>
          </c:tx>
          <c:spPr>
            <a:solidFill xmlns:a="http://schemas.openxmlformats.org/drawingml/2006/main">
              <a:srgbClr val="2E90FA"/>
            </a:solidFill>
          </c:spPr>
          <c:invertIfNegative val="0"/>
          <c:cat>
            <c:strRef>
              <c:f>'Chart Data'!$A$2:$A$5</c:f>
              <c:strCache>
                <c:ptCount val="4"/>
                <c:pt idx="0">
                  <c:v>输入读取</c:v>
                </c:pt>
                <c:pt idx="1">
                  <c:v>CUDA 初始化</c:v>
                </c:pt>
                <c:pt idx="2">
                  <c:v>GPU 路径</c:v>
                </c:pt>
                <c:pt idx="3">
                  <c:v>输出写入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0.093</c:v>
                </c:pt>
                <c:pt idx="1">
                  <c:v>0.06</c:v>
                </c:pt>
                <c:pt idx="2">
                  <c:v>0.161</c:v>
                </c:pt>
                <c:pt idx="3">
                  <c:v>0.28</c:v>
                </c:pt>
              </c:numCache>
            </c:numRef>
          </c:val>
        </c:ser>
        <c:ser>
          <c:idx val="1"/>
          <c:order val="1"/>
          <c:tx>
            <c:v>rank 1</c:v>
          </c:tx>
          <c:spPr>
            <a:solidFill xmlns:a="http://schemas.openxmlformats.org/drawingml/2006/main">
              <a:srgbClr val="F79009"/>
            </a:solidFill>
          </c:spPr>
          <c:invertIfNegative val="0"/>
          <c:cat>
            <c:strRef>
              <c:f>'Chart Data'!$C$2:$C$5</c:f>
              <c:strCache>
                <c:ptCount val="4"/>
                <c:pt idx="0">
                  <c:v>输入读取</c:v>
                </c:pt>
                <c:pt idx="1">
                  <c:v>CUDA 初始化</c:v>
                </c:pt>
                <c:pt idx="2">
                  <c:v>GPU 路径</c:v>
                </c:pt>
                <c:pt idx="3">
                  <c:v>输出写入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0.093</c:v>
                </c:pt>
                <c:pt idx="1">
                  <c:v>0.056</c:v>
                </c:pt>
                <c:pt idx="2">
                  <c:v>0.233</c:v>
                </c:pt>
                <c:pt idx="3">
                  <c:v>0.489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825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975">
              <a:solidFill>
                <a:srgbClr val="667085"/>
              </a:solidFill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175CD3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12B76A"/>
              </a:solidFill>
            </c:spPr>
          </c:dPt>
          <c:cat>
            <c:strRef>
              <c:f>'Chart Data'!$A$2:$A$4</c:f>
              <c:strCache>
                <c:ptCount val="3"/>
                <c:pt idx="0">
                  <c:v>读取与归一化</c:v>
                </c:pt>
                <c:pt idx="1">
                  <c:v>FFT / 功率 / Mel</c:v>
                </c:pt>
                <c:pt idx="2">
                  <c:v>转换与写入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0.2</c:v>
                </c:pt>
                <c:pt idx="1">
                  <c:v>0.5</c:v>
                </c:pt>
                <c:pt idx="2">
                  <c:v>0.24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8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每 rank 耗时</c:v>
          </c:tx>
          <c:spPr>
            <a:solidFill xmlns:a="http://schemas.openxmlformats.org/drawingml/2006/main">
              <a:srgbClr val="2E90FA"/>
            </a:solidFill>
          </c:spPr>
          <c:invertIfNegative val="0"/>
          <c:dPt>
            <c:idx val="3"/>
            <c:invertIfNegative val="0"/>
            <c:spPr>
              <a:solidFill xmlns:a="http://schemas.openxmlformats.org/drawingml/2006/main">
                <a:srgbClr val="F79009"/>
              </a:solidFill>
            </c:spPr>
          </c:dPt>
          <c:cat>
            <c:strRef>
              <c:f>'Chart Data'!$A$2:$A$5</c:f>
              <c:strCache>
                <c:ptCount val="4"/>
                <c:pt idx="0">
                  <c:v>本地读取</c:v>
                </c:pt>
                <c:pt idx="1">
                  <c:v>归一化</c:v>
                </c:pt>
                <c:pt idx="2">
                  <c:v>计算</c:v>
                </c:pt>
                <c:pt idx="3">
                  <c:v>分布式写入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0.02</c:v>
                </c:pt>
                <c:pt idx="1">
                  <c:v>0.04</c:v>
                </c:pt>
                <c:pt idx="2">
                  <c:v>0.13</c:v>
                </c:pt>
                <c:pt idx="3">
                  <c:v>0.28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050" b="1">
                  <a:solidFill>
                    <a:srgbClr val="142033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4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DEE8"/>
              </a:solidFill>
              <a:prstDash val="solid"/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9DD83CE6-51AF-4339-A56B-5AB19AE9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2026 秋季招新题  /  技术复盘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DF47EB59-9F0D-420F-A455-E2331793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876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Melspec 高性能实现复盘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B6C41931-E62A-4502-8EB6-2B70D14C0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从 CPU 算法优化到三节点流水线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F69751-145A-47C7-A59B-37AF68F01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562350"/>
            <a:ext cx="1066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result">
            <a:extLst xmlns:a="http://schemas.openxmlformats.org/drawingml/2006/main">
              <a:ext uri="{FF2B5EF4-FFF2-40B4-BE49-F238E27FC236}">
                <a16:creationId xmlns:a16="http://schemas.microsoft.com/office/drawing/2014/main" id="{0ACBAF9A-B3D9-4EB8-8AB5-62D8D2B92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exp009  2.186 s</a:t>
            </a:r>
          </a:p>
        </p:txBody>
      </p:sp>
      <p:sp>
        <p:nvSpPr>
          <p:cNvPr id="6" name="cover-baseline">
            <a:extLst xmlns:a="http://schemas.openxmlformats.org/drawingml/2006/main">
              <a:ext uri="{FF2B5EF4-FFF2-40B4-BE49-F238E27FC236}">
                <a16:creationId xmlns:a16="http://schemas.microsoft.com/office/drawing/2014/main" id="{0E97760D-4D00-4D20-B987-777F193A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81575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官方四例 4/4 PASS  /  三节点相对 exp001 1.728x  /  原实现 1M：exp008 1427.391x</a:t>
            </a:r>
          </a:p>
        </p:txBody>
      </p:sp>
    </p:spTree>
    <p:extLst>
      <p:ext uri="{BB962C8B-B14F-4D97-AF65-F5344CB8AC3E}">
        <p14:creationId xmlns:p14="http://schemas.microsoft.com/office/powerpoint/2010/main" val="16779536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2">
            <a:extLst xmlns:a="http://schemas.openxmlformats.org/drawingml/2006/main">
              <a:ext uri="{FF2B5EF4-FFF2-40B4-BE49-F238E27FC236}">
                <a16:creationId xmlns:a16="http://schemas.microsoft.com/office/drawing/2014/main" id="{16AA8162-9605-40C8-AE50-4195A252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6487096A-DAD5-4A55-9D42-57A313B5F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评测范围与统一口径</a:t>
            </a:r>
          </a:p>
        </p:txBody>
      </p:sp>
      <p:sp>
        <p:nvSpPr>
          <p:cNvPr id="3" name="subtitle-2">
            <a:extLst xmlns:a="http://schemas.openxmlformats.org/drawingml/2006/main">
              <a:ext uri="{FF2B5EF4-FFF2-40B4-BE49-F238E27FC236}">
                <a16:creationId xmlns:a16="http://schemas.microsoft.com/office/drawing/2014/main" id="{93A92FBD-C84E-4276-826A-E4F16464C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四个官方用例，三次运行取最小值，所有性能统一对照 exp001 的 64 线程结果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12D60B-1A72-4EBD-ACA6-4410EE36F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2">
            <a:extLst xmlns:a="http://schemas.openxmlformats.org/drawingml/2006/main">
              <a:ext uri="{FF2B5EF4-FFF2-40B4-BE49-F238E27FC236}">
                <a16:creationId xmlns:a16="http://schemas.microsoft.com/office/drawing/2014/main" id="{20258A07-8338-4122-8E1C-4290DC893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02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AAC74C-8E81-4005-8B0C-F7D07E23884F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5810250" cy="28003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2324100"/>
                <a:gridCol w="1106714"/>
                <a:gridCol w="1106714"/>
                <a:gridCol w="1272721"/>
              </a:tblGrid>
              <a:tr h="56007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n_fft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n_mels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帧数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8192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64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192,397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56007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16384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256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192,333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75DABE-F371-4971-8B22-DB0B0749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24050"/>
            <a:ext cx="438150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官方 expected 输出容差：rtol 1e-3，atol 1e-4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统一性能基线：exp001，64 线程 spread，3.777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计算环境：hepnode1 到 hepnode3，64 核 CPU 与 2 张 L40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所有计时均来自 Slurm 计算节点</a:t>
            </a:r>
          </a:p>
        </p:txBody>
      </p:sp>
      <p:sp>
        <p:nvSpPr>
          <p:cNvPr id="8" name="baseline-note">
            <a:extLst xmlns:a="http://schemas.openxmlformats.org/drawingml/2006/main">
              <a:ext uri="{FF2B5EF4-FFF2-40B4-BE49-F238E27FC236}">
                <a16:creationId xmlns:a16="http://schemas.microsoft.com/office/drawing/2014/main" id="{559B05B7-AA66-4BB7-AD1B-022560C92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5067300"/>
            <a:ext cx="43815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注：exp001 原始 16 线程正式结果为 7.572 s，后续比较不再使用该口径。</a:t>
            </a:r>
          </a:p>
        </p:txBody>
      </p:sp>
    </p:spTree>
    <p:extLst>
      <p:ext uri="{BB962C8B-B14F-4D97-AF65-F5344CB8AC3E}">
        <p14:creationId xmlns:p14="http://schemas.microsoft.com/office/powerpoint/2010/main" val="12590995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mark-3">
            <a:extLst xmlns:a="http://schemas.openxmlformats.org/drawingml/2006/main">
              <a:ext uri="{FF2B5EF4-FFF2-40B4-BE49-F238E27FC236}">
                <a16:creationId xmlns:a16="http://schemas.microsoft.com/office/drawing/2014/main" id="{721922A6-FD1E-4C5F-9133-3657A47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5C89D16D-09C3-444E-9CDE-007DC5F8B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总体性能结果</a:t>
            </a:r>
          </a:p>
        </p:txBody>
      </p:sp>
      <p:sp>
        <p:nvSpPr>
          <p:cNvPr id="3" name="subtitle-3">
            <a:extLst xmlns:a="http://schemas.openxmlformats.org/drawingml/2006/main">
              <a:ext uri="{FF2B5EF4-FFF2-40B4-BE49-F238E27FC236}">
                <a16:creationId xmlns:a16="http://schemas.microsoft.com/office/drawing/2014/main" id="{EF2E6848-3D9E-4918-9AF6-19D82ED7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三节点 CPU 流水化版本以 2.186 s 排名第一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E1AF36-3564-4047-940E-58BDE360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3">
            <a:extLst xmlns:a="http://schemas.openxmlformats.org/drawingml/2006/main">
              <a:ext uri="{FF2B5EF4-FFF2-40B4-BE49-F238E27FC236}">
                <a16:creationId xmlns:a16="http://schemas.microsoft.com/office/drawing/2014/main" id="{E2CE958A-3332-4E44-A728-257683D71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F5E4F48-DFAD-454F-8E15-8E0FF9084A4A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7810500" cy="42672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ccc8877851146a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85D0E3-AB4F-415A-9411-ACDA7203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860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A747C3-D145-4561-A669-6942CCB45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527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四用例合计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4F2192-1C3D-4C6D-AC6E-636D2A83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733800"/>
            <a:ext cx="2571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1.728x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7F66FB-FCF2-44A2-8791-3AC93D45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4005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F84CC6-558B-44D1-B4EA-DDC5D539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10150"/>
            <a:ext cx="2762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原实现 1M default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exp008 1427.391x</a:t>
            </a:r>
          </a:p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exp009 156.271x</a:t>
            </a:r>
          </a:p>
        </p:txBody>
      </p:sp>
    </p:spTree>
    <p:extLst>
      <p:ext uri="{BB962C8B-B14F-4D97-AF65-F5344CB8AC3E}">
        <p14:creationId xmlns:p14="http://schemas.microsoft.com/office/powerpoint/2010/main" val="181647680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mark-4">
            <a:extLst xmlns:a="http://schemas.openxmlformats.org/drawingml/2006/main">
              <a:ext uri="{FF2B5EF4-FFF2-40B4-BE49-F238E27FC236}">
                <a16:creationId xmlns:a16="http://schemas.microsoft.com/office/drawing/2014/main" id="{96422D24-87E1-4D38-A298-BD5BD8BB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00C04AC-471C-4AFC-989E-4696BF5C9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每一步优化与实测效果</a:t>
            </a:r>
          </a:p>
        </p:txBody>
      </p:sp>
      <p:sp>
        <p:nvSpPr>
          <p:cNvPr id="3" name="subtitle-4">
            <a:extLst xmlns:a="http://schemas.openxmlformats.org/drawingml/2006/main">
              <a:ext uri="{FF2B5EF4-FFF2-40B4-BE49-F238E27FC236}">
                <a16:creationId xmlns:a16="http://schemas.microsoft.com/office/drawing/2014/main" id="{8B8576E5-0D76-4648-B0A0-C54913A07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四用例对照 exp001；同口径 1M 样本：exp008 1427.391x，exp009 156.271x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74A003-15B1-438B-8FAC-2BC1188D7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4">
            <a:extLst xmlns:a="http://schemas.openxmlformats.org/drawingml/2006/main">
              <a:ext uri="{FF2B5EF4-FFF2-40B4-BE49-F238E27FC236}">
                <a16:creationId xmlns:a16="http://schemas.microsoft.com/office/drawing/2014/main" id="{B062F6F5-63CF-41BF-A69D-BB7FB68C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04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0447CF-1FF1-4B47-B1D0-A498B20169A0}"/>
              </a:ext>
            </a:extLst>
          </p:cNvPr>
          <p:cNvGraphicFramePr/>
          <p:nvPr/>
        </p:nvGraphicFramePr>
        <p:xfrm>
          <a:off xmlns:a="http://schemas.openxmlformats.org/drawingml/2006/main" x="685800" y="1638300"/>
          <a:ext xmlns:a="http://schemas.openxmlformats.org/drawingml/2006/main" cx="10820400" cy="426720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666750"/>
                <a:gridCol w="7391400"/>
                <a:gridCol w="1428750"/>
                <a:gridCol w="1333500"/>
              </a:tblGrid>
              <a:tr h="426720">
                <a:tc>
                  <a:txBody>
                    <a:bodyPr/>
                    <a:lstStyle/>
                    <a:p>
                      <a:r>
                        <a:t>实验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思路与过程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四例合计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相对 exp001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001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打包实数 FFT、稀疏 Mel、tile、SIMD、OpenMP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3.777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1.000x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002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cuFFT D2Z；两个 CUDA context / stream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5.164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0.731x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003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4% CPU 帧与双 GPU 并行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5.207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0.725x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004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三 rank 原生 Slurm；本地读；token + pwrite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2.533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1.491x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005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两节点 CPU 2% + 双 GPU；完整 PCM 读取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5.179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0.729x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006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两节点纯 GPU；本地 PCM 区间读取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4.024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0.939x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007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阶段计时 driver；不改算法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profile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基线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008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并行归一化；单 OMP 区域；直接 float32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2.733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1.382x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426720">
                <a:tc>
                  <a:txBody>
                    <a:bodyPr/>
                    <a:lstStyle/>
                    <a:p>
                      <a:r>
                        <a:t>009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三节点复用 exp008；本地读 + 分布写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2.186 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t>1.728x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3125688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section-mark-5">
            <a:extLst xmlns:a="http://schemas.openxmlformats.org/drawingml/2006/main">
              <a:ext uri="{FF2B5EF4-FFF2-40B4-BE49-F238E27FC236}">
                <a16:creationId xmlns:a16="http://schemas.microsoft.com/office/drawing/2014/main" id="{A21C3F49-4079-4853-8217-0D8190A1D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3F4043EA-FE27-4673-ADAF-1FA8465A9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exp001–009 代码演进关系</a:t>
            </a:r>
          </a:p>
        </p:txBody>
      </p:sp>
      <p:sp>
        <p:nvSpPr>
          <p:cNvPr id="3" name="subtitle-5">
            <a:extLst xmlns:a="http://schemas.openxmlformats.org/drawingml/2006/main">
              <a:ext uri="{FF2B5EF4-FFF2-40B4-BE49-F238E27FC236}">
                <a16:creationId xmlns:a16="http://schemas.microsoft.com/office/drawing/2014/main" id="{9FB3C1D9-CF95-4BDB-A0C9-E40E848DE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蓝色为直接包含或主要演化，灰色为设计复用与对照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0B5FAA-83F4-4A46-B849-B8007FA16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5">
            <a:extLst xmlns:a="http://schemas.openxmlformats.org/drawingml/2006/main">
              <a:ext uri="{FF2B5EF4-FFF2-40B4-BE49-F238E27FC236}">
                <a16:creationId xmlns:a16="http://schemas.microsoft.com/office/drawing/2014/main" id="{3D3BF64F-62CF-461E-A2CD-D78458AB5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EF9CB1-6428-4D2F-8BE8-4E1859CC7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16192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baseline</a:t>
            </a:r>
          </a:p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src/melspec.cpp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053415-17A6-4AD7-9894-D7223EE9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8125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 核心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FFT + Mel + OMP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ECB51A-EB9C-49F0-AAC3-BB5ACF3E1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000125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exp002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双 GPU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cuFFT D2Z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0560B6-B0C0-47A0-BC32-1FDE3509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000125"/>
            <a:ext cx="15240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exp003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CPU+GPU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异构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5E99AA-51B7-44FB-BFC7-93E9D8D74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000125"/>
            <a:ext cx="1476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exp005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多节点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CPU+GPU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82AE0D-15E0-4113-857D-CA764F43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43125"/>
            <a:ext cx="1476375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exp006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两节点纯 GPU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本地读取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AFC516-7961-47BB-AF2B-65B0B68B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exp004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多节点 CPU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本地帧 + pwrite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46A4C3-19B5-4686-B4D9-7D8F93AE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62375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4F7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exp007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阶段 profile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不改算法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54DC86-E602-4D68-9BC7-0ABCD0A8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762375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AE6"/>
          </a:solidFill>
          <a:ln xmlns:a="http://schemas.openxmlformats.org/drawingml/2006/main" w="28575">
            <a:solidFill>
              <a:srgbClr val="12B7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exp008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单节点最终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直出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236E3A-1E84-44B1-AD36-17C29A5C7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095875"/>
            <a:ext cx="17145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FAE6"/>
          </a:solidFill>
          <a:ln xmlns:a="http://schemas.openxmlformats.org/drawingml/2006/main" w="28575">
            <a:solidFill>
              <a:srgbClr val="12B7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exp009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三节点最终</a:t>
            </a:r>
          </a:p>
          <a:p xmlns:a="http://schemas.openxmlformats.org/drawingml/2006/main">
            <a:pPr algn="ctr">
              <a:def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本地读 + 分布写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5D3270-CFFA-4B0F-893F-C1C90ACA6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871BDFD-EC2C-40D8-AC0F-3C19AC16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695575"/>
            <a:ext cx="285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59A7C5-D84F-4AD8-99B2-D41C7427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314450"/>
            <a:ext cx="28575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BE4C72-B1BD-44B6-80AC-4699F633A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314450"/>
            <a:ext cx="4476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20B4B4-ABB1-4EC8-BB77-09A020C28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7051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87AC95-2D27-43B3-8A48-01007AD8E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705100"/>
            <a:ext cx="285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46C9BB-8332-421C-98A5-CFF8B4B5F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190875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D01D92-7034-4925-83E8-9DF9E9A14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99A2DE-51B2-476F-BE9F-F8C2922F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C2FEA2-EDA2-4E68-8256-7480607E8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1628775"/>
            <a:ext cx="285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7B9F17-09FD-464F-A2D8-30542E784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09900"/>
            <a:ext cx="28575" cy="752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D0C74BE-8565-4149-BE6C-D12E030CC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391025"/>
            <a:ext cx="285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CA2BCE-D9F7-467A-AA0F-BA1B1F1D1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619500"/>
            <a:ext cx="1619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28FBFA-AA1B-4CDC-97CE-9871ACB5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19500"/>
            <a:ext cx="19050" cy="142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96BAC11-EAA6-417D-8588-1E6A0B20A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767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86AAF-B141-4BCA-9C01-AFEDEDAF3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3171825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68536C-181D-4BAD-9BE9-8246E839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71825"/>
            <a:ext cx="1905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C9F91EA-55AC-424B-BD1E-27B790899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10200"/>
            <a:ext cx="3905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735D48-2D93-4F18-AE28-80B9FC590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5262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CUDA 移植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DF7DD2-8223-4838-94AA-4174EF4A7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23812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多节点分支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01BBBC6-45F4-4736-94A2-0C0029FD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194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#include 001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F37D17E-1DAB-4367-8978-056F6D7B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57625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profile 数据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EA86ED4-B93A-460D-97CA-0E3E103CB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71850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profile 分支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F7173C-A48A-4213-8DFA-681E6BA1F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4345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#include 008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AEECF3-E9CD-43C4-833A-A6EAB6058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62275"/>
            <a:ext cx="1428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分发设计复用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8CCDD43-85EE-4591-99F1-420BC06FD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885950"/>
            <a:ext cx="1381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两节点 GPU 对照</a:t>
            </a:r>
          </a:p>
        </p:txBody>
      </p:sp>
    </p:spTree>
    <p:extLst>
      <p:ext uri="{BB962C8B-B14F-4D97-AF65-F5344CB8AC3E}">
        <p14:creationId xmlns:p14="http://schemas.microsoft.com/office/powerpoint/2010/main" val="7316861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section-mark-6">
            <a:extLst xmlns:a="http://schemas.openxmlformats.org/drawingml/2006/main">
              <a:ext uri="{FF2B5EF4-FFF2-40B4-BE49-F238E27FC236}">
                <a16:creationId xmlns:a16="http://schemas.microsoft.com/office/drawing/2014/main" id="{A821A306-BCF8-4268-A8CF-D98C6973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82B6499C-E219-486B-983A-939FE901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基线实现的主要问题</a:t>
            </a:r>
          </a:p>
        </p:txBody>
      </p:sp>
      <p:sp>
        <p:nvSpPr>
          <p:cNvPr id="3" name="subtitle-6">
            <a:extLst xmlns:a="http://schemas.openxmlformats.org/drawingml/2006/main">
              <a:ext uri="{FF2B5EF4-FFF2-40B4-BE49-F238E27FC236}">
                <a16:creationId xmlns:a16="http://schemas.microsoft.com/office/drawing/2014/main" id="{7B7B0A04-5B65-4449-8E46-FB4759380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正确但热路径包含重复计算、乘零和大块无效内存流量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1D56D9-D943-48D7-930C-33D346AE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6">
            <a:extLst xmlns:a="http://schemas.openxmlformats.org/drawingml/2006/main">
              <a:ext uri="{FF2B5EF4-FFF2-40B4-BE49-F238E27FC236}">
                <a16:creationId xmlns:a16="http://schemas.microsoft.com/office/drawing/2014/main" id="{D5D64DC7-F4B7-4287-9EEB-155960E6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E7B43A-A393-42B6-8811-1C6D3140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BE7D65-4ADB-491E-98A5-D83C44534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8097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重复准备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32EE69-42A9-4DAF-A5B1-F83098192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80022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每帧重新分配中间数组、计算位反转和每级 twiddle 的 cos / sin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BAF9A5-8AC1-4B8B-AB13-F82B2CD25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5D7140-EC52-468E-9D8E-5D3861C7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B3AFB3-6C02-4509-B29B-7C9D06F89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4797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全长度复数 FFT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245082-F84A-4F00-8DC0-0E6CFBFCE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83845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实数输入仍执行 n_fft 复数 FFT，没有利用共轭对称减半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6284858-E5A5-461D-8B69-D599BD92F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8D6229-C4E5-4EDC-BEE2-86DD3A25E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FA656A-C03A-4618-99E6-4D5470F9B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86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稠密 Mel 投影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9751DE-B954-4F45-B290-1D5AB365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876675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投影遍历所有频率箱并乘零，没有利用三角滤波器的局部非零支撑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93E9CD-BF21-4FA5-BDDF-F48E3E847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52975"/>
            <a:ext cx="1057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AC075D-F64D-4447-B4F2-82A017FB2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24425"/>
            <a:ext cx="457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5E7717B-40B2-486A-AE09-B8A1A769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244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完整功率谱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76B804-A45C-4938-BEBA-093B281DB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914900"/>
            <a:ext cx="723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default double 功率谱约 6.3 GB，且 power[bin][frame] 跨行访问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CFEF6C-0C39-4372-BACF-26937D3BA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同口径 1M default：61.663 s 降至 0.084 s，exp001 加速 731.206x</a:t>
            </a:r>
          </a:p>
        </p:txBody>
      </p:sp>
    </p:spTree>
    <p:extLst>
      <p:ext uri="{BB962C8B-B14F-4D97-AF65-F5344CB8AC3E}">
        <p14:creationId xmlns:p14="http://schemas.microsoft.com/office/powerpoint/2010/main" val="456344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7">
            <a:extLst xmlns:a="http://schemas.openxmlformats.org/drawingml/2006/main">
              <a:ext uri="{FF2B5EF4-FFF2-40B4-BE49-F238E27FC236}">
                <a16:creationId xmlns:a16="http://schemas.microsoft.com/office/drawing/2014/main" id="{E03B9F85-1F30-4F48-AC00-4B9E8EEA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E4D67AAD-F0B8-49D2-9088-12401754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exp001 的计算优化</a:t>
            </a:r>
          </a:p>
        </p:txBody>
      </p:sp>
      <p:sp>
        <p:nvSpPr>
          <p:cNvPr id="3" name="subtitle-7">
            <a:extLst xmlns:a="http://schemas.openxmlformats.org/drawingml/2006/main">
              <a:ext uri="{FF2B5EF4-FFF2-40B4-BE49-F238E27FC236}">
                <a16:creationId xmlns:a16="http://schemas.microsoft.com/office/drawing/2014/main" id="{B483B2D1-93FE-4BA6-A0D0-368930886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先消除算法中的重复计算与乘零工作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FBD4E-F553-494C-8A65-5DBAB8F21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7">
            <a:extLst xmlns:a="http://schemas.openxmlformats.org/drawingml/2006/main">
              <a:ext uri="{FF2B5EF4-FFF2-40B4-BE49-F238E27FC236}">
                <a16:creationId xmlns:a16="http://schemas.microsoft.com/office/drawing/2014/main" id="{BA219C7D-880C-427A-B0B8-980B6DE11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2179A4-1966-4385-AF0B-DCBD0E239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F21F511-E770-4024-83B2-940BB9994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95262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半长度实数 FFT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6E1D75-F2A2-4D10-AE81-AB7F2EFF2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7172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将核心复数 FFT 从 n_fft 降到 n_fft/2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1FB6BC-6EF9-40A4-8F47-EA8F644A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52750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0A121-C1E6-4849-90CB-FD50FE1A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588F0C-9F15-4425-A7DA-B2E9AD79A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6230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稀疏 Mel 投影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05BD0B-BDF7-4A38-9EE5-EF33D6CC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581400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只遍历三角滤波器非零区间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B4902D-85A1-460B-B817-631452B6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62425"/>
            <a:ext cx="685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124E5C-31AC-45E4-A9A6-B5934970A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4FEE66-5255-4554-9B97-2FF56F047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71975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分块与 OpenMP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9B4CEEB-E8B3-4846-A22B-7338532C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91075"/>
            <a:ext cx="619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复用一个 FFT plan 和每线程工作区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76E1B7-D505-4890-9419-AD19D6F9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2E90FA"/>
                </a:solidFill>
                <a:latin typeface="Microsoft YaHei"/>
                <a:ea typeface="Microsoft YaHei"/>
                <a:cs typeface="Microsoft YaHei"/>
              </a:rPr>
              <a:t>3.777 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F72C6B-067C-4CC4-9266-13BAA8DCC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048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64 线程四用例合计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A022F-01CE-4C97-A16C-4472491A0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7.572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303642-8B7B-4C62-9926-BFAD874C8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6672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原 16 线程正式结果</a:t>
            </a:r>
          </a:p>
        </p:txBody>
      </p:sp>
    </p:spTree>
    <p:extLst>
      <p:ext uri="{BB962C8B-B14F-4D97-AF65-F5344CB8AC3E}">
        <p14:creationId xmlns:p14="http://schemas.microsoft.com/office/powerpoint/2010/main" val="213573750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mark-8">
            <a:extLst xmlns:a="http://schemas.openxmlformats.org/drawingml/2006/main">
              <a:ext uri="{FF2B5EF4-FFF2-40B4-BE49-F238E27FC236}">
                <a16:creationId xmlns:a16="http://schemas.microsoft.com/office/drawing/2014/main" id="{262CED0F-6386-475E-8197-0C8413AF7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4D2321E3-42DC-485F-BDAF-8A209B645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路线的收益与限制</a:t>
            </a:r>
          </a:p>
        </p:txBody>
      </p:sp>
      <p:sp>
        <p:nvSpPr>
          <p:cNvPr id="3" name="subtitle-8">
            <a:extLst xmlns:a="http://schemas.openxmlformats.org/drawingml/2006/main">
              <a:ext uri="{FF2B5EF4-FFF2-40B4-BE49-F238E27FC236}">
                <a16:creationId xmlns:a16="http://schemas.microsoft.com/office/drawing/2014/main" id="{65464C07-073B-4397-AA02-60BBC4D33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GPU 计算很快，但端到端时间被数据搬运和同步拉长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36B4A-3DA2-4F80-AF48-06B69C642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8">
            <a:extLst xmlns:a="http://schemas.openxmlformats.org/drawingml/2006/main">
              <a:ext uri="{FF2B5EF4-FFF2-40B4-BE49-F238E27FC236}">
                <a16:creationId xmlns:a16="http://schemas.microsoft.com/office/drawing/2014/main" id="{AEFECC17-B0C8-4BF6-8508-195B478F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08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C568798-C211-426B-B111-FC999E09C4D6}"/>
              </a:ext>
            </a:extLst>
          </p:cNvPr>
          <p:cNvGraphicFramePr/>
          <p:nvPr/>
        </p:nvGraphicFramePr>
        <p:xfrm>
          <a:off xmlns:a="http://schemas.openxmlformats.org/drawingml/2006/main" x="685800" y="1828800"/>
          <a:ext xmlns:a="http://schemas.openxmlformats.org/drawingml/2006/main" cx="6667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0312b3a69d7400d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3A2BE9-1DB4-4A44-915F-AC61729F9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962150"/>
            <a:ext cx="342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计算只占一小段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38FE1-D8C1-4596-908A-BD6CDC376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571750"/>
            <a:ext cx="34480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exp006 的 GPU 计算约 0.16 到 0.23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H2D、D2H、cuFFT plan 与 stream 同步仍需支付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CPU 分担帧数没有超过纯 GPU，资源竞争抵消收益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输出文件接近 188 MiB，成为共同下限</a:t>
            </a:r>
          </a:p>
        </p:txBody>
      </p:sp>
    </p:spTree>
    <p:extLst>
      <p:ext uri="{BB962C8B-B14F-4D97-AF65-F5344CB8AC3E}">
        <p14:creationId xmlns:p14="http://schemas.microsoft.com/office/powerpoint/2010/main" val="85208644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mark-9">
            <a:extLst xmlns:a="http://schemas.openxmlformats.org/drawingml/2006/main">
              <a:ext uri="{FF2B5EF4-FFF2-40B4-BE49-F238E27FC236}">
                <a16:creationId xmlns:a16="http://schemas.microsoft.com/office/drawing/2014/main" id="{F342E130-5CB3-4F6F-8395-E541B921E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937FFD3-A9D7-4DCF-9F81-C869B1AE1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效率损失来自哪里</a:t>
            </a:r>
          </a:p>
        </p:txBody>
      </p:sp>
      <p:sp>
        <p:nvSpPr>
          <p:cNvPr id="3" name="subtitle-9">
            <a:extLst xmlns:a="http://schemas.openxmlformats.org/drawingml/2006/main">
              <a:ext uri="{FF2B5EF4-FFF2-40B4-BE49-F238E27FC236}">
                <a16:creationId xmlns:a16="http://schemas.microsoft.com/office/drawing/2014/main" id="{83E738BF-891B-4CDB-A02E-D9987DE5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输入 I/O 不是主因，瓶颈在设备搬运、同步和最终输出写入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C583F2D-F677-41F6-8A8E-DF121BD4F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9">
            <a:extLst xmlns:a="http://schemas.openxmlformats.org/drawingml/2006/main">
              <a:ext uri="{FF2B5EF4-FFF2-40B4-BE49-F238E27FC236}">
                <a16:creationId xmlns:a16="http://schemas.microsoft.com/office/drawing/2014/main" id="{076F99EA-E6B5-415F-8AEF-A645A4C9E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09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9478BDD3-839F-4509-84C7-C7C8589C293E}"/>
              </a:ext>
            </a:extLst>
          </p:cNvPr>
          <p:cNvGraphicFramePr/>
          <p:nvPr/>
        </p:nvGraphicFramePr>
        <p:xfrm>
          <a:off xmlns:a="http://schemas.openxmlformats.org/drawingml/2006/main" x="685800" y="1809750"/>
          <a:ext xmlns:a="http://schemas.openxmlformats.org/drawingml/2006/main" cx="6572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436c10a579c410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2E5CCF3-0DA1-492A-8ECE-90B3F907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828800"/>
            <a:ext cx="352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输入不是主因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956894-4C09-42BB-95D0-5E4CB2B2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381250"/>
            <a:ext cx="3619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两侧 rank 的 PCM 读取都只有约 0.093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每 rank 约 94 次 cudaStreamSynchronize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D2H 写入 pageable buffer，增加中间 staging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共享输出写入约 0.28 到 0.49 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default 完整输出约 188 MiB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25E78-3FAC-4962-A9B6-21EC18BD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314950"/>
            <a:ext cx="3714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  <a:p xmlns:a="http://schemas.openxmlformats.org/drawingml/2006/main">
            <a: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GPU 算术不是主要瓶颈</a:t>
            </a:r>
          </a:p>
          <a:p xmlns:a="http://schemas.openxmlformats.org/drawingml/2006/main">
            <a:pPr algn="l">
              <a:def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端到端损失在搬运、同步与输出 I/O</a:t>
            </a:r>
          </a:p>
        </p:txBody>
      </p:sp>
    </p:spTree>
    <p:extLst>
      <p:ext uri="{BB962C8B-B14F-4D97-AF65-F5344CB8AC3E}">
        <p14:creationId xmlns:p14="http://schemas.microsoft.com/office/powerpoint/2010/main" val="154770077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mark-10">
            <a:extLst xmlns:a="http://schemas.openxmlformats.org/drawingml/2006/main">
              <a:ext uri="{FF2B5EF4-FFF2-40B4-BE49-F238E27FC236}">
                <a16:creationId xmlns:a16="http://schemas.microsoft.com/office/drawing/2014/main" id="{70849C8B-035D-4681-8D3C-64EC64C0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19096E09-E83A-4566-9CBB-388D6E9C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单节点阶段 profiling</a:t>
            </a:r>
          </a:p>
        </p:txBody>
      </p:sp>
      <p:sp>
        <p:nvSpPr>
          <p:cNvPr id="3" name="subtitle-10">
            <a:extLst xmlns:a="http://schemas.openxmlformats.org/drawingml/2006/main">
              <a:ext uri="{FF2B5EF4-FFF2-40B4-BE49-F238E27FC236}">
                <a16:creationId xmlns:a16="http://schemas.microsoft.com/office/drawing/2014/main" id="{DD5CD574-CFD2-40EC-80AB-2E1CF5BEA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default 用例中，计算约占一半，读取和输出转换仍占明显比例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5A379C-7585-432D-9BE4-EC2FF1B09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0">
            <a:extLst xmlns:a="http://schemas.openxmlformats.org/drawingml/2006/main">
              <a:ext uri="{FF2B5EF4-FFF2-40B4-BE49-F238E27FC236}">
                <a16:creationId xmlns:a16="http://schemas.microsoft.com/office/drawing/2014/main" id="{175762DC-0BA2-49F3-9629-3B862EA1C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10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D7418F5D-EC72-4242-BB06-9FE2C29352EB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52475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ef8f7783b7431f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ED2486-2CAD-4DB1-8540-08617266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400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D92D20"/>
                </a:solidFill>
                <a:latin typeface="Microsoft YaHei"/>
                <a:ea typeface="Microsoft YaHei"/>
                <a:cs typeface="Microsoft YaHei"/>
              </a:rPr>
              <a:t>779 MB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7FB621-6297-4D44-95C6-BA5C5F744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067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exp001 峰值内存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991B2D-5A1A-49C2-881A-35CFF181E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0005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写入 /dev/null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EA50CF-F14C-445E-88DF-D9CF46D55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324350"/>
            <a:ext cx="238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0.90 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F69F9C-A0BF-4322-B786-071202D7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28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完整写盘 0.97 s</a:t>
            </a:r>
          </a:p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差异约 70 到 90 ms</a:t>
            </a:r>
          </a:p>
        </p:txBody>
      </p:sp>
    </p:spTree>
    <p:extLst>
      <p:ext uri="{BB962C8B-B14F-4D97-AF65-F5344CB8AC3E}">
        <p14:creationId xmlns:p14="http://schemas.microsoft.com/office/powerpoint/2010/main" val="175896116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ection-mark-11">
            <a:extLst xmlns:a="http://schemas.openxmlformats.org/drawingml/2006/main">
              <a:ext uri="{FF2B5EF4-FFF2-40B4-BE49-F238E27FC236}">
                <a16:creationId xmlns:a16="http://schemas.microsoft.com/office/drawing/2014/main" id="{87970DD2-5CD8-42DE-A52F-4E1E39A0D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E1FC2AC9-4AED-4246-B910-5DC2A466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exp008 单节点最终方案</a:t>
            </a:r>
          </a:p>
        </p:txBody>
      </p:sp>
      <p:sp>
        <p:nvSpPr>
          <p:cNvPr id="3" name="subtitle-11">
            <a:extLst xmlns:a="http://schemas.openxmlformats.org/drawingml/2006/main">
              <a:ext uri="{FF2B5EF4-FFF2-40B4-BE49-F238E27FC236}">
                <a16:creationId xmlns:a16="http://schemas.microsoft.com/office/drawing/2014/main" id="{C4B8BE51-A62F-4DFF-9624-0D167702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并行归一化、单 OpenMP 区域和直接 float32；同口径 1M 原实现加速 1427.391x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1B1CB5-3FDD-41D0-8F70-291D77BB0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1">
            <a:extLst xmlns:a="http://schemas.openxmlformats.org/drawingml/2006/main">
              <a:ext uri="{FF2B5EF4-FFF2-40B4-BE49-F238E27FC236}">
                <a16:creationId xmlns:a16="http://schemas.microsoft.com/office/drawing/2014/main" id="{302D4571-AA9E-4B1A-8939-60A07206D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42BCCC-AE93-46A2-A2CC-13B475C15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读取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59116-86FC-4A49-A45A-5B4531619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归一化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64 threads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55F42D-55F6-4EED-B978-28B1145C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计算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direct float32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4CAD9C-B0FF-4EC8-9DAD-482A83FE5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809750"/>
            <a:ext cx="18097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</a:t>
            </a:r>
          </a:p>
          <a:p xmlns:a="http://schemas.openxmlformats.org/drawingml/2006/main">
            <a:pPr algn="ctr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single pass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70CD3-D381-4A78-887C-6C9CA75EF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301632-52D8-4140-AE2F-38F199542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83CBFF-ED32-419D-9C1B-B9186A2E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24100"/>
            <a:ext cx="857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59ED70-14A5-49D9-8D03-7594DE803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3E7C65-7921-4543-8CE0-3467E64CD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496FEA-C3FD-4386-96F9-3B0674FF9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38500"/>
            <a:ext cx="2476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1.382x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9222C3-40B3-422B-97EA-042DB78D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9052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 exp001 T=64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8B95B8-FF96-4792-957C-3F156EF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38500"/>
            <a:ext cx="2095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394 MB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B59C9-21A1-41D0-974A-66B16EAE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05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峰值 RSS</a:t>
            </a:r>
          </a:p>
        </p:txBody>
      </p:sp>
      <p:graphicFrame>
        <p:nvGraphicFrame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6364A2-B3E8-42ED-9250-248714574696}"/>
              </a:ext>
            </a:extLst>
          </p:cNvPr>
          <p:cNvGraphicFramePr/>
          <p:nvPr/>
        </p:nvGraphicFramePr>
        <p:xfrm>
          <a:off xmlns:a="http://schemas.openxmlformats.org/drawingml/2006/main" x="685800" y="4362450"/>
          <a:ext xmlns:a="http://schemas.openxmlformats.org/drawingml/2006/main" cx="9810750" cy="1428750"/>
        </p:xfrm>
        <a:graphic xmlns:a="http://schemas.openxmlformats.org/drawingml/2006/main">
          <a:graphicData uri="http://schemas.openxmlformats.org/drawingml/2006/table">
            <a:tbl>
              <a:tblPr firstRow="1" firstCol="0" lastCol="0" bandRow="1" bandCol="0"/>
              <a:tblGrid>
                <a:gridCol w="4150702"/>
                <a:gridCol w="1886683"/>
                <a:gridCol w="1886683"/>
                <a:gridCol w="1886683"/>
              </a:tblGrid>
              <a:tr h="285750">
                <a:tc>
                  <a:txBody>
                    <a:bodyPr/>
                    <a:lstStyle/>
                    <a:p>
                      <a:r>
                        <a:t>用例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exp008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结果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T w="9525">
                      <a:solidFill>
                        <a:srgbClr val="D7DEE8"/>
                      </a:solidFill>
                      <a:prstDash val="solid"/>
                    </a:lnT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default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0.931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0.629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small_mels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0.569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0.470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large_fft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1.155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0.827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r>
                        <a:t>narrow_band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7DEE8"/>
                      </a:solidFill>
                      <a:prstDash val="solid"/>
                    </a:lnL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1.122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0.807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t>PASS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7DEE8"/>
                      </a:solidFill>
                      <a:prstDash val="solid"/>
                    </a:lnR>
                    <a:lnB w="9525">
                      <a:solidFill>
                        <a:srgbClr val="D7DEE8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788403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ection-mark-12">
            <a:extLst xmlns:a="http://schemas.openxmlformats.org/drawingml/2006/main">
              <a:ext uri="{FF2B5EF4-FFF2-40B4-BE49-F238E27FC236}">
                <a16:creationId xmlns:a16="http://schemas.microsoft.com/office/drawing/2014/main" id="{63C2F5A4-1CFA-4019-8693-522F8F674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C610DE3D-464E-4C48-8122-D40FC948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exp009 三节点最终方案</a:t>
            </a:r>
          </a:p>
        </p:txBody>
      </p:sp>
      <p:sp>
        <p:nvSpPr>
          <p:cNvPr id="3" name="subtitle-12">
            <a:extLst xmlns:a="http://schemas.openxmlformats.org/drawingml/2006/main">
              <a:ext uri="{FF2B5EF4-FFF2-40B4-BE49-F238E27FC236}">
                <a16:creationId xmlns:a16="http://schemas.microsoft.com/office/drawing/2014/main" id="{8665919F-1574-4B92-BE46-DE9B44992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每个节点处理本地帧区间；同口径 1M 原实现加速 156.271x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C456E-9224-4690-AA85-3E5031FA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2">
            <a:extLst xmlns:a="http://schemas.openxmlformats.org/drawingml/2006/main">
              <a:ext uri="{FF2B5EF4-FFF2-40B4-BE49-F238E27FC236}">
                <a16:creationId xmlns:a16="http://schemas.microsoft.com/office/drawing/2014/main" id="{A4E3C674-ED21-4C24-A1F3-DB4CAB5C9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71BF7E-291D-4D15-892D-927C58E9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0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6E997-B2B8-4C4E-A4EE-AAE5E0ABB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1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097A4E-6045-407E-B7BB-38E66881E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66900"/>
            <a:ext cx="26289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hepnode3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rank 2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本地 PCM 区间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单 OpenMP 帧区域</a:t>
            </a:r>
          </a:p>
          <a:p xmlns:a="http://schemas.openxmlformats.org/drawingml/2006/main">
            <a:pPr algn="ctr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float32 pwrite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9AE11C-5A71-4AB8-89B6-3CA5B149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0DFA89-4A98-4CAE-AFF1-6A8AB5895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34BB8C-AD33-4A77-B7CE-268845BC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486150"/>
            <a:ext cx="190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8A2B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1569B9-4CC2-4887-8806-BFDCF2BFC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95750"/>
            <a:ext cx="4191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 w="9525">
            <a:solidFill>
              <a:srgbClr val="0B122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共享输出文件  /  64-bit token 协调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60E16C-B244-4D19-8F22-081BFB265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914900"/>
            <a:ext cx="266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39922D-3ACB-4BA4-978F-FB49A5FB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581650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四用例合计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4DCB71-68B1-4C41-B75A-79D1140A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9149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05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1.159x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631D03-7598-4EAF-9BAF-5C1180A33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5816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相对三节点 exp004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FBD59-F5F6-471D-9FA6-2A5F77E87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与 exp008 数据路径相同，优势来自三节点并行读取、计算与写出</a:t>
            </a:r>
          </a:p>
        </p:txBody>
      </p:sp>
    </p:spTree>
    <p:extLst>
      <p:ext uri="{BB962C8B-B14F-4D97-AF65-F5344CB8AC3E}">
        <p14:creationId xmlns:p14="http://schemas.microsoft.com/office/powerpoint/2010/main" val="273349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mark-13">
            <a:extLst xmlns:a="http://schemas.openxmlformats.org/drawingml/2006/main">
              <a:ext uri="{FF2B5EF4-FFF2-40B4-BE49-F238E27FC236}">
                <a16:creationId xmlns:a16="http://schemas.microsoft.com/office/drawing/2014/main" id="{BB47C4DB-22F6-4CE5-873B-DE293F1E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DC442CAC-0E52-431C-8E5E-D766DBBFD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当前瓶颈已经从计算转向输出</a:t>
            </a:r>
          </a:p>
        </p:txBody>
      </p:sp>
      <p:sp>
        <p:nvSpPr>
          <p:cNvPr id="3" name="subtitle-13">
            <a:extLst xmlns:a="http://schemas.openxmlformats.org/drawingml/2006/main">
              <a:ext uri="{FF2B5EF4-FFF2-40B4-BE49-F238E27FC236}">
                <a16:creationId xmlns:a16="http://schemas.microsoft.com/office/drawing/2014/main" id="{FB0E5513-4933-4AA5-9D30-EDC7A2480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exp009 的 default profile 显示，分布式写入约占总时间的一半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B2B462-09A7-4B0C-8309-F7C395E5C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3">
            <a:extLst xmlns:a="http://schemas.openxmlformats.org/drawingml/2006/main">
              <a:ext uri="{FF2B5EF4-FFF2-40B4-BE49-F238E27FC236}">
                <a16:creationId xmlns:a16="http://schemas.microsoft.com/office/drawing/2014/main" id="{23E37D80-2FD2-4A59-A5E1-5BC222D71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13</a:t>
            </a:r>
          </a:p>
        </p:txBody>
      </p:sp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679431F4-7837-45AD-97BD-F0C8F8A2B917}"/>
              </a:ext>
            </a:extLst>
          </p:cNvPr>
          <p:cNvGraphicFramePr/>
          <p:nvPr/>
        </p:nvGraphicFramePr>
        <p:xfrm>
          <a:off xmlns:a="http://schemas.openxmlformats.org/drawingml/2006/main" x="685800" y="1885950"/>
          <a:ext xmlns:a="http://schemas.openxmlformats.org/drawingml/2006/main" cx="7429500" cy="3429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1301dc33ee04b70"/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C766DA-EF44-4AAA-BCB7-BB4374D4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343150"/>
            <a:ext cx="2095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57%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92D050-474A-4ED6-9AC2-1854AD21D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257550"/>
            <a:ext cx="247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default profile 中，</a:t>
            </a:r>
          </a:p>
          <a:p xmlns:a="http://schemas.openxmlformats.org/drawingml/2006/main">
            <a:pPr algn="l">
              <a:def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写入占单 rank 总耗时约 57%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CD746-1869-4D7A-BE58-7C5818AF5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29100"/>
            <a:ext cx="2476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继续增加计算资源的边际收益有限。下一轮应先验证异步写、输出布局或 mmap 的成本。</a:t>
            </a:r>
          </a:p>
        </p:txBody>
      </p:sp>
    </p:spTree>
    <p:extLst>
      <p:ext uri="{BB962C8B-B14F-4D97-AF65-F5344CB8AC3E}">
        <p14:creationId xmlns:p14="http://schemas.microsoft.com/office/powerpoint/2010/main" val="7778829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mark-14">
            <a:extLst xmlns:a="http://schemas.openxmlformats.org/drawingml/2006/main">
              <a:ext uri="{FF2B5EF4-FFF2-40B4-BE49-F238E27FC236}">
                <a16:creationId xmlns:a16="http://schemas.microsoft.com/office/drawing/2014/main" id="{E7C8A2C3-9F92-48CB-A089-E1EDCC53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B59A3C21-A8B2-42A2-8461-9E2C3EB6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参考资料与 AI 工具</a:t>
            </a:r>
          </a:p>
        </p:txBody>
      </p:sp>
      <p:sp>
        <p:nvSpPr>
          <p:cNvPr id="3" name="subtitle-14">
            <a:extLst xmlns:a="http://schemas.openxmlformats.org/drawingml/2006/main">
              <a:ext uri="{FF2B5EF4-FFF2-40B4-BE49-F238E27FC236}">
                <a16:creationId xmlns:a16="http://schemas.microsoft.com/office/drawing/2014/main" id="{E77C5C76-F8BF-4517-AD5B-FE9AB6B38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实现依据、外部接口文档和 AI 使用边界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4EA6AA-7368-4F3C-AAEA-45BC5A22E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4">
            <a:extLst xmlns:a="http://schemas.openxmlformats.org/drawingml/2006/main">
              <a:ext uri="{FF2B5EF4-FFF2-40B4-BE49-F238E27FC236}">
                <a16:creationId xmlns:a16="http://schemas.microsoft.com/office/drawing/2014/main" id="{C1834AD4-464A-4D74-A0E2-351D97E7C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A98A3A-3B8A-4D32-A887-0980A9D42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项目内资料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D7ECB-3F90-408C-BE4D-E4ABDE299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2410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题目 README、原始 C++ 与 Python 实现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公开头文件、validate.py 与四份 expected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Slurm 原始日志和 nvidia-smi 输出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FB66B2-288C-40A9-A497-A300FF97B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859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外部与 AI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7F2432-D249-400E-B9FD-FC46192D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24100"/>
            <a:ext cx="5143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CUDA Runtime、cuFFT、OpenMP、GCC、Slurm API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OpenAI Codex（GPT-5）：代码阅读、方案草稿和实验编排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所有正式性能与正确性数据均来自真实 Slurm 作业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502754-F597-4315-9DDF-F13D6C95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64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F52655-DEAE-43CF-8986-50AE4A199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09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AI 辅助实现经过编译、官方用例、日志复核和口径检查。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88C09D-F207-4176-B920-5C0156F93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4835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详细来源：docs/references-and-ai.md</a:t>
            </a:r>
          </a:p>
        </p:txBody>
      </p:sp>
    </p:spTree>
    <p:extLst>
      <p:ext uri="{BB962C8B-B14F-4D97-AF65-F5344CB8AC3E}">
        <p14:creationId xmlns:p14="http://schemas.microsoft.com/office/powerpoint/2010/main" val="33831077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section-mark-15">
            <a:extLst xmlns:a="http://schemas.openxmlformats.org/drawingml/2006/main">
              <a:ext uri="{FF2B5EF4-FFF2-40B4-BE49-F238E27FC236}">
                <a16:creationId xmlns:a16="http://schemas.microsoft.com/office/drawing/2014/main" id="{DD7C31A0-1232-4F7D-A666-866AA7A9B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AEF6C17A-0397-4F16-BB7B-94E91592A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几个值得记住的 bug</a:t>
            </a:r>
          </a:p>
        </p:txBody>
      </p:sp>
      <p:sp>
        <p:nvSpPr>
          <p:cNvPr id="3" name="subtitle-15">
            <a:extLst xmlns:a="http://schemas.openxmlformats.org/drawingml/2006/main">
              <a:ext uri="{FF2B5EF4-FFF2-40B4-BE49-F238E27FC236}">
                <a16:creationId xmlns:a16="http://schemas.microsoft.com/office/drawing/2014/main" id="{75D2182E-D8DE-41E4-9DD9-7992805A3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这些问题改变了实现细节，也解释了为什么 profile 必须配合真实运行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A86CC8-2238-4F82-9437-F96E4077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5">
            <a:extLst xmlns:a="http://schemas.openxmlformats.org/drawingml/2006/main">
              <a:ext uri="{FF2B5EF4-FFF2-40B4-BE49-F238E27FC236}">
                <a16:creationId xmlns:a16="http://schemas.microsoft.com/office/drawing/2014/main" id="{4D033FC7-A346-49B5-94B1-013A4BC03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87FF42-92E5-4328-9CBC-BBB51338E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8ED481-B1FE-4147-A159-C03B8AE25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907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跨节点临时输入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21AE6-49BB-46EB-BC5B-8DF72D40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78117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benchmark 把 1M PCM 放在 batch 节点 /tmp，其他 rank 不可见，作业退出 143。改为共享目录输入。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C3B3C-2ECA-4065-942E-48F9CF9EA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885EBC-8435-477D-A97F-CB3C5F82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6702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98C9C8-4DD4-46D2-9FAE-2B2E8ADAB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6702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ready token 竞态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4C34815-2E1D-4E1D-A45C-BF723159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85750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旧 ready 文件可能让 rank 抢跑。最终使用每轮 64-bit token，确认当前轮状态后再 pwrite。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A8B791-C3B9-4D50-BCF2-4B586E846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FCBFAD-CFE3-4FEA-8776-38FC3E8E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1B7A48-B7BD-4B3E-AEDD-92D948753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433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NVCC 链接参数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49DED9-431D-49D6-912E-B5C516D29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933825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NVCC 把 -Wl,-rpath 当作未知选项。改为通过 LD_LIBRARY_PATH 定位 CUDA 库。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CC3C09-2296-4771-90CC-3227D90B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29175"/>
            <a:ext cx="10287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16C6A-F0C6-45D7-A560-6644C1F1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19675"/>
            <a:ext cx="47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8D09138-4CDB-4768-8F67-CCA1608AD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019675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perf 权限限制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73EC6E-30B4-4164-A7F9-56FED268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666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perf_event_paranoid=4 禁止硬件计数器。改用阶段计时 driver，保留有效阶段 profile 数据。</a:t>
            </a:r>
          </a:p>
        </p:txBody>
      </p:sp>
    </p:spTree>
    <p:extLst>
      <p:ext uri="{BB962C8B-B14F-4D97-AF65-F5344CB8AC3E}">
        <p14:creationId xmlns:p14="http://schemas.microsoft.com/office/powerpoint/2010/main" val="46380166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41DFB8-34C1-43B0-9269-F21A368B3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905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9011E2-EB0B-4A02-9C9B-00306C00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66800"/>
            <a:ext cx="93345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两个最终成果，覆盖单节点与三节点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82BD29-C5F3-49D5-991E-3C9F92917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76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4CAFF"/>
                </a:solidFill>
                <a:latin typeface="Microsoft YaHei"/>
                <a:ea typeface="Microsoft YaHei"/>
                <a:cs typeface="Microsoft YaHei"/>
              </a:rPr>
              <a:t>单节点最终方案  /  exp008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8A4C34-D24A-4F22-B3CC-2CC037B93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2.733 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F62065-CE2B-40FD-A0A7-186A0EBAB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exp001  1.382x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5FD537-A335-4B34-8552-F0286D55C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33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原实现 1M  1427.391x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02F2A2-36B0-45C0-A679-B46E3712C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DBA74"/>
                </a:solidFill>
                <a:latin typeface="Microsoft YaHei"/>
                <a:ea typeface="Microsoft YaHei"/>
                <a:cs typeface="Microsoft YaHei"/>
              </a:rPr>
              <a:t>三节点最终方案  /  exp009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40825D-DA9E-458A-AA3F-AF70DB570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552700"/>
            <a:ext cx="2857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2.186 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34AC9-6384-484C-AFE3-76E430A62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52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相对 exp001  1.728x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68C83C-9B2D-4D59-A4E8-244F675B5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33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原实现 1M  156.271x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A1A7AC-B2CE-496B-8B48-E54DDBAF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76450"/>
            <a:ext cx="952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40A8C5-9660-469C-82B1-0416F9B0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40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161928E-0E07-45B1-AF64-1959118D4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0101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2B76A"/>
                </a:solidFill>
                <a:latin typeface="Microsoft YaHei"/>
                <a:ea typeface="Microsoft YaHei"/>
                <a:cs typeface="Microsoft YaHei"/>
              </a:rPr>
              <a:t>两个方案均 4/4 PASS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46535B-79A9-4156-B602-A1566738B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292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D0D5DD"/>
                </a:solidFill>
                <a:latin typeface="Microsoft YaHei"/>
                <a:ea typeface="Microsoft YaHei"/>
                <a:cs typeface="Microsoft YaHei"/>
              </a:rPr>
              <a:t>优化阶段已停止。最终单节点与三节点成果、原始日志和复现脚本均已归档。</a:t>
            </a:r>
          </a:p>
        </p:txBody>
      </p:sp>
    </p:spTree>
    <p:extLst>
      <p:ext uri="{BB962C8B-B14F-4D97-AF65-F5344CB8AC3E}">
        <p14:creationId xmlns:p14="http://schemas.microsoft.com/office/powerpoint/2010/main" val="38835460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5F7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mark-17">
            <a:extLst xmlns:a="http://schemas.openxmlformats.org/drawingml/2006/main">
              <a:ext uri="{FF2B5EF4-FFF2-40B4-BE49-F238E27FC236}">
                <a16:creationId xmlns:a16="http://schemas.microsoft.com/office/drawing/2014/main" id="{75B06CAE-FE9A-4C36-8746-5388BAA9F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MELSPEC / PERFORMANCE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37F7A928-0032-43CF-8BF5-F0A08EC45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Q&amp;A：重点追问</a:t>
            </a:r>
          </a:p>
        </p:txBody>
      </p:sp>
      <p:sp>
        <p:nvSpPr>
          <p:cNvPr id="3" name="subtitle-17">
            <a:extLst xmlns:a="http://schemas.openxmlformats.org/drawingml/2006/main">
              <a:ext uri="{FF2B5EF4-FFF2-40B4-BE49-F238E27FC236}">
                <a16:creationId xmlns:a16="http://schemas.microsoft.com/office/drawing/2014/main" id="{5062B5E7-4B1B-435C-9E03-B1A0D8CF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81100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先确认问题口径，再给结论、数字和日志位置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53EB0-AA79-487F-95EE-78E794CBF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E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footer-17">
            <a:extLst xmlns:a="http://schemas.openxmlformats.org/drawingml/2006/main">
              <a:ext uri="{FF2B5EF4-FFF2-40B4-BE49-F238E27FC236}">
                <a16:creationId xmlns:a16="http://schemas.microsoft.com/office/drawing/2014/main" id="{9081C669-5611-4793-B3B3-D77B07A5C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98A2B3"/>
                </a:solidFill>
                <a:latin typeface="Microsoft YaHei"/>
                <a:ea typeface="Microsoft YaHei"/>
                <a:cs typeface="Microsoft YaHei"/>
              </a:rPr>
              <a:t>Melspec 优化复盘  |  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26AE03-9F3C-4304-89DB-2FBC731F5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600" b="1">
                <a:solidFill>
                  <a:srgbClr val="175CD3"/>
                </a:solidFill>
                <a:latin typeface="Microsoft YaHei"/>
                <a:ea typeface="Microsoft YaHei"/>
                <a:cs typeface="Microsoft YaHei"/>
              </a:rPr>
              <a:t>Q&amp;A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5B0060-C8F0-462F-B832-4CE9121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24250"/>
            <a:ext cx="3714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667085"/>
                </a:solidFill>
                <a:latin typeface="Microsoft YaHei"/>
                <a:ea typeface="Microsoft YaHei"/>
                <a:cs typeface="Microsoft YaHei"/>
              </a:rPr>
              <a:t>逐页讲稿与 15 组 Q&amp;A 速查见 docs/presentation-script.md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8D3A35-2A4B-491C-850D-2ECA34F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478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基线为什么慢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28CBAD-FFFE-4C57-A87B-752AC8E09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84785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重复准备、全长度 FFT、稠密 Mel、6.3 GB 功率谱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F3267C-9BC6-47F7-A703-007B01B8D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4797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CPU 为什么赢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62B182-04C8-4F22-93BE-31804B276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4797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GPU 优势被 H2D、D2H、同步和完整文件 I/O 抵消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5D025E-07BA-4B91-AE42-DB6C0E829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481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数字怎么读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7716F2-83CD-4F59-8253-AA8C02626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848100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1.728x 用完整四例；1427.391x 与 156.271x 用 1M 前缀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F11B1C-98D1-4F16-BCAA-F584B6622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848225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79009"/>
                </a:solidFill>
                <a:latin typeface="Microsoft YaHei"/>
                <a:ea typeface="Microsoft YaHei"/>
                <a:cs typeface="Microsoft YaHei"/>
              </a:rPr>
              <a:t>如何复现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788A4-16FC-45AC-9656-09072D636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48225"/>
            <a:ext cx="4191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def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defPPr>
            <a:lvl1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1pPr>
            <a:lvl2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2pPr>
            <a:lvl3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3pPr>
            <a:lvl4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4pPr>
            <a:lvl5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5pPr>
            <a:lvl6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6pPr>
            <a:lvl7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7pPr>
            <a:lvl8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8pPr>
            <a:lvl9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142033"/>
                </a:solidFill>
                <a:latin typeface="Microsoft YaHei"/>
                <a:ea typeface="Microsoft YaHei"/>
                <a:cs typeface="Microsoft YaHei"/>
              </a:rPr>
              <a:t>默认 make 构建 exp008；make final-three-node 构建 exp009</a:t>
            </a:r>
          </a:p>
        </p:txBody>
      </p:sp>
    </p:spTree>
    <p:extLst>
      <p:ext uri="{BB962C8B-B14F-4D97-AF65-F5344CB8AC3E}">
        <p14:creationId xmlns:p14="http://schemas.microsoft.com/office/powerpoint/2010/main" val="594946911"/>
      </p:ext>
    </p:extLst>
  </p:cSld>
</p:sld>
</file>

<file path=ppt/theme/theme1.xml><?xml version="1.0" encoding="utf-8"?>
<a:theme xmlns:a="http://schemas.openxmlformats.org/drawingml/2006/main" name="ChatGPT">
  <a:themeElements>
    <a:clrScheme name="Melspec Review">
      <a:dk1>
        <a:srgbClr val="000000"/>
      </a:dk1>
      <a:lt1>
        <a:srgbClr val="FFFFFF"/>
      </a:lt1>
      <a:dk2>
        <a:srgbClr val="14243A"/>
      </a:dk2>
      <a:lt2>
        <a:srgbClr val="D7DEE8"/>
      </a:lt2>
      <a:accent1>
        <a:srgbClr val="2E90FA"/>
      </a:accent1>
      <a:accent2>
        <a:srgbClr val="12B76A"/>
      </a:accent2>
      <a:accent3>
        <a:srgbClr val="F79009"/>
      </a:accent3>
      <a:accent4>
        <a:srgbClr val="D92D20"/>
      </a:accent4>
      <a:accent5>
        <a:srgbClr val="7F56D9"/>
      </a:accent5>
      <a:accent6>
        <a:srgbClr val="0BA5EC"/>
      </a:accent6>
      <a:hlink>
        <a:srgbClr val="2E90FA"/>
      </a:hlink>
      <a:folHlink>
        <a:srgbClr val="7F56D9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Melspec Review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2026-10-31T03:22:48.2250000Z</dcterms:created>
  <dcterms:modified xsi:type="dcterms:W3CDTF">2026-10-31T03:22:48.2250000Z</dcterms:modified>
</coreProperties>
</file>