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6965e0c4374995" /><Relationship Type="http://schemas.openxmlformats.org/officeDocument/2006/relationships/extended-properties" Target="/docProps/app.xml" Id="R1f9a6825090d497f" /><Relationship Type="http://schemas.openxmlformats.org/officeDocument/2006/relationships/officeDocument" Target="/ppt/presentation.xml" Id="R9f4a1c5509c34f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86c1158e414d7d"/>
  </p:sldMasterIdLst>
  <p:notesMasterIdLst>
    <p:notesMasterId xmlns:r="http://schemas.openxmlformats.org/officeDocument/2006/relationships" r:id="Re9d19bc9d0ca4cfb"/>
  </p:notesMasterIdLst>
  <p:sldIdLst>
    <p:sldId xmlns:r="http://schemas.openxmlformats.org/officeDocument/2006/relationships" id="256" r:id="R03db1c53d6e2400f"/>
    <p:sldId xmlns:r="http://schemas.openxmlformats.org/officeDocument/2006/relationships" id="257" r:id="Rc220bd3b10294c58"/>
    <p:sldId xmlns:r="http://schemas.openxmlformats.org/officeDocument/2006/relationships" id="258" r:id="R756a49f21c734577"/>
    <p:sldId xmlns:r="http://schemas.openxmlformats.org/officeDocument/2006/relationships" id="259" r:id="R4ffbf917ae2c4d0e"/>
    <p:sldId xmlns:r="http://schemas.openxmlformats.org/officeDocument/2006/relationships" id="260" r:id="R4e67a863b8264080"/>
    <p:sldId xmlns:r="http://schemas.openxmlformats.org/officeDocument/2006/relationships" id="261" r:id="Re632ae658c3b4696"/>
    <p:sldId xmlns:r="http://schemas.openxmlformats.org/officeDocument/2006/relationships" id="262" r:id="R28f8f9558c2b4182"/>
    <p:sldId xmlns:r="http://schemas.openxmlformats.org/officeDocument/2006/relationships" id="263" r:id="R5f152d0c92784555"/>
    <p:sldId xmlns:r="http://schemas.openxmlformats.org/officeDocument/2006/relationships" id="264" r:id="R391a324664514210"/>
    <p:sldId xmlns:r="http://schemas.openxmlformats.org/officeDocument/2006/relationships" id="265" r:id="R9d442e2d95774d1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0e3f8ab30f410c" /><Relationship Type="http://schemas.openxmlformats.org/officeDocument/2006/relationships/slideMaster" Target="/ppt/slideMasters/slideMaster1.xml" Id="R5586c1158e414d7d" /><Relationship Type="http://schemas.openxmlformats.org/officeDocument/2006/relationships/notesMaster" Target="/ppt/notesMasters/notesMaster1.xml" Id="Re9d19bc9d0ca4cfb" /><Relationship Type="http://schemas.openxmlformats.org/officeDocument/2006/relationships/presProps" Target="/ppt/presProps.xml" Id="Re045bae75a3f4fe0" /><Relationship Type="http://schemas.openxmlformats.org/officeDocument/2006/relationships/viewProps" Target="/ppt/viewProps.xml" Id="R039431937ab145ac" /><Relationship Type="http://schemas.openxmlformats.org/officeDocument/2006/relationships/tableStyles" Target="/ppt/tableStyles.xml" Id="R38a2f45cdff94c66" /><Relationship Type="http://schemas.openxmlformats.org/officeDocument/2006/relationships/slide" Target="/ppt/slides/slide1.xml" Id="R03db1c53d6e2400f" /><Relationship Type="http://schemas.openxmlformats.org/officeDocument/2006/relationships/slide" Target="/ppt/slides/slide2.xml" Id="Rc220bd3b10294c58" /><Relationship Type="http://schemas.openxmlformats.org/officeDocument/2006/relationships/slide" Target="/ppt/slides/slide3.xml" Id="R756a49f21c734577" /><Relationship Type="http://schemas.openxmlformats.org/officeDocument/2006/relationships/slide" Target="/ppt/slides/slide4.xml" Id="R4ffbf917ae2c4d0e" /><Relationship Type="http://schemas.openxmlformats.org/officeDocument/2006/relationships/slide" Target="/ppt/slides/slide5.xml" Id="R4e67a863b8264080" /><Relationship Type="http://schemas.openxmlformats.org/officeDocument/2006/relationships/slide" Target="/ppt/slides/slide6.xml" Id="Re632ae658c3b4696" /><Relationship Type="http://schemas.openxmlformats.org/officeDocument/2006/relationships/slide" Target="/ppt/slides/slide7.xml" Id="R28f8f9558c2b4182" /><Relationship Type="http://schemas.openxmlformats.org/officeDocument/2006/relationships/slide" Target="/ppt/slides/slide8.xml" Id="R5f152d0c92784555" /><Relationship Type="http://schemas.openxmlformats.org/officeDocument/2006/relationships/slide" Target="/ppt/slides/slide9.xml" Id="R391a324664514210" /><Relationship Type="http://schemas.openxmlformats.org/officeDocument/2006/relationships/slide" Target="/ppt/slides/slide10.xml" Id="R9d442e2d95774d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846586afac46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0cfef5fdcc46df" /><Relationship Type="http://schemas.openxmlformats.org/officeDocument/2006/relationships/notesMaster" Target="/ppt/notesMasters/notesMaster1.xml" Id="R1639700f06d049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b76c66212c49f4" /><Relationship Type="http://schemas.openxmlformats.org/officeDocument/2006/relationships/notesMaster" Target="/ppt/notesMasters/notesMaster1.xml" Id="R0f9187a5916d43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fdbb2a88aa490f" /><Relationship Type="http://schemas.openxmlformats.org/officeDocument/2006/relationships/notesMaster" Target="/ppt/notesMasters/notesMaster1.xml" Id="R8696450e22fc4f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aba1db3d9a4dff" /><Relationship Type="http://schemas.openxmlformats.org/officeDocument/2006/relationships/notesMaster" Target="/ppt/notesMasters/notesMaster1.xml" Id="R26acbeeb262c49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9bd5a549d84e54" /><Relationship Type="http://schemas.openxmlformats.org/officeDocument/2006/relationships/notesMaster" Target="/ppt/notesMasters/notesMaster1.xml" Id="R0f05b004030a41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3fd0fbb8094ece" /><Relationship Type="http://schemas.openxmlformats.org/officeDocument/2006/relationships/notesMaster" Target="/ppt/notesMasters/notesMaster1.xml" Id="R84ae66fbdbea4f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e0af8dea924d33" /><Relationship Type="http://schemas.openxmlformats.org/officeDocument/2006/relationships/notesMaster" Target="/ppt/notesMasters/notesMaster1.xml" Id="R56d648f8ee424b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a5be82c77d4821" /><Relationship Type="http://schemas.openxmlformats.org/officeDocument/2006/relationships/notesMaster" Target="/ppt/notesMasters/notesMaster1.xml" Id="Rd3290096524244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bba7ac25834a70" /><Relationship Type="http://schemas.openxmlformats.org/officeDocument/2006/relationships/notesMaster" Target="/ppt/notesMasters/notesMaster1.xml" Id="R14d22be3730c40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3af5c41bc547fc" /><Relationship Type="http://schemas.openxmlformats.org/officeDocument/2006/relationships/notesMaster" Target="/ppt/notesMasters/notesMaster1.xml" Id="R7f2ea70ab0e543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开场说明只保留一条主线：基线问题、两次关键优化、多节点扩展和 GPU 复盘。</a:t>
            </a:r>
          </a:p>
          <a:p xmlns:a="http://schemas.openxmlformats.org/drawingml/2006/main">
            <a:r>
              <a:t>最终提交两个成果：单节点 exp008 和三节点 exp009。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九次实验都保留在这张总表里，后续只展开最终相关的主干。</a:t>
            </a:r>
          </a:p>
          <a:p xmlns:a="http://schemas.openxmlformats.org/drawingml/2006/main">
            <a:r>
              <a:t>四例成绩统一相对 exp001 的 64 线程结果。原实现对照使用相同的 1M 前缀。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exp001 是共同基础。GPU 路线从 exp001 向 exp002/003/005 分叉，exp006 是独立纯 GPU 对照。</a:t>
            </a:r>
          </a:p>
          <a:p xmlns:a="http://schemas.openxmlformats.org/drawingml/2006/main">
            <a:r>
              <a:t>最终主线是 exp001 分别派生 exp007 和 exp008，exp008 再包含 exp009。</a:t>
            </a:r>
          </a:p>
          <a:p xmlns:a="http://schemas.openxmlformats.org/drawingml/2006/main">
            <a:r>
              <a:t>exp009 还复用 exp004 的本地帧划分和分布写入设计。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原始实现正确，但重复 FFT 准备、全长度实数 FFT、稠密 Mel 和完整功率谱拖慢了热路径。</a:t>
            </a:r>
          </a:p>
          <a:p xmlns:a="http://schemas.openxmlformats.org/drawingml/2006/main">
            <a:r>
              <a:t>1M 前缀上 exp001 已经比自己实现快 731.206 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exp001 只讲三点：半长度实数 FFT、稀疏 Mel、分块并行。</a:t>
            </a:r>
          </a:p>
          <a:p xmlns:a="http://schemas.openxmlformats.org/drawingml/2006/main">
            <a:r>
              <a:t>64 线程四例合计 3.777 秒，1M 样本上相对原实现为 731.206 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exp008 保留算法数学，只并行归一化、合并 OpenMP 区域并直接输出 float32。</a:t>
            </a:r>
          </a:p>
          <a:p xmlns:a="http://schemas.openxmlformats.org/drawingml/2006/main">
            <a:r>
              <a:t>四例合计 2.733 秒，相对 exp001 为 1.382 倍，1M 样本相对原实现为 1427.391 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单节点优化到 2.733 秒后，剩余成本主要来自输出和总帧规模，因此尝试多节点。</a:t>
            </a:r>
          </a:p>
          <a:p xmlns:a="http://schemas.openxmlformats.org/drawingml/2006/main">
            <a:r>
              <a:t>每个 rank 处理连续帧，只读局部 PCM，并直接写自己的输出列。最终 exp009 为 2.186 秒。</a:t>
            </a:r>
          </a:p>
          <a:p xmlns:a="http://schemas.openxmlformats.org/drawingml/2006/main">
            <a:r>
              <a:t>两节点旧路径 3.083 秒，比单节点慢，说明多节点必须同时优化数据路径。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路线最好的是 exp006，合计 4.024 秒，但仍慢于 CPU 最终方案。</a:t>
            </a:r>
          </a:p>
          <a:p xmlns:a="http://schemas.openxmlformats.org/drawingml/2006/main">
            <a:r>
              <a:t>输入 I/O 很短，真正成本是设备传输、每 1024 帧同步和共享输出写入。</a:t>
            </a:r>
          </a:p>
          <a:p xmlns:a="http://schemas.openxmlformats.org/drawingml/2006/main">
            <a:r>
              <a:t>CPU+GPU 还会竞争内存带宽，最终等待较慢的一侧。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最终保留两个方案：exp008 为 2.733 秒，exp009 为 2.186 秒。</a:t>
            </a:r>
          </a:p>
          <a:p xmlns:a="http://schemas.openxmlformats.org/drawingml/2006/main">
            <a:r>
              <a:t>两者均通过官方四例。1M 原实现加速与完整四例加速的口径不同。</a:t>
            </a:r>
          </a:p>
          <a:p xmlns:a="http://schemas.openxmlformats.org/drawingml/2006/main">
            <a:r>
              <a:t>参考资料包括项目源码、cuFFT/CUDA、OpenMP/GCC 和 Slurm。AI 使用 OpenAI Codex GPT-5，正式数据来自实际作业。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先确认问题的比较口径。</a:t>
            </a:r>
          </a:p>
          <a:p xmlns:a="http://schemas.openxmlformats.org/drawingml/2006/main">
            <a:r>
              <a:t>常见问题包括基线为什么慢、GPU/CPU+GPU 为什么没有胜出、三个加速比如何区分，以及如何复现。</a:t>
            </a:r>
          </a:p>
          <a:p xmlns:a="http://schemas.openxmlformats.org/drawingml/2006/main">
            <a:r>
              <a:t>完整回答见 docs/presentation-script.md 的 Q&amp;A 速查。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584ec50cf48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ac343447a4e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953e1ef1a40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a985b45864d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29d3c517f42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d7bd716004a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5ba8c2e9349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6220990244ee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6ce01ac164e0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3ea0b1fbf428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092636ac84021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9810E6-E553-4C31-AA17-D139D965253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5DD4E9D-7025-49FA-992B-723590EBC6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788AD85-823E-4A19-97E5-00B314A189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FF32EAE-6DFB-475A-8846-50E936A18D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F1C82E-9940-4715-9FB5-A6146BABCB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FE6DE88-B443-4211-8DA9-8F9390FD2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CB2AB79-EDC3-4346-B4E4-C06401F799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45D6937-04B1-4A6E-93BE-4904121206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FD5273-0FAD-4FBA-8E97-510C10BA8D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CCA4A14-6C0A-49E7-B2A2-28859FEEE5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2E1EFB-1687-492C-95FE-E9E084B5F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6271082-9BC0-4A49-8938-90ACF2D570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709D555-43B6-4DC1-A056-76B750D5AE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088C71A-5B62-40FD-AD44-D0A1D48647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4A30964-1936-41D7-B61F-47B5A781A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D1B6D56-949B-4817-AE07-4B7040CE5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7BD5BC5-D61D-43D1-8EC6-1E22AB298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FF63E75-67BB-42B4-B2DD-7D306E3A43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28AD1C1-2C1F-4F13-BAAE-23331A5F92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20D73A7-A70A-41E5-A469-9727B8B9A0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幻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31E75DC-AAD6-460B-A041-D43F6B948C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B3C15F4-56C5-4193-92D7-B2AC7070E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BCEA9EF-B286-4ECA-8139-26E9A4805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2E41BA3-1C3D-4728-9F18-99543DD2646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D967AD0-B6DF-4E44-AA61-39DFA78E3A0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EAB7A4A-C0E7-4EDD-A093-3E45DDD323B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8D1F5C2-E03F-4C7E-BF24-E4B1931FA1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F984B2C-1F3E-4C68-BB25-DFF6541775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幻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4FFC9F5-C5EB-44E2-B87C-2D81FEE0C1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8926DBA-635D-4744-BD0D-7BDE2950F4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2D37506-C2B6-4A41-A735-CD369A8788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A097329-0C04-42D8-AF99-0BCBF9E42B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幻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EC1EBDB-9B80-4D6F-9B6D-6472FDE650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29A48B8-9EBE-48B9-BBBA-A4CB5B5B01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C7743AD-8B5B-40DD-82EE-5DC4D45731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幻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B8BE64F-4B91-4FF5-AE1C-CB3880CEF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EF2808-749A-4F9F-B9C7-2F985CF08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367DB0A-6291-4A8A-85E6-25402A5AD5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D469672-A9BE-4A90-85E0-406E27B38A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60D0471-969C-48F5-96EC-4A145F6DCD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02F20F8-8208-4F53-82D0-5BFB0D10ED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幻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611331-A420-4985-8AE2-DF37711D6B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1278CF-3914-44F5-A6CE-85FE8F7574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37CCC8C-B767-402F-A893-2D516072403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EB5C280-557F-484E-9567-B6A4D8C84F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D089E88-60A6-4324-AA9C-921FA7D03E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E74809E-1296-4EE8-9D21-5B1DFB2825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幻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C37F82E-83BC-40B2-89A5-C8A2D90952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490AC2F-6950-42AF-B8D5-175F6B5DB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本占位符 2">
            <a:extLst xmlns:a="http://schemas.openxmlformats.org/drawingml/2006/main">
              <a:ext uri="{FF2B5EF4-FFF2-40B4-BE49-F238E27FC236}">
                <a16:creationId xmlns:a16="http://schemas.microsoft.com/office/drawing/2014/main" id="{1173AFEC-9E6D-4360-A451-A1738504F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0374691-D3B2-4158-BF64-7E8A99BDFE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732E0F0-1C43-4DB6-994A-3643E8E9B4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5F5BBA-EEC7-446D-9887-C7886E4EC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2C60DC4-AE84-420F-BF8F-02C071F48C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本占位符 2">
            <a:extLst xmlns:a="http://schemas.openxmlformats.org/drawingml/2006/main">
              <a:ext uri="{FF2B5EF4-FFF2-40B4-BE49-F238E27FC236}">
                <a16:creationId xmlns:a16="http://schemas.microsoft.com/office/drawing/2014/main" id="{AE2B833F-30E0-41F2-8A72-8C89B48DDC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3BD0FD-A794-47E6-AC63-A685231C97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F2F0BFA-7693-4979-9133-538BF8C2DE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28108A4-6FDA-4777-925B-C5A89E51B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c8263823414cbc" /><Relationship Type="http://schemas.openxmlformats.org/officeDocument/2006/relationships/slideLayout" Target="/ppt/slideLayouts/slideLayout1.xml" Id="R968aaaf8c59547b8" /><Relationship Type="http://schemas.openxmlformats.org/officeDocument/2006/relationships/slideLayout" Target="/ppt/slideLayouts/slideLayout2.xml" Id="Rec87b171dbd847c8" /><Relationship Type="http://schemas.openxmlformats.org/officeDocument/2006/relationships/slideLayout" Target="/ppt/slideLayouts/slideLayout3.xml" Id="R3c75a64a68a142da" /><Relationship Type="http://schemas.openxmlformats.org/officeDocument/2006/relationships/slideLayout" Target="/ppt/slideLayouts/slideLayout4.xml" Id="R5a33b8edf30d4b9a" /><Relationship Type="http://schemas.openxmlformats.org/officeDocument/2006/relationships/slideLayout" Target="/ppt/slideLayouts/slideLayout5.xml" Id="R8ec5335cb597412f" /><Relationship Type="http://schemas.openxmlformats.org/officeDocument/2006/relationships/slideLayout" Target="/ppt/slideLayouts/slideLayout6.xml" Id="R4208f54181fe40ab" /><Relationship Type="http://schemas.openxmlformats.org/officeDocument/2006/relationships/slideLayout" Target="/ppt/slideLayouts/slideLayout7.xml" Id="Rd5833391c0da442d" /><Relationship Type="http://schemas.openxmlformats.org/officeDocument/2006/relationships/slideLayout" Target="/ppt/slideLayouts/slideLayout8.xml" Id="R57d9cb33692a47fe" /><Relationship Type="http://schemas.openxmlformats.org/officeDocument/2006/relationships/slideLayout" Target="/ppt/slideLayouts/slideLayout9.xml" Id="R89c854258d2d45fb" /><Relationship Type="http://schemas.openxmlformats.org/officeDocument/2006/relationships/slideLayout" Target="/ppt/slideLayouts/slideLayout10.xml" Id="R3e993ddd1a5b4825" /><Relationship Type="http://schemas.openxmlformats.org/officeDocument/2006/relationships/slideLayout" Target="/ppt/slideLayouts/slideLayout11.xml" Id="R21800b8fd40440d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0860FEA-6F89-4364-B6F5-D5C32E6C5F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59BDD19-0DC0-451A-86AD-A5D07422E5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1D3CC5D-5958-42A4-9D7B-354C91F463B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7F79B50-B503-4CEE-B6AB-CBC8A8516FC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12E50C1-D2F2-4BA0-B36F-BFFEC98212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8aaaf8c59547b8"/>
    <p:sldLayoutId xmlns:r="http://schemas.openxmlformats.org/officeDocument/2006/relationships" id="2147483650" r:id="Rec87b171dbd847c8"/>
    <p:sldLayoutId xmlns:r="http://schemas.openxmlformats.org/officeDocument/2006/relationships" id="2147483651" r:id="R3c75a64a68a142da"/>
    <p:sldLayoutId xmlns:r="http://schemas.openxmlformats.org/officeDocument/2006/relationships" id="2147483652" r:id="R5a33b8edf30d4b9a"/>
    <p:sldLayoutId xmlns:r="http://schemas.openxmlformats.org/officeDocument/2006/relationships" id="2147483653" r:id="R8ec5335cb597412f"/>
    <p:sldLayoutId xmlns:r="http://schemas.openxmlformats.org/officeDocument/2006/relationships" id="2147483654" r:id="R4208f54181fe40ab"/>
    <p:sldLayoutId xmlns:r="http://schemas.openxmlformats.org/officeDocument/2006/relationships" id="2147483655" r:id="Rd5833391c0da442d"/>
    <p:sldLayoutId xmlns:r="http://schemas.openxmlformats.org/officeDocument/2006/relationships" id="2147483656" r:id="R57d9cb33692a47fe"/>
    <p:sldLayoutId xmlns:r="http://schemas.openxmlformats.org/officeDocument/2006/relationships" id="2147483657" r:id="R89c854258d2d45fb"/>
    <p:sldLayoutId xmlns:r="http://schemas.openxmlformats.org/officeDocument/2006/relationships" id="2147483658" r:id="R3e993ddd1a5b4825"/>
    <p:sldLayoutId xmlns:r="http://schemas.openxmlformats.org/officeDocument/2006/relationships" id="2147483659" r:id="R21800b8fd40440d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7ed8331640a3" /><Relationship Type="http://schemas.openxmlformats.org/officeDocument/2006/relationships/image" Target="/ppt/media/image.png" Id="R24a3d2cfc74e4cd6" /><Relationship Type="http://schemas.openxmlformats.org/officeDocument/2006/relationships/image" Target="/ppt/media/image2.png" Id="R161918f60e3d458c" /><Relationship Type="http://schemas.openxmlformats.org/officeDocument/2006/relationships/image" Target="/ppt/media/image3.png" Id="Rfd8ce3a955294c62" /><Relationship Type="http://schemas.openxmlformats.org/officeDocument/2006/relationships/notesSlide" Target="/ppt/notesSlides/notesSlide1.xml" Id="R74159d4a47d642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44a7d494440fe" /><Relationship Type="http://schemas.openxmlformats.org/officeDocument/2006/relationships/image" Target="/ppt/media/image4.png" Id="R804640a6c3d24279" /><Relationship Type="http://schemas.openxmlformats.org/officeDocument/2006/relationships/image" Target="/ppt/media/image3.png" Id="R2a6365ec6b8f4ad6" /><Relationship Type="http://schemas.openxmlformats.org/officeDocument/2006/relationships/notesSlide" Target="/ppt/notesSlides/notesSlide2.xml" Id="R155e2ef9330249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c26957375454a" /><Relationship Type="http://schemas.openxmlformats.org/officeDocument/2006/relationships/image" Target="/ppt/media/image4.png" Id="Rafd5e7eb8af74b11" /><Relationship Type="http://schemas.openxmlformats.org/officeDocument/2006/relationships/image" Target="/ppt/media/image3.png" Id="R6f0b4cf0b31e4a3f" /><Relationship Type="http://schemas.openxmlformats.org/officeDocument/2006/relationships/notesSlide" Target="/ppt/notesSlides/notesSlide3.xml" Id="Rf9c35b3ea6524f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b233447e14ae6" /><Relationship Type="http://schemas.openxmlformats.org/officeDocument/2006/relationships/image" Target="/ppt/media/image4.png" Id="Rbe5a2a82db694702" /><Relationship Type="http://schemas.openxmlformats.org/officeDocument/2006/relationships/image" Target="/ppt/media/image3.png" Id="Rfafe85a5050646f5" /><Relationship Type="http://schemas.openxmlformats.org/officeDocument/2006/relationships/notesSlide" Target="/ppt/notesSlides/notesSlide4.xml" Id="Ra34d9ef11b76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0019337284fb5" /><Relationship Type="http://schemas.openxmlformats.org/officeDocument/2006/relationships/image" Target="/ppt/media/image4.png" Id="R989dd107c8044edf" /><Relationship Type="http://schemas.openxmlformats.org/officeDocument/2006/relationships/image" Target="/ppt/media/image3.png" Id="Ra21ee7dc576049c9" /><Relationship Type="http://schemas.openxmlformats.org/officeDocument/2006/relationships/notesSlide" Target="/ppt/notesSlides/notesSlide5.xml" Id="R360d6f15d0584c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45565eeea4b70" /><Relationship Type="http://schemas.openxmlformats.org/officeDocument/2006/relationships/image" Target="/ppt/media/image4.png" Id="R3d54d173bce64ae9" /><Relationship Type="http://schemas.openxmlformats.org/officeDocument/2006/relationships/image" Target="/ppt/media/image3.png" Id="R46fe687cc2ff4ac2" /><Relationship Type="http://schemas.openxmlformats.org/officeDocument/2006/relationships/notesSlide" Target="/ppt/notesSlides/notesSlide6.xml" Id="R7f415b833f224c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e6d37788d4d31" /><Relationship Type="http://schemas.openxmlformats.org/officeDocument/2006/relationships/image" Target="/ppt/media/image4.png" Id="R4e1371d4137241b3" /><Relationship Type="http://schemas.openxmlformats.org/officeDocument/2006/relationships/image" Target="/ppt/media/image3.png" Id="Rc38a49c7f4cd44df" /><Relationship Type="http://schemas.openxmlformats.org/officeDocument/2006/relationships/notesSlide" Target="/ppt/notesSlides/notesSlide7.xml" Id="Re927d442c9744a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b62a1e6a04e3a" /><Relationship Type="http://schemas.openxmlformats.org/officeDocument/2006/relationships/image" Target="/ppt/media/image4.png" Id="Rab11e8d4ae1649ed" /><Relationship Type="http://schemas.openxmlformats.org/officeDocument/2006/relationships/image" Target="/ppt/media/image3.png" Id="Rb102bfbed62e40cd" /><Relationship Type="http://schemas.openxmlformats.org/officeDocument/2006/relationships/chart" Target="/ppt/slides/charts/chart1.xml" Id="Re812d8c6a36c4199" /><Relationship Type="http://schemas.openxmlformats.org/officeDocument/2006/relationships/notesSlide" Target="/ppt/notesSlides/notesSlide8.xml" Id="R3b3a235151884e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f58c32402469f" /><Relationship Type="http://schemas.openxmlformats.org/officeDocument/2006/relationships/image" Target="/ppt/media/image4.png" Id="Rcb4b4c4061324614" /><Relationship Type="http://schemas.openxmlformats.org/officeDocument/2006/relationships/image" Target="/ppt/media/image3.png" Id="R55dd7db4abb44064" /><Relationship Type="http://schemas.openxmlformats.org/officeDocument/2006/relationships/notesSlide" Target="/ppt/notesSlides/notesSlide9.xml" Id="R9c929cd994224a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220e34efd4922" /><Relationship Type="http://schemas.openxmlformats.org/officeDocument/2006/relationships/image" Target="/ppt/media/image.jpeg" Id="Rcc62e199811d46c3" /><Relationship Type="http://schemas.openxmlformats.org/officeDocument/2006/relationships/notesSlide" Target="/ppt/notesSlides/notesSlide10.xml" Id="Rfb073b9166b845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四例合计</c:v>
          </c:tx>
          <c:spPr>
            <a:solidFill xmlns:a="http://schemas.openxmlformats.org/drawingml/2006/main">
              <a:srgbClr val="007FA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59E0B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006 两节点纯 GPU</c:v>
                </c:pt>
                <c:pt idx="1">
                  <c:v>002 单节点双 GPU</c:v>
                </c:pt>
                <c:pt idx="2">
                  <c:v>005 两节点 CPU+GPU</c:v>
                </c:pt>
                <c:pt idx="3">
                  <c:v>003 单节点 CPU+GPU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4.024</c:v>
                </c:pt>
                <c:pt idx="1">
                  <c:v>5.164</c:v>
                </c:pt>
                <c:pt idx="2">
                  <c:v>5.179</c:v>
                </c:pt>
                <c:pt idx="3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D2939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E2E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B05BF3E-77E8-4617-B94F-92309D26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399" y="0"/>
            <a:ext cx="12344400" cy="6857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AAE84BE7-75BE-4BB0-80EA-44D366651D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3d2cfc74e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52400" y="238760"/>
            <a:ext cx="12382500" cy="661924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3654383-A6D4-421D-961B-57C38743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8001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defPPr algn="l"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rPr>
              <a:t>Melspec 性能优化</a:t>
            </a:r>
            <a:endParaRPr sz="7200" b="1">
              <a:solidFill>
                <a:srgbClr val="244B6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DBE4C2E1-4A93-49D4-9D35-221D2B08F5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918f60e3d45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55200" y="382362"/>
            <a:ext cx="1964267" cy="618074"/>
          </a:xfrm>
          <a:prstGeom xmlns:a="http://schemas.openxmlformats.org/drawingml/2006/main" prst="rect">
            <a:avLst/>
          </a:prstGeom>
        </p:spPr>
      </p:pic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4B4C4F27-B766-4C1B-8FFC-2BEE935C3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ce3a955294c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02FCC82-BFBD-4B95-9274-EFB3FDC9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67400"/>
            <a:ext cx="100965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 秋季招新  /  单节点 exp008 2.733 s  /  三节点 exp009 2.186 s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710158F-0DA0-41CF-8594-DFE953CA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8667"/>
            <a:ext cx="12192000" cy="169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5BE99-1881-4B26-AA76-C2CE4972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从原始实现到 CPU 最终方案</a:t>
            </a:r>
          </a:p>
        </p:txBody>
      </p:sp>
    </p:spTree>
    <p:extLst>
      <p:ext uri="{BB962C8B-B14F-4D97-AF65-F5344CB8AC3E}">
        <p14:creationId xmlns:p14="http://schemas.microsoft.com/office/powerpoint/2010/main" val="16619528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C0525FF-9BF9-4982-BAE7-7A69F8F2C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4640a6c3d24279">
            <a:alphaModFix amt="40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AFF43F9-6984-469B-9273-00CC511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CF4FACA-72B6-4F03-99BC-3153530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rPr>
              <a:t>exp001–009 结果总览</a:t>
            </a:r>
            <a:endParaRPr sz="3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1D7802-51D9-458C-9D6D-EA01D04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" y="18859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3E4D72A-4667-44C4-A070-9A1A0EF16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365ec6b8f4a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5F848-1FDC-4EF2-A930-075C495F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官方四用例取三次最小值；相对值统一以 exp001 T=64 的 3.777 s 为基线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7AB58-B5FE-4C5F-AA38-01244981664C}"/>
              </a:ext>
            </a:extLst>
          </p:cNvPr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10820400" cy="3762375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647700"/>
                <a:gridCol w="7534275"/>
                <a:gridCol w="1381125"/>
                <a:gridCol w="1257300"/>
              </a:tblGrid>
              <a:tr h="376238">
                <a:tc>
                  <a:txBody>
                    <a:bodyPr/>
                    <a:lstStyle/>
                    <a:p>
                      <a:r>
                        <a:t>实验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关键思路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T w="9525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四例合计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T w="9525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相对 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T w="9525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打包实数 FFT、稀疏 Mel、SIMD、OpenMP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3.777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1.000x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单节点双 GPU，cuFFT D2Z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5.164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0.731x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单节点 CPU + 双 GPU 异构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5.207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0.725x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多节点 CPU，本地帧区间与 pwrite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2.533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1.491x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两节点 CPU+GPU 异构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5.179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0.729x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两节点纯 GPU，CPU 不参与帧计算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4.024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阶段 profile，不改变算法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基线分析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单节点最终：更短的数据路径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2.733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1.382x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三节点最终：本地读、并行算、分布写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2.186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1.728x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2E9"/>
                      </a:solidFill>
                      <a:prstDash val="solid"/>
                    </a:lnR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6E7DD-6BC4-41FF-86CD-1AF5CD7F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最终方案为 exp008 与 exp009；完整原实现对照使用同一 1M 样本前缀。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9A686-7956-4131-80B9-66D9FE8D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Melspec 优化  /  02</a:t>
            </a:r>
          </a:p>
        </p:txBody>
      </p:sp>
    </p:spTree>
    <p:extLst>
      <p:ext uri="{BB962C8B-B14F-4D97-AF65-F5344CB8AC3E}">
        <p14:creationId xmlns:p14="http://schemas.microsoft.com/office/powerpoint/2010/main" val="13202748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C0525FF-9BF9-4982-BAE7-7A69F8F2C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d5e7eb8af74b11">
            <a:alphaModFix amt="40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AFF43F9-6984-469B-9273-00CC511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CF4FACA-72B6-4F03-99BC-3153530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rPr>
              <a:t>代码演进关系</a:t>
            </a:r>
            <a:endParaRPr sz="3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1D7802-51D9-458C-9D6D-EA01D04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95250" y="-952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3E4D72A-4667-44C4-A070-9A1A0EF16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b4cf0b31e4a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40BEF-1451-432F-90E9-A165A78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蓝线是直接源码包含或主要演化，灰线是设计复用与对照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17F37-C830-4A9C-8219-0143E81C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476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A3B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baseline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src/melspec.cpp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B3F9A-EA0C-48C1-AF6C-4AB17329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C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exp001</a:t>
            </a:r>
          </a:p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CPU 核心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1947B-C33C-4945-8E1B-269B6B18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76375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exp002</a:t>
            </a:r>
          </a:p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双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171B0-BBD1-429C-95DA-D654BC17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76375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exp003</a:t>
            </a:r>
          </a:p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CPU+GPU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C0FF0-122D-4235-B910-A9CDA0E2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763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exp005</a:t>
            </a:r>
          </a:p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多节点异构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842C9-9490-4749-8E5A-46B507FE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exp006</a:t>
            </a:r>
          </a:p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纯 GPU 对照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DD7A0-93B5-4B7A-A6B0-344AB3B7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9562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C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exp004</a:t>
            </a:r>
          </a:p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多节点 CPU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FF87E-020E-4FCE-A6F8-CB1EA073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5287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exp007</a:t>
            </a:r>
          </a:p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CB91C-66EB-4D3A-BFDE-0805D064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5287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8F1"/>
          </a:solidFill>
          <a:ln xmlns:a="http://schemas.openxmlformats.org/drawingml/2006/main" w="28575">
            <a:solidFill>
              <a:srgbClr val="18A7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exp008</a:t>
            </a:r>
          </a:p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单节点最终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4B6F8-64FD-4316-ABA2-FB4D9303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9587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8F1"/>
          </a:solidFill>
          <a:ln xmlns:a="http://schemas.openxmlformats.org/drawingml/2006/main" w="28575">
            <a:solidFill>
              <a:srgbClr val="18A7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exp009</a:t>
            </a:r>
          </a:p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三节点最终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AEAF2-97E7-4DF2-AAA3-1CC4B6B9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575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5140C-43E1-4443-9E10-A5E88F83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670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7B8CE-2846-4E3B-AA86-0EDE0A1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71650"/>
            <a:ext cx="285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707CC-989D-46CE-A4FD-ED8555F6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71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BBA70-3554-40A2-B250-71F1BB15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A2300-7F81-4F14-B100-D99B1557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716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93ABE-06E7-4DDA-860A-230D1FD6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6692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1833E0-D41B-4877-AB05-E662CCB0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670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7C3DC-4CC6-40D3-B8FD-2E58F788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6702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9C135-87AC-41BD-A43C-A9CA6EBF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37B750-E906-44CA-986E-6E3A25F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62300"/>
            <a:ext cx="285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0772F-4C81-40BD-9E62-9FDC56F5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9095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DB9037-D790-4288-89CD-50DC8052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90950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AFF58B-A255-4D36-AEA9-A1135789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48150"/>
            <a:ext cx="71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E3FAB4-C77D-4950-8EE4-50BC2678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43425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E5D424-1ED9-4F14-A164-FD5BBAF4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8FE3AD-5107-41F1-8D93-898904E2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190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8394A6-EAA7-42B0-A2CC-C28BA278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9115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A34EEE-CAA6-42C2-A5B4-7E079B04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Melspec 优化  /  03</a:t>
            </a:r>
          </a:p>
        </p:txBody>
      </p:sp>
    </p:spTree>
    <p:extLst>
      <p:ext uri="{BB962C8B-B14F-4D97-AF65-F5344CB8AC3E}">
        <p14:creationId xmlns:p14="http://schemas.microsoft.com/office/powerpoint/2010/main" val="13202748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C0525FF-9BF9-4982-BAE7-7A69F8F2C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5a2a82db694702">
            <a:alphaModFix amt="40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AFF43F9-6984-469B-9273-00CC511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CF4FACA-72B6-4F03-99BC-3153530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rPr>
              <a:t>原始参考实现的问题</a:t>
            </a:r>
            <a:endParaRPr sz="3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1D7802-51D9-458C-9D6D-EA01D04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" y="18859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3E4D72A-4667-44C4-A070-9A1A0EF16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e85a5050646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B24A0-736E-4447-9812-C127AD8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实现正确，但热路径存在重复计算、乘零和大块内存流量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58340-8B56-4C1E-B75B-7A53CB1C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0206E-4982-463B-B843-88C3D8B0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重复准备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D1713-1428-49D7-888B-D9433DEC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每帧重新分配、位反转和 twiddle 的 cos / sin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70D76-A8D8-4C56-94F3-35B61233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65BDB-9669-49C3-815B-B7078616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868DA-3BE6-418D-967E-EFE7AE5F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全长度复数 FFT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A02FD-4794-4281-A841-BDE0CB43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实数输入仍执行 n_fft 复数 FFT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BAFBD-4E05-4177-9B40-A7D8C340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7BC84-7DEE-4D98-B492-B2A05081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51C1F-56A3-4073-933A-4321DD3D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稠密 Mel 投影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CD05A-82FB-4966-94D6-FBFB6A5D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243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遍历全部频率箱并乘零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B081E-4DFD-4EDB-89CA-168871C3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E9A5D1-CBD0-4353-906A-451F29AF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22358-35EA-4104-9325-EEE14F6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完整功率谱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3FCFA-7540-4011-932A-4FC748E6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default double 功率谱约 6.3 GB，跨行访问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B2ECD-B453-4AAC-9952-B3F86E4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同口径 1M default：61.663 s 降至 0.084 s，exp001 加速 731.206x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8A1A7-2E4D-441F-A1A3-13A21FF2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Melspec 优化  /  04</a:t>
            </a:r>
          </a:p>
        </p:txBody>
      </p:sp>
    </p:spTree>
    <p:extLst>
      <p:ext uri="{BB962C8B-B14F-4D97-AF65-F5344CB8AC3E}">
        <p14:creationId xmlns:p14="http://schemas.microsoft.com/office/powerpoint/2010/main" val="13202748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C0525FF-9BF9-4982-BAE7-7A69F8F2C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9dd107c8044edf">
            <a:alphaModFix amt="40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AFF43F9-6984-469B-9273-00CC511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CF4FACA-72B6-4F03-99BC-3153530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rPr>
              <a:t>exp001 的算法优化</a:t>
            </a:r>
            <a:endParaRPr sz="3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1D7802-51D9-458C-9D6D-EA01D04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" y="18859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3E4D72A-4667-44C4-A070-9A1A0EF16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ee7dc576049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F34A0-E213-4014-A396-31024EA8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用半长度实数 FFT、稀疏 Mel 和并行分块消除主要浪费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D7170-1526-453B-A8DF-CC99D3D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2F7E9-DD40-4937-9D02-385A3125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打包实数 FFT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CD3E1-E8F6-4651-80BE-40FD3B39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07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核心 FFT 长度从 n_fft 降到 n_fft/2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6279E-09D1-498B-80A1-2CB0610D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CB066-946A-44FA-9283-55FBB2FF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B2FC0-DC95-4691-A90B-7B54B029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稀疏 Mel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89458-6744-41D3-A67E-A9B46816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147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只遍历三角滤波器的非零区间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9611A-578C-468F-A130-724B9C9D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0B673-7D64-4C9E-A50E-10F03721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FB228-1A9C-4E52-97DB-E879BBE5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577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分块与并行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56341-10C3-4830-8329-BD6C196C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386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复用 plan 和工作区，使用 SIMD 与 OpenMP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2DD6A-2540-4937-92AF-0D06855B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3.777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978423-03DA-49FE-82C4-7B9654C9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289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64 线程四例合计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AE38A-B629-4B33-955F-EA4ABC86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731.206x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B5855B-D790-42B7-9453-2C477177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481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原实现 1M 样本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56268A-BAD4-48BB-9FAD-49664329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Melspec 优化  /  05</a:t>
            </a:r>
          </a:p>
        </p:txBody>
      </p:sp>
    </p:spTree>
    <p:extLst>
      <p:ext uri="{BB962C8B-B14F-4D97-AF65-F5344CB8AC3E}">
        <p14:creationId xmlns:p14="http://schemas.microsoft.com/office/powerpoint/2010/main" val="1320274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C0525FF-9BF9-4982-BAE7-7A69F8F2C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54d173bce64ae9">
            <a:alphaModFix amt="40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AFF43F9-6984-469B-9273-00CC511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CF4FACA-72B6-4F03-99BC-3153530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rPr>
              <a:t>exp008 单节点最终方案</a:t>
            </a:r>
            <a:endParaRPr sz="3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1D7802-51D9-458C-9D6D-EA01D04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" y="18859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3E4D72A-4667-44C4-A070-9A1A0EF16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e687cc2ff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88A11-C5BC-4C2E-9CD8-8357349A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保留 exp001 的数学，只缩短数据路径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1E2EC-C537-4777-BFD8-D89D8DDE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C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读取</a:t>
            </a:r>
          </a:p>
          <a:p xmlns:a="http://schemas.openxmlformats.org/drawingml/2006/main">
            <a: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本地 PCM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A239B-28FD-4477-901C-53071ABB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241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8A8B6-5212-4806-A7E2-8E29EA5C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955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C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归一化</a:t>
            </a:r>
          </a:p>
          <a:p xmlns:a="http://schemas.openxmlformats.org/drawingml/2006/main">
            <a: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64 threads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2DE63-4B6E-42FB-8D8A-1C3F4591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241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4BDA2-FF01-4E06-9349-C37010C4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955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计算</a:t>
            </a:r>
          </a:p>
          <a:p xmlns:a="http://schemas.openxmlformats.org/drawingml/2006/main">
            <a: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direct float32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F6C23-FD94-4AC7-A20F-B6F67104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73309-694D-4D3C-AD6A-63D22EF9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C"/>
          </a:solidFill>
          <a:ln xmlns:a="http://schemas.openxmlformats.org/drawingml/2006/main" w="19050">
            <a:solidFill>
              <a:srgbClr val="00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写入</a:t>
            </a:r>
          </a:p>
          <a:p xmlns:a="http://schemas.openxmlformats.org/drawingml/2006/main">
            <a:pPr algn="ctr">
              <a:def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single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D78F8-90B2-4CB2-B242-8819E3FC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2.733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E4343-163E-4722-8971-DBA681A2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四例合计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6A164-6A81-4481-8197-6DC89E68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1.382x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850CB-0D8D-4196-BEFC-E9672F74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71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相对 exp001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68E27-0A3F-4ED4-9314-5807EF2E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1427.391x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0BEC6-F869-413A-8173-16051689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原实现 1M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332D9-B85F-4002-84D4-58A4EC53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删除完整 double 输出和 tile staging，峰值内存约 394 MB。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0773E-3719-4A9A-B2C0-238F20D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Melspec 优化  /  06</a:t>
            </a:r>
          </a:p>
        </p:txBody>
      </p:sp>
    </p:spTree>
    <p:extLst>
      <p:ext uri="{BB962C8B-B14F-4D97-AF65-F5344CB8AC3E}">
        <p14:creationId xmlns:p14="http://schemas.microsoft.com/office/powerpoint/2010/main" val="1320274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C0525FF-9BF9-4982-BAE7-7A69F8F2C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1371d4137241b3">
            <a:alphaModFix amt="40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AFF43F9-6984-469B-9273-00CC511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CF4FACA-72B6-4F03-99BC-3153530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rPr>
              <a:t>单节点到多节点</a:t>
            </a:r>
            <a:endParaRPr sz="3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1D7802-51D9-458C-9D6D-EA01D04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" y="18859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3E4D72A-4667-44C4-A070-9A1A0EF16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a49c7f4cd44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8FDB9-7B53-4AB0-9E87-656DBD36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计算路径稳定后，把连续帧区间拆给不同节点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2815B-D747-4293-BE0E-039A80BB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02FB2-0A2B-463E-BDD1-ABAD88BB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57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26F5F-354E-48CD-A0E2-B52B4888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24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43840-1B29-4F13-925C-06BBE364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288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exp008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7D60A-38A4-4D2A-89B6-6BB8F6DF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单节点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F7879-55FC-4AA8-AA11-4CCC339A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814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2.733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74C9D-3302-4AC4-8544-126213D7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57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89B25-B929-46E7-9BC6-03A95AD9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24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48545-B3EA-4FA5-8E4C-2969AAE0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288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exp004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EE8FA-32E3-4154-BC79-45E2B6C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两节点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2043D-AC99-4ECB-BAE1-94BE2E1F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814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3.083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2787B-308A-4D6F-BFCB-5A4ACF66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57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D3C65-C67C-4A30-9811-EC191121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24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E4F16-19FC-4EBD-A8CC-FC418369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288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exp004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CCA4D-C811-4DD5-A097-9A1ACB76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三节点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4FAB2-1FE3-4E19-B4F5-A2BEDD6B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814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2.533 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FF57D-5687-4DC8-AE29-143F652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57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77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0B8B0-08BB-4943-9618-7E253301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24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42AFF1-56D6-4906-B8E2-CAA46571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288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exp009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3E3CD3-539B-4528-A717-60CDFDFA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三节点最终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AA6236-9E70-4A6B-A923-4016E648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814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rPr>
              <a:t>2.186 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20ADA9-4241-4B43-AC73-1968EF6C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每个 rank 只读取自己的连续 PCM 帧区间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各 rank 直接 pwrite 不重叠输出列，不需要 Gather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原生 Slurm 协调避免 MPI 启动开销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两节点旧路径慢于 exp008，三节点才形成明显收益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3CB98D-EFB7-43D7-BE65-F55BE6B5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Melspec 优化  /  07</a:t>
            </a:r>
          </a:p>
        </p:txBody>
      </p:sp>
    </p:spTree>
    <p:extLst>
      <p:ext uri="{BB962C8B-B14F-4D97-AF65-F5344CB8AC3E}">
        <p14:creationId xmlns:p14="http://schemas.microsoft.com/office/powerpoint/2010/main" val="132027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C0525FF-9BF9-4982-BAE7-7A69F8F2C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11e8d4ae1649ed">
            <a:alphaModFix amt="40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AFF43F9-6984-469B-9273-00CC511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CF4FACA-72B6-4F03-99BC-3153530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rPr>
              <a:t>GPU 与 CPU+GPU 为什么没有胜出</a:t>
            </a:r>
            <a:endParaRPr sz="3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1D7802-51D9-458C-9D6D-EA01D04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" y="18859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3E4D72A-4667-44C4-A070-9A1A0EF16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2bfbed62e40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80C16-A52C-4669-B873-227A5BCF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计算不是主要瓶颈，设备传输、同步和共享输出占了大部分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E04A0946-E499-4136-BA7C-0AD7885540CE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6096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12d8c6a36c419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F7792-3A4E-499B-827E-D45EF753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81200"/>
            <a:ext cx="400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输入读取约 0.093 s，不是主要瓶颈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GPU 路径含 H2D、D2H、kernel 和同步，约 0.16–0.23 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每 1024 帧同步一次，每 rank 约 94 次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共享输出写入约 0.28–0.49 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CPU+GPU 还会竞争内存带宽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4784E-4A72-4A45-8C26-010A9656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53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结论：GPU 算术不慢，端到端损失在搬运、同步和输出 I/O。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91A3D-24A7-4B27-9275-18C7BF3B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Melspec 优化  /  08</a:t>
            </a:r>
          </a:p>
        </p:txBody>
      </p:sp>
    </p:spTree>
    <p:extLst>
      <p:ext uri="{BB962C8B-B14F-4D97-AF65-F5344CB8AC3E}">
        <p14:creationId xmlns:p14="http://schemas.microsoft.com/office/powerpoint/2010/main" val="13202748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C0525FF-9BF9-4982-BAE7-7A69F8F2C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4b4c4061324614">
            <a:alphaModFix amt="40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AFF43F9-6984-469B-9273-00CC511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CF4FACA-72B6-4F03-99BC-3153530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2A3B"/>
                </a:solidFill>
                <a:latin typeface="微软雅黑"/>
                <a:ea typeface="微软雅黑"/>
                <a:cs typeface="微软雅黑"/>
              </a:rPr>
              <a:t>两个最终成果</a:t>
            </a:r>
            <a:endParaRPr sz="3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1D7802-51D9-458C-9D6D-EA01D04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" y="18859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3E4D72A-4667-44C4-A070-9A1A0EF16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d7db4abb440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2387A-E98E-438E-B287-D28259B2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两个方案均通过官方四例；相对加速与同口径原实现加速分别标注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3D05A-6C4C-4D86-81A7-5150E903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95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288BE-16CF-4247-8BAD-670AC8D5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exp008  单节点最终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EB388-57D9-44C7-BAE0-5F7D2985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2.733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DF28B-F8B9-4438-818A-1CD4F024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相对 001 1.382x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0A8A6-0752-49D2-9570-417316C1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原实现 1M 1427.391x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DE4F5-9CD4-48E1-87F4-AB30E9A0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A77A"/>
                </a:solidFill>
                <a:latin typeface="微软雅黑"/>
                <a:ea typeface="微软雅黑"/>
                <a:cs typeface="微软雅黑"/>
              </a:rPr>
              <a:t>exp009  三节点最终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D3ECF-A9F8-4DAB-9255-E2D92051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rPr>
              <a:t>2.186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7F767-0A42-4360-AC46-AC67C541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D2939"/>
                </a:solidFill>
                <a:latin typeface="微软雅黑"/>
                <a:ea typeface="微软雅黑"/>
                <a:cs typeface="微软雅黑"/>
              </a:rPr>
              <a:t>相对 001 1.728x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7B842-3889-40EB-8CD0-2D206276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原实现 1M 156.271x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1FC1C-C839-486D-83D3-ABAE35E1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8A77A"/>
                </a:solidFill>
                <a:latin typeface="微软雅黑"/>
                <a:ea typeface="微软雅黑"/>
                <a:cs typeface="微软雅黑"/>
              </a:rPr>
              <a:t>两个方案均 4/4 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3285A-2585-4C71-824A-E2CD8AA7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参考：项目源码与 README  /  NVIDIA cuFFT、CUDA  /  OpenMP、GCC  /  Slurm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480F2-26F5-4289-9B17-0ADDAB3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AI：OpenAI Codex（GPT-5）辅助分析、实现草稿、实验编排和材料整理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B20D2-3A12-4178-BBF4-5B983649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007FA6"/>
                </a:solidFill>
                <a:latin typeface="微软雅黑"/>
                <a:ea typeface="微软雅黑"/>
                <a:cs typeface="微软雅黑"/>
              </a:rPr>
              <a:t>Melspec 优化  /  09</a:t>
            </a:r>
          </a:p>
        </p:txBody>
      </p:sp>
    </p:spTree>
    <p:extLst>
      <p:ext uri="{BB962C8B-B14F-4D97-AF65-F5344CB8AC3E}">
        <p14:creationId xmlns:p14="http://schemas.microsoft.com/office/powerpoint/2010/main" val="132027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D29B20A6-D3D5-4958-97CD-06F15AEA06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2e199811d46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365" cy="6866255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EA92F8D-DF9D-43AE-9CA2-898D80BF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43125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Q&amp;A</a:t>
            </a:r>
            <a:endParaRPr sz="60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欢迎交流</a:t>
            </a:r>
            <a:endParaRPr sz="60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0E3FF-02ED-4A58-B1DC-9790239C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4A8DD"/>
                </a:solidFill>
                <a:latin typeface="微软雅黑"/>
                <a:ea typeface="微软雅黑"/>
                <a:cs typeface="微软雅黑"/>
              </a:rPr>
              <a:t>基线问题  /  CPU 与 GPU 取舍  /  性能口径  /  复现方式</a:t>
            </a:r>
          </a:p>
        </p:txBody>
      </p:sp>
    </p:spTree>
    <p:extLst>
      <p:ext uri="{BB962C8B-B14F-4D97-AF65-F5344CB8AC3E}">
        <p14:creationId xmlns:p14="http://schemas.microsoft.com/office/powerpoint/2010/main" val="1588291753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2026-10-31T08:15:06.6520000Z</dcterms:created>
  <dcterms:modified xsi:type="dcterms:W3CDTF">2026-10-31T08:15:06.6530000Z</dcterms:modified>
</coreProperties>
</file>