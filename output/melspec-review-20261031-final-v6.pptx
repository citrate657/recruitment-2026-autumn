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d76a3a7fee46c8" /><Relationship Type="http://schemas.openxmlformats.org/officeDocument/2006/relationships/extended-properties" Target="/docProps/app.xml" Id="R7df707a41655494d" /><Relationship Type="http://schemas.openxmlformats.org/officeDocument/2006/relationships/officeDocument" Target="/ppt/presentation.xml" Id="R83124363ef0648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86cb6498f74276"/>
  </p:sldMasterIdLst>
  <p:notesMasterIdLst>
    <p:notesMasterId xmlns:r="http://schemas.openxmlformats.org/officeDocument/2006/relationships" r:id="R43e37bfb10ec4b1f"/>
  </p:notesMasterIdLst>
  <p:sldIdLst>
    <p:sldId xmlns:r="http://schemas.openxmlformats.org/officeDocument/2006/relationships" id="256" r:id="Rbf71e648018d47a8"/>
    <p:sldId xmlns:r="http://schemas.openxmlformats.org/officeDocument/2006/relationships" id="257" r:id="R6db554dda6214acf"/>
    <p:sldId xmlns:r="http://schemas.openxmlformats.org/officeDocument/2006/relationships" id="258" r:id="Rc472d2bc30814aaf"/>
    <p:sldId xmlns:r="http://schemas.openxmlformats.org/officeDocument/2006/relationships" id="259" r:id="Reb4c13c16ad54b6d"/>
    <p:sldId xmlns:r="http://schemas.openxmlformats.org/officeDocument/2006/relationships" id="260" r:id="R15342b1d42084021"/>
    <p:sldId xmlns:r="http://schemas.openxmlformats.org/officeDocument/2006/relationships" id="261" r:id="R3e78d4315ed9489c"/>
    <p:sldId xmlns:r="http://schemas.openxmlformats.org/officeDocument/2006/relationships" id="262" r:id="Ra8407f1b2cfa4002"/>
    <p:sldId xmlns:r="http://schemas.openxmlformats.org/officeDocument/2006/relationships" id="263" r:id="R1c287dbf32b54dc1"/>
    <p:sldId xmlns:r="http://schemas.openxmlformats.org/officeDocument/2006/relationships" id="264" r:id="R7e0a9ea97aa04ad0"/>
    <p:sldId xmlns:r="http://schemas.openxmlformats.org/officeDocument/2006/relationships" id="265" r:id="Rc85e9cb3a4ef43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69442d022a47c5" /><Relationship Type="http://schemas.openxmlformats.org/officeDocument/2006/relationships/slideMaster" Target="/ppt/slideMasters/slideMaster1.xml" Id="R9d86cb6498f74276" /><Relationship Type="http://schemas.openxmlformats.org/officeDocument/2006/relationships/notesMaster" Target="/ppt/notesMasters/notesMaster1.xml" Id="R43e37bfb10ec4b1f" /><Relationship Type="http://schemas.openxmlformats.org/officeDocument/2006/relationships/presProps" Target="/ppt/presProps.xml" Id="Rab9195c235d4451e" /><Relationship Type="http://schemas.openxmlformats.org/officeDocument/2006/relationships/tableStyles" Target="/ppt/tableStyles.xml" Id="R94d1cdbcfea64f7b" /><Relationship Type="http://schemas.openxmlformats.org/officeDocument/2006/relationships/slide" Target="/ppt/slides/slide1.xml" Id="Rbf71e648018d47a8" /><Relationship Type="http://schemas.openxmlformats.org/officeDocument/2006/relationships/slide" Target="/ppt/slides/slide2.xml" Id="R6db554dda6214acf" /><Relationship Type="http://schemas.openxmlformats.org/officeDocument/2006/relationships/slide" Target="/ppt/slides/slide3.xml" Id="Rc472d2bc30814aaf" /><Relationship Type="http://schemas.openxmlformats.org/officeDocument/2006/relationships/slide" Target="/ppt/slides/slide4.xml" Id="Reb4c13c16ad54b6d" /><Relationship Type="http://schemas.openxmlformats.org/officeDocument/2006/relationships/slide" Target="/ppt/slides/slide5.xml" Id="R15342b1d42084021" /><Relationship Type="http://schemas.openxmlformats.org/officeDocument/2006/relationships/slide" Target="/ppt/slides/slide6.xml" Id="R3e78d4315ed9489c" /><Relationship Type="http://schemas.openxmlformats.org/officeDocument/2006/relationships/slide" Target="/ppt/slides/slide7.xml" Id="Ra8407f1b2cfa4002" /><Relationship Type="http://schemas.openxmlformats.org/officeDocument/2006/relationships/slide" Target="/ppt/slides/slide8.xml" Id="R1c287dbf32b54dc1" /><Relationship Type="http://schemas.openxmlformats.org/officeDocument/2006/relationships/slide" Target="/ppt/slides/slide9.xml" Id="R7e0a9ea97aa04ad0" /><Relationship Type="http://schemas.openxmlformats.org/officeDocument/2006/relationships/slide" Target="/ppt/slides/slide10.xml" Id="Rc85e9cb3a4ef43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e68321700042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Melspec Review">
      <a:dk1>
        <a:srgbClr val="000000"/>
      </a:dk1>
      <a:lt1>
        <a:srgbClr val="FFFFFF"/>
      </a:lt1>
      <a:dk2>
        <a:srgbClr val="14243A"/>
      </a:dk2>
      <a:lt2>
        <a:srgbClr val="D7DEE8"/>
      </a:lt2>
      <a:accent1>
        <a:srgbClr val="2E90FA"/>
      </a:accent1>
      <a:accent2>
        <a:srgbClr val="12B76A"/>
      </a:accent2>
      <a:accent3>
        <a:srgbClr val="F79009"/>
      </a:accent3>
      <a:accent4>
        <a:srgbClr val="D92D20"/>
      </a:accent4>
      <a:accent5>
        <a:srgbClr val="7F56D9"/>
      </a:accent5>
      <a:accent6>
        <a:srgbClr val="0BA5EC"/>
      </a:accent6>
      <a:hlink>
        <a:srgbClr val="2E90FA"/>
      </a:hlink>
      <a:folHlink>
        <a:srgbClr val="7F56D9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elspec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558b629ff94281" /><Relationship Type="http://schemas.openxmlformats.org/officeDocument/2006/relationships/notesMaster" Target="/ppt/notesMasters/notesMaster1.xml" Id="R2949e1c4730c4a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94f30c54d04a0e" /><Relationship Type="http://schemas.openxmlformats.org/officeDocument/2006/relationships/notesMaster" Target="/ppt/notesMasters/notesMaster1.xml" Id="Rdd49db86d7774f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192f0a77054df4" /><Relationship Type="http://schemas.openxmlformats.org/officeDocument/2006/relationships/notesMaster" Target="/ppt/notesMasters/notesMaster1.xml" Id="R724992b4542f49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7dcafe59814ec8" /><Relationship Type="http://schemas.openxmlformats.org/officeDocument/2006/relationships/notesMaster" Target="/ppt/notesMasters/notesMaster1.xml" Id="Re2157059f38b4c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fa870353d74c3a" /><Relationship Type="http://schemas.openxmlformats.org/officeDocument/2006/relationships/notesMaster" Target="/ppt/notesMasters/notesMaster1.xml" Id="Rc3fe26e0692b49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4581e744b94c94" /><Relationship Type="http://schemas.openxmlformats.org/officeDocument/2006/relationships/notesMaster" Target="/ppt/notesMasters/notesMaster1.xml" Id="Re5c780ba8dfc4d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63bb989a784fb4" /><Relationship Type="http://schemas.openxmlformats.org/officeDocument/2006/relationships/notesMaster" Target="/ppt/notesMasters/notesMaster1.xml" Id="Rac79a77374e443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1ee4bd30704136" /><Relationship Type="http://schemas.openxmlformats.org/officeDocument/2006/relationships/notesMaster" Target="/ppt/notesMasters/notesMaster1.xml" Id="R9cd0b35a2b8846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8481dfdb644e51" /><Relationship Type="http://schemas.openxmlformats.org/officeDocument/2006/relationships/notesMaster" Target="/ppt/notesMasters/notesMaster1.xml" Id="Re54ec572affe42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da58b6a9c63499f" /><Relationship Type="http://schemas.openxmlformats.org/officeDocument/2006/relationships/notesMaster" Target="/ppt/notesMasters/notesMaster1.xml" Id="Rc0f41bfc689547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这份汇报只保留最必要的主线：原始问题、exp001、exp008、多节点和 GPU 低效原因。</a:t>
            </a:r>
          </a:p>
          <a:p xmlns:a="http://schemas.openxmlformats.org/drawingml/2006/main">
            <a:r>
              <a:t>最终提交方案是单节点 exp008 和三节点 exp009。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这一页保留九次实验的全貌，后续不再逐页展开所有分支。</a:t>
            </a:r>
          </a:p>
          <a:p xmlns:a="http://schemas.openxmlformats.org/drawingml/2006/main">
            <a:r>
              <a:t>四用例成绩统一相对 exp001 的 64 线程结果 3.777 秒。最终选择 exp008 和 exp009。</a:t>
            </a:r>
          </a:p>
          <a:p xmlns:a="http://schemas.openxmlformats.org/drawingml/2006/main">
            <a:r>
              <a:t>原始实现对照使用 1M 样本前缀，完整正确性仍由官方四用例证明。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蓝线表示主要演化或直接源码复用，灰线表示设计复用和对照。</a:t>
            </a:r>
          </a:p>
          <a:p xmlns:a="http://schemas.openxmlformats.org/drawingml/2006/main">
            <a:r>
              <a:t>exp007/exp008 直接 include exp001，exp009 直接 include exp008，并复用 exp004 的分布写入设计。</a:t>
            </a:r>
          </a:p>
          <a:p xmlns:a="http://schemas.openxmlformats.org/drawingml/2006/main">
            <a:r>
              <a:t>GPU 路线是探索分支，最终交付主线是 exp001 到 exp008 再到 exp009。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原始实现的主要问题是重复 FFT 准备、全长度实数 FFT、稠密 Mel 乘零和完整功率谱。</a:t>
            </a:r>
          </a:p>
          <a:p xmlns:a="http://schemas.openxmlformats.org/drawingml/2006/main">
            <a:r>
              <a:t>同口径 1M 样本上 exp001 已相对原实现加速 731.206x。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exp001 只讲三件最容易解释的事：半长度实数 FFT、稀疏 Mel 和分块并行。</a:t>
            </a:r>
          </a:p>
          <a:p xmlns:a="http://schemas.openxmlformats.org/drawingml/2006/main">
            <a:r>
              <a:t>64 线程四例合计 3.777 秒，同口径 1M 样本相对原实现为 731.206 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exp008 保留 exp001 的计算数学，只并行化归一化、合并 OpenMP 区域，并直接输出 float32。</a:t>
            </a:r>
          </a:p>
          <a:p xmlns:a="http://schemas.openxmlformats.org/drawingml/2006/main">
            <a:r>
              <a:t>四用例降到 2.733 秒，峰值内存约 394 MB。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单节点优化后，剩余瓶颈主要是输出和可并行帧规模，因此自然考虑多节点。</a:t>
            </a:r>
          </a:p>
          <a:p xmlns:a="http://schemas.openxmlformats.org/drawingml/2006/main">
            <a:r>
              <a:t>每个 rank 处理连续帧区间，只读取所需 PCM，计算后写不重叠输出列。</a:t>
            </a:r>
          </a:p>
          <a:p xmlns:a="http://schemas.openxmlformats.org/drawingml/2006/main">
            <a:r>
              <a:t>最终三节点 exp009 为 2.186 秒。两节点旧路径 3.083 秒，说明增加节点并不自动变快。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GPU 路线的计算本身不慢，但完整进程计时包含初始化、H2D、D2H、同步和文件写入。</a:t>
            </a:r>
          </a:p>
          <a:p xmlns:a="http://schemas.openxmlformats.org/drawingml/2006/main">
            <a:r>
              <a:t>exp006 的每 rank 输入读取只有约 0.093 秒，输出写入达到 0.28 到 0.49 秒。</a:t>
            </a:r>
          </a:p>
          <a:p xmlns:a="http://schemas.openxmlformats.org/drawingml/2006/main">
            <a:r>
              <a:t>CPU+GPU 异构没有形成净收益，因为内存竞争和尾部等待超过了分担收益。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最终保留两个成果：单节点 exp008 为 2.733 秒，三节点 exp009 为 2.186 秒。</a:t>
            </a:r>
          </a:p>
          <a:p xmlns:a="http://schemas.openxmlformats.org/drawingml/2006/main">
            <a:r>
              <a:t>两者都通过官方四用例。相对原实现的数字使用 1M 样本前缀，不与完整四例加速混用。</a:t>
            </a:r>
          </a:p>
          <a:p xmlns:a="http://schemas.openxmlformats.org/drawingml/2006/main">
            <a:r>
              <a:t>参考来源包括题源文件、CUDA、cuFFT、OpenMP、GCC 和 Slurm 官方文档。OpenAI Codex（GPT-5）辅助实现和整理，所有性能数据来自实际作业。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Q&amp;A 先确认问题的比较口径。</a:t>
            </a:r>
          </a:p>
          <a:p xmlns:a="http://schemas.openxmlformats.org/drawingml/2006/main">
            <a:r>
              <a:t>完整四用例、1M 原实现对照和新旧版本比较不能混用。</a:t>
            </a:r>
          </a:p>
          <a:p xmlns:a="http://schemas.openxmlformats.org/drawingml/2006/main">
            <a:r>
              <a:t>更详细的答案在 docs/presentation-script.md 的 Q&amp;A 速查部分。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aa202399db40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4dc4fd1f8b474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0e09eaa4aa4dc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a12a97d28b455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5f4f01737e4b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69fdc3cc9d45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A39979-F9DF-48FC-BF7F-AC5F24D3E9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BC964D9-6022-43ED-B198-024A9CDB2CF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0C8379F-A1BD-4753-ACD0-684D79C4A4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7A7F63-C4A3-4C04-AF94-4B0BAEF901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72BACBB-0D8F-45DC-814D-11AA7E58B4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B201824-8883-4448-AEFE-24B458C92B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620101-A5FD-41C6-BA65-0C6599BD56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33D6308-2ED7-41B2-9676-96EA631867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3401E7-5BC7-4BD5-BC18-27BFFC06FC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E6632F-F9E2-407A-A43A-02AB968368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dbf5dfeca14ff7" /><Relationship Type="http://schemas.openxmlformats.org/officeDocument/2006/relationships/slideLayout" Target="/ppt/slideLayouts/slideLayout1.xml" Id="R567090e7cf294a07" /><Relationship Type="http://schemas.openxmlformats.org/officeDocument/2006/relationships/slideLayout" Target="/ppt/slideLayouts/slideLayout2.xml" Id="Re5282ef852e6448f" /><Relationship Type="http://schemas.openxmlformats.org/officeDocument/2006/relationships/slideLayout" Target="/ppt/slideLayouts/slideLayout3.xml" Id="R0dc73bb9228d4fa9" /><Relationship Type="http://schemas.openxmlformats.org/officeDocument/2006/relationships/slideLayout" Target="/ppt/slideLayouts/slideLayout4.xml" Id="R5c6efc93ce074136" /><Relationship Type="http://schemas.openxmlformats.org/officeDocument/2006/relationships/slideLayout" Target="/ppt/slideLayouts/slideLayout5.xml" Id="R5dc25423c6f94c32" /><Relationship Type="http://schemas.openxmlformats.org/officeDocument/2006/relationships/slideLayout" Target="/ppt/slideLayouts/slideLayout6.xml" Id="R9be641b70fc041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7090e7cf294a07"/>
    <p:sldLayoutId xmlns:r="http://schemas.openxmlformats.org/officeDocument/2006/relationships" id="2147483650" r:id="Re5282ef852e6448f"/>
    <p:sldLayoutId xmlns:r="http://schemas.openxmlformats.org/officeDocument/2006/relationships" id="2147483651" r:id="R0dc73bb9228d4fa9"/>
    <p:sldLayoutId xmlns:r="http://schemas.openxmlformats.org/officeDocument/2006/relationships" id="2147483652" r:id="R5c6efc93ce074136"/>
    <p:sldLayoutId xmlns:r="http://schemas.openxmlformats.org/officeDocument/2006/relationships" id="2147483653" r:id="R5dc25423c6f94c32"/>
    <p:sldLayoutId xmlns:r="http://schemas.openxmlformats.org/officeDocument/2006/relationships" id="2147483654" r:id="R9be641b70fc041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Melspec Review">
      <a:dk1>
        <a:srgbClr val="000000"/>
      </a:dk1>
      <a:lt1>
        <a:srgbClr val="FFFFFF"/>
      </a:lt1>
      <a:dk2>
        <a:srgbClr val="14243A"/>
      </a:dk2>
      <a:lt2>
        <a:srgbClr val="D7DEE8"/>
      </a:lt2>
      <a:accent1>
        <a:srgbClr val="2E90FA"/>
      </a:accent1>
      <a:accent2>
        <a:srgbClr val="12B76A"/>
      </a:accent2>
      <a:accent3>
        <a:srgbClr val="F79009"/>
      </a:accent3>
      <a:accent4>
        <a:srgbClr val="D92D20"/>
      </a:accent4>
      <a:accent5>
        <a:srgbClr val="7F56D9"/>
      </a:accent5>
      <a:accent6>
        <a:srgbClr val="0BA5EC"/>
      </a:accent6>
      <a:hlink>
        <a:srgbClr val="2E90FA"/>
      </a:hlink>
      <a:folHlink>
        <a:srgbClr val="7F56D9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elspec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cb3c036c194086" /><Relationship Type="http://schemas.openxmlformats.org/officeDocument/2006/relationships/notesSlide" Target="/ppt/notesSlides/notesSlide1.xml" Id="Recbb121abf5942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ad9be8b8ca4094" /><Relationship Type="http://schemas.openxmlformats.org/officeDocument/2006/relationships/notesSlide" Target="/ppt/notesSlides/notesSlide2.xml" Id="R54e04217b09143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73b2db628141f8" /><Relationship Type="http://schemas.openxmlformats.org/officeDocument/2006/relationships/notesSlide" Target="/ppt/notesSlides/notesSlide3.xml" Id="R45396f25a56942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ede2059a0f4685" /><Relationship Type="http://schemas.openxmlformats.org/officeDocument/2006/relationships/notesSlide" Target="/ppt/notesSlides/notesSlide4.xml" Id="Rda5de4ada77647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d72d4d51b84b2e" /><Relationship Type="http://schemas.openxmlformats.org/officeDocument/2006/relationships/notesSlide" Target="/ppt/notesSlides/notesSlide5.xml" Id="R4d1903c8ed9443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0682ac736844a1" /><Relationship Type="http://schemas.openxmlformats.org/officeDocument/2006/relationships/notesSlide" Target="/ppt/notesSlides/notesSlide6.xml" Id="Rb6837ed4e9664a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ba039aa13e4340" /><Relationship Type="http://schemas.openxmlformats.org/officeDocument/2006/relationships/notesSlide" Target="/ppt/notesSlides/notesSlide7.xml" Id="R1eb03532469a45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57e150318644e7" /><Relationship Type="http://schemas.openxmlformats.org/officeDocument/2006/relationships/chart" Target="/ppt/slides/charts/chart1.xml" Id="Rca4feac06b9c46d5" /><Relationship Type="http://schemas.openxmlformats.org/officeDocument/2006/relationships/notesSlide" Target="/ppt/notesSlides/notesSlide8.xml" Id="Rdd8aee870b4e49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3d0bfff1b440a9" /><Relationship Type="http://schemas.openxmlformats.org/officeDocument/2006/relationships/notesSlide" Target="/ppt/notesSlides/notesSlide9.xml" Id="R05f02a75819443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d5665679f945d5" /><Relationship Type="http://schemas.openxmlformats.org/officeDocument/2006/relationships/notesSlide" Target="/ppt/notesSlides/notesSlide10.xml" Id="Ra75c9328c7cd467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四用例合计</c:v>
          </c:tx>
          <c:spPr>
            <a:solidFill xmlns:a="http://schemas.openxmlformats.org/drawingml/2006/main">
              <a:srgbClr val="2E90FA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F79009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006 两节点纯 GPU</c:v>
                </c:pt>
                <c:pt idx="1">
                  <c:v>002 单节点双 GPU</c:v>
                </c:pt>
                <c:pt idx="2">
                  <c:v>005 两节点 CPU+GPU</c:v>
                </c:pt>
                <c:pt idx="3">
                  <c:v>003 单节点 CPU+GPU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4.024</c:v>
                </c:pt>
                <c:pt idx="1">
                  <c:v>5.164</c:v>
                </c:pt>
                <c:pt idx="2">
                  <c:v>5.179</c:v>
                </c:pt>
                <c:pt idx="3">
                  <c:v>5.207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4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C8BC9-268E-4C0F-B796-3F2BE052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rPr>
              <a:t>2026 秋季招新题  /  Melspec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EB259-8A3C-4865-8B37-478C64A3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Melspec 性能优化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57AE6-CBA0-428A-8297-B648DFA6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从原始实现到单节点和三节点 CPU 最终方案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791C8-C8F7-43A4-84CB-ED175DE1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DA2C2-F019-4335-9CDD-4934F83E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790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exp008  2.733 s      exp009  2.186 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04E6D-CCE1-4A00-B1FA-F818EF39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官方四用例 4/4 PASS  /  三节点相对 exp001 1.728x</a:t>
            </a:r>
          </a:p>
        </p:txBody>
      </p:sp>
    </p:spTree>
    <p:extLst>
      <p:ext uri="{BB962C8B-B14F-4D97-AF65-F5344CB8AC3E}">
        <p14:creationId xmlns:p14="http://schemas.microsoft.com/office/powerpoint/2010/main" val="7715649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mark-2">
            <a:extLst xmlns:a="http://schemas.openxmlformats.org/drawingml/2006/main">
              <a:ext uri="{FF2B5EF4-FFF2-40B4-BE49-F238E27FC236}">
                <a16:creationId xmlns:a16="http://schemas.microsoft.com/office/drawing/2014/main" id="{549DB44A-D7C9-4F13-804C-B34C8293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8D92CD04-6A20-4AD9-829D-69C882C3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exp001–009 结果总览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6B561905-E155-494F-92C6-D03E6E23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完整四用例取三次最小值，统一以 exp001 T=64 的 3.777 s 为基线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0A0B1-9723-42CD-83F6-8BE03B9D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316EEEF0-5914-481D-B6F5-2EB521DC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A7420-17C5-486D-81EA-C049D3B5412E}"/>
              </a:ext>
            </a:extLst>
          </p:cNvPr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10820400" cy="4095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1" bandCol="0"/>
              <a:tblGrid>
                <a:gridCol w="666750"/>
                <a:gridCol w="7391400"/>
                <a:gridCol w="1428750"/>
                <a:gridCol w="1333500"/>
              </a:tblGrid>
              <a:tr h="409575">
                <a:tc>
                  <a:txBody>
                    <a:bodyPr/>
                    <a:lstStyle/>
                    <a:p>
                      <a:r>
                        <a:t>实验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一句话思路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四例合计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相对 001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t>001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打包实数 FFT、稀疏 Mel、SIMD、OpenMP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3.777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1.000x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t>002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单节点双 GPU，cuFFT D2Z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5.164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0.731x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t>003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单节点 CPU + 双 GPU 异构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5.207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0.725x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t>004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多节点 CPU，本地帧区间与 pwrite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2.533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1.491x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t>005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两节点 CPU+GPU 异构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5.179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0.729x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t>006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两节点纯 GPU，CPU 不参与帧计算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4.024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0.939x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t>007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阶段 profile，不改变算法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profile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基线分析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t>008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单节点最终：更短的数据路径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2.733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1.382x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t>009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三节点最终：本地读、并行算、分布写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2.186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1.728x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03B37-47DE-417F-9478-70DE41E0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最终保留 exp008 与 exp009。完整原始实现对照都在同一 1M 样本前缀上测量。</a:t>
            </a:r>
          </a:p>
        </p:txBody>
      </p:sp>
    </p:spTree>
    <p:extLst>
      <p:ext uri="{BB962C8B-B14F-4D97-AF65-F5344CB8AC3E}">
        <p14:creationId xmlns:p14="http://schemas.microsoft.com/office/powerpoint/2010/main" val="9408326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ection-mark-3">
            <a:extLst xmlns:a="http://schemas.openxmlformats.org/drawingml/2006/main">
              <a:ext uri="{FF2B5EF4-FFF2-40B4-BE49-F238E27FC236}">
                <a16:creationId xmlns:a16="http://schemas.microsoft.com/office/drawing/2014/main" id="{388E94B8-B7C3-4D62-BB26-76537F96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C05A24B-E66B-4418-84BF-46710F24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代码演进关系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1A54B795-C9BF-454E-BA3C-A7C09D1B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蓝线是直接包含或主要演化，灰线是设计复用与对照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A93C1-F96D-4288-B4DD-EAE6E533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7AE39F67-0959-4B1F-9D92-486DF1AB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FA445-5FC6-4DE2-AAF5-CAF674C0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baseline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src/melspec.cpp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4F872-1B01-41E9-B8E6-EE6E3636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exp001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CPU 核心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E80CF-A747-4471-B160-43A59A4D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00125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exp002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双 GPU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989EE-1425-4E20-BE2A-C4D6C85B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00125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exp003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CPU+GPU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7B159-F71B-4D5D-8363-5B3E897F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000125"/>
            <a:ext cx="1476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exp005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多节点异构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CAAADA-C4B8-4446-8917-12565926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43125"/>
            <a:ext cx="1476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exp006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纯 GPU 对照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700D9-F0FF-40C7-A5E8-B8E06D95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exp004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多节点 CPU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A606E-5DE2-4622-9DCB-D1EE4ADE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62375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exp007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7496D7-11FC-4D17-A981-6CEE474A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62375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28575">
            <a:solidFill>
              <a:srgbClr val="12B76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exp008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单节点最终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AC75D-32D6-41B4-9473-7A360D80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95875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28575">
            <a:solidFill>
              <a:srgbClr val="12B76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exp009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三节点最终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AA51C-53EC-4CE0-8131-EAE5AFEF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860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FA0744-0EC0-4234-9CCB-1577B68D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955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579FE0-ED9B-4E1E-8E80-838BFEF2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14450"/>
            <a:ext cx="285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489A77-7B4B-4BB2-8248-6B82E284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314450"/>
            <a:ext cx="447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30070E-1510-4519-A084-1483C507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C0EC57-6EA2-41EE-88F0-B1B6837F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DEBB12-FB07-49D1-A326-32FA6306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62877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06A549-36DA-4483-8664-CF0AC10E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051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B52177-429D-4E3B-A2EA-BB10FB91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05100"/>
            <a:ext cx="285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D642CE-96A4-47B4-84A7-F1E84468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9087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29D3B1-A21C-43B8-88CE-66DB72A7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9900"/>
            <a:ext cx="2857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72D461-45D9-4A40-AC3F-D245E0ED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19500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34A2C2-F2F8-420E-AF5C-D63BA34A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0"/>
            <a:ext cx="190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3960B5-57BC-479F-BB75-EAD711A0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767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D87106-1FBC-47E6-8ECF-D8E26F92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91025"/>
            <a:ext cx="285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390E4E-6A50-475E-9C2B-D4D38D9C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7182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20F73D-1010-45D8-B447-81943351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71825"/>
            <a:ext cx="190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4F2BE1-7F74-4099-B716-99920E6B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410200"/>
            <a:ext cx="390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70EB78-2536-463D-B834-26B66206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CUDA 移植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243175-C5E5-453C-8E16-CCE68404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812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多节点分支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0CE85D-04F1-449C-829C-6876D6A2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194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#include 001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85ED17-0F20-4271-BDF4-E9767FBC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718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profile 分支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1E1459-5303-42B3-8CAA-D4E95A5A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576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profile 数据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18F782-6C12-4C4D-8691-FA5CC0FE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434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#include 008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545334-51B4-4A2F-8E0B-90C36E6D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622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分发设计复用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A91707-05B8-457C-95A3-825D8D16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859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两节点 GPU 对照</a:t>
            </a:r>
          </a:p>
        </p:txBody>
      </p:sp>
    </p:spTree>
    <p:extLst>
      <p:ext uri="{BB962C8B-B14F-4D97-AF65-F5344CB8AC3E}">
        <p14:creationId xmlns:p14="http://schemas.microsoft.com/office/powerpoint/2010/main" val="1575742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mark-4">
            <a:extLst xmlns:a="http://schemas.openxmlformats.org/drawingml/2006/main">
              <a:ext uri="{FF2B5EF4-FFF2-40B4-BE49-F238E27FC236}">
                <a16:creationId xmlns:a16="http://schemas.microsoft.com/office/drawing/2014/main" id="{DF8B98F3-0E84-41CD-9F5A-0F11E497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79F8A84B-5A19-4254-911F-0281FEAC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原始参考实现的问题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B19CB416-6BFD-4956-BEDF-3092434C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实现正确，但热路径存在重复计算、乘零和大块内存流量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7EF0A-0EEF-4D17-B784-67DFD4C2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FC7121DF-961F-4E3D-B361-51F6B94B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4B9FE-7763-4663-BD1F-D0F0CCFA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CC125-21DA-402E-B715-92732816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09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重复准备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A43C9-0C7C-42B2-95C1-E199A97D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02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每帧重新分配、位反转，并重复计算 twiddle 的 cos / sin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36AED-DBE1-4D91-A375-7BE12233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BEA24-24FC-43B2-B047-03BDD54E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5C6629-46C0-4332-8647-542B8948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479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全长度复数 FFT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DD73A-9F1F-4B63-BB97-4940A387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384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实数输入仍执行 n_fft 复数 FFT，没有利用共轭对称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32651-0325-45BA-9EB5-FE22AE47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5DDAD-B56B-4C6A-8021-6FDBA5B9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9F4D75-B650-4650-BDA0-62DED434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86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稠密 Mel 投影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DB1787-F2A6-4A40-A684-DAEE5F4B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7667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遍历所有频率箱并乘零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FABEF0-06BE-4F62-BF99-A3560750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794CA1-C196-475A-A0F2-A7FFCAE0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8E851-CE33-4331-B20D-72313815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244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完整功率谱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E1FA3A-CDEC-4A48-9078-1A28D212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149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default double 功率谱约 6.3 GB，跨行访问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F2E6CF-80FE-46C9-989A-7D4791D9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同口径 1M default：61.663 s 降至 0.084 s，exp001 加速 731.206x</a:t>
            </a:r>
          </a:p>
        </p:txBody>
      </p:sp>
    </p:spTree>
    <p:extLst>
      <p:ext uri="{BB962C8B-B14F-4D97-AF65-F5344CB8AC3E}">
        <p14:creationId xmlns:p14="http://schemas.microsoft.com/office/powerpoint/2010/main" val="6980831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mark-5">
            <a:extLst xmlns:a="http://schemas.openxmlformats.org/drawingml/2006/main">
              <a:ext uri="{FF2B5EF4-FFF2-40B4-BE49-F238E27FC236}">
                <a16:creationId xmlns:a16="http://schemas.microsoft.com/office/drawing/2014/main" id="{D1DF4F9A-9C49-4DF7-8C41-137E0B3D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F0A1CE2-B560-449C-99D1-687F7048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exp001 的算法优化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ED17382B-24D0-4CB7-9AB7-F2B29346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用半长度 FFT、稀疏 Mel 和并行分块消除主要浪费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3DF1B-E7BF-47F4-B35F-B03B3336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779D82F0-0CC7-4C42-B5D3-DF8C04B7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A2333-2254-4A02-BEF6-46E0C2A5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17D82-CA9D-4770-9165-E4D0B4A3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5262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打包实数 FFT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F75B6-BE20-407A-8A53-8910AB13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717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核心 FFT 长度从 n_fft 降到 n_fft/2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2B6D4-B979-43E8-AB15-66D8B6E3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19CB7-EE4A-4A79-8381-30F95804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3D730-A72E-4577-8C7F-016F4893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623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稀疏 Mel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0494E-E71B-463F-B3F5-C4C5EB32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814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只遍历三角滤波器的非零区间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E98F0-A85E-4623-9BD7-2F0F31E6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E1972-5CE0-47AC-97AC-F188DD4B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2D18C-DCB6-4386-AF1B-D00686BD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7197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分块与并行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32448A-5A57-4A04-80D8-7BEB4568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9107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复用 FFT plan、线程工作区、SIMD 与 OpenMP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7D39E-9EEB-485A-A6A0-1CE80440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3362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rPr>
              <a:t>3.777 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76566D-FC5F-46AD-AE3A-0685E35D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003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64 线程四用例合计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093085-6181-4DE9-A7C3-B074543B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5287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731.206x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2498BC-D102-4142-8E76-70B2E4CD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196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原实现 1M 样本加速</a:t>
            </a:r>
          </a:p>
        </p:txBody>
      </p:sp>
    </p:spTree>
    <p:extLst>
      <p:ext uri="{BB962C8B-B14F-4D97-AF65-F5344CB8AC3E}">
        <p14:creationId xmlns:p14="http://schemas.microsoft.com/office/powerpoint/2010/main" val="792051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mark-6">
            <a:extLst xmlns:a="http://schemas.openxmlformats.org/drawingml/2006/main">
              <a:ext uri="{FF2B5EF4-FFF2-40B4-BE49-F238E27FC236}">
                <a16:creationId xmlns:a16="http://schemas.microsoft.com/office/drawing/2014/main" id="{5B4346E2-CB82-4833-9EA5-EDDEE88C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6F4B2534-4C4A-4986-A548-75F2CE0F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exp008：单节点最终方案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DDB2E065-B866-48A5-B99F-56578E18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保持数学不变，只缩短数据路径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68764-FDEE-4425-86B9-4A4A67A6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2077A859-575E-46DE-A7FB-12A679DE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DF179-D216-4041-B87B-97E66FE4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809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读取</a:t>
            </a:r>
          </a:p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 PCM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9C114-2480-4736-BC27-877556FB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1457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7E062-436A-4B53-8FCB-EB8C9B26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1809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归一化</a:t>
            </a:r>
          </a:p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64 threads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C6C67-A559-4F1E-8EA1-2B502C70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1457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69707-8150-4814-8F25-5AEBA3FF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1809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F790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direct float32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45B23-1F54-4E27-BD7C-3FE59541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1457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6D76B3-F28F-4F30-82F5-92C750B1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09750"/>
            <a:ext cx="1809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写入</a:t>
            </a:r>
          </a:p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single 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439B3-CEA6-4268-9C69-75A0EFFF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2.733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A7C90-D636-43E7-BA06-D0E36DA9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四用例合计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9626A4-D544-4009-B6CE-A80824D9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1.382x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792C4F-1A0E-403C-BE86-C672E930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05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相对 exp001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084B91-4B18-4E03-885E-ABFED677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1427.391x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46CD80-6C42-46DD-BFE7-7E9B6081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原实现 1M 样本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DF6992-BE7C-444D-9C2D-CB4DF0F5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删除完整 double 输出矩阵和 tile staging，峰值 RSS 约 394 MB。</a:t>
            </a:r>
          </a:p>
        </p:txBody>
      </p:sp>
    </p:spTree>
    <p:extLst>
      <p:ext uri="{BB962C8B-B14F-4D97-AF65-F5344CB8AC3E}">
        <p14:creationId xmlns:p14="http://schemas.microsoft.com/office/powerpoint/2010/main" val="7101233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mark-7">
            <a:extLst xmlns:a="http://schemas.openxmlformats.org/drawingml/2006/main">
              <a:ext uri="{FF2B5EF4-FFF2-40B4-BE49-F238E27FC236}">
                <a16:creationId xmlns:a16="http://schemas.microsoft.com/office/drawing/2014/main" id="{FE0A656F-3559-420D-8EB0-4ECCFF00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7FFEB34B-7390-4FB3-8FED-72E00C75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单节点到多节点</a:t>
            </a: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FE9FC270-9635-4571-B244-FC036285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计算路径稳定后，把连续帧区间拆给不同节点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BA192-F4CE-470B-891C-6E25F959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7">
            <a:extLst xmlns:a="http://schemas.openxmlformats.org/drawingml/2006/main">
              <a:ext uri="{FF2B5EF4-FFF2-40B4-BE49-F238E27FC236}">
                <a16:creationId xmlns:a16="http://schemas.microsoft.com/office/drawing/2014/main" id="{DB09373D-92D7-4599-AA13-DF503BAB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C6FD7-CE29-4661-9A61-914C7FF8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62250"/>
            <a:ext cx="7286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CDBE2-1298-46A8-A901-CD391104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62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9568B-54DE-438F-A5B1-1E31FB10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1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2B45E-0803-4EBF-A479-9494A6AB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exp008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19AE3-B735-4E1E-BFF5-C203446B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004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单节点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BC663-3202-4166-A660-1EB83182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2.733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AA7C7F-D036-422E-8CA5-C8504D22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62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A7942-86FE-4701-83DC-CA8625EE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1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38690-F7D7-40D7-B6D6-931F9594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764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exp004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C58D15-80BB-45C4-94FD-E851FF36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004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两节点 CPU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A0A694-11A7-468F-B827-9C156332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6004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3.083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3FAFD2-8CD9-4154-82E7-4B1881A7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62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1F3DF8-A7B6-4F16-B798-F20CC6B8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1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50DFB2-194A-462C-A501-537C2F1F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764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exp004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B017A9-3EDE-4FE3-8BB2-91974559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2004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三节点 CPU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4CB29F-4821-4DDB-83A0-83C20AE8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004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2.533 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9EAD2B-8091-4B85-9C2C-23DA9D24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62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72DB93-44B7-497C-A881-517C481A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1937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76CE7D-3C05-4DEE-B4B6-95FD6709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764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exp009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F26EBF-6C3D-449B-8D83-3A0A9BBC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00400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三节点最终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7C67D6-1077-4896-BA63-852D7EEC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004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ctr">
              <a:defRPr sz="16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2.186 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C13179-42F5-49BF-8FD5-BF6F9C89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连续帧按节点划分，每 rank 只读自己的 PCM 区间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每 rank 独立计算，并用 pwrite 写输出矩阵的不重叠列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原生 Slurm 协调避免 MPI 启动成本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两节点旧路径没有超过 exp008，三节点才形成明显收益</a:t>
            </a:r>
          </a:p>
        </p:txBody>
      </p:sp>
    </p:spTree>
    <p:extLst>
      <p:ext uri="{BB962C8B-B14F-4D97-AF65-F5344CB8AC3E}">
        <p14:creationId xmlns:p14="http://schemas.microsoft.com/office/powerpoint/2010/main" val="13655801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mark-8">
            <a:extLst xmlns:a="http://schemas.openxmlformats.org/drawingml/2006/main">
              <a:ext uri="{FF2B5EF4-FFF2-40B4-BE49-F238E27FC236}">
                <a16:creationId xmlns:a16="http://schemas.microsoft.com/office/drawing/2014/main" id="{2D24617F-9297-4406-A7C2-C913E6B6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475C037D-D8AC-49B8-98ED-D2EA5D70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GPU 与 CPU+GPU 为什么没有胜出</a:t>
            </a: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08B4650B-FF43-4AA8-8FC7-1E99CEDE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计算不是主要瓶颈，数据搬运、同步和输出写入占了大部分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3781E-BC5D-45BB-89E5-D53C5F69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515F59DA-F6D2-4A26-BD87-3824CBB0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08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CEFEF2D9-F3F8-44B9-97E2-D323A80EE630}"/>
              </a:ext>
            </a:extLst>
          </p:cNvPr>
          <p:cNvGraphicFramePr/>
          <p:nvPr/>
        </p:nvGraphicFramePr>
        <p:xfrm>
          <a:off xmlns:a="http://schemas.openxmlformats.org/drawingml/2006/main" x="685800" y="1790700"/>
          <a:ext xmlns:a="http://schemas.openxmlformats.org/drawingml/2006/main" cx="604837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4feac06b9c46d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444D14-B9A9-407A-937F-8F25685F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90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exp006 的 default profile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47790-B09F-4D1A-8E82-3899515A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PCM 读取约 0.093 s，输入不是主要瓶颈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GPU 路径含 H2D、kernel、D2H 和同步，约 0.16 到 0.23 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每 1024 帧一次同步，每 rank 约 94 次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共享输出写入约 0.28 到 0.49 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CPU+GPU 还会竞争内存带宽，尾部取决于较慢一侧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282B7-82D1-4676-91AC-8BAB0278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340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结论：GPU 算术不是主要瓶颈，端到端损失在搬运、同步和输出 I/O。</a:t>
            </a:r>
          </a:p>
        </p:txBody>
      </p:sp>
    </p:spTree>
    <p:extLst>
      <p:ext uri="{BB962C8B-B14F-4D97-AF65-F5344CB8AC3E}">
        <p14:creationId xmlns:p14="http://schemas.microsoft.com/office/powerpoint/2010/main" val="10689721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F1E69-C110-47E3-91C0-70E23FAE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36994-C50C-4D1C-AED9-837DE379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两个最终成果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F7C17-3D4F-4605-9D68-C6A7ABDB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rPr>
              <a:t>exp008  单节点最终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37229-D6AE-4300-BDA9-BD240F18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2.733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DB194-AB16-41B6-8CB6-DE5869C8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相对 001 1.382x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12CDE-D08D-41D7-A675-9625830C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原实现 1M 1427.391x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AE17C-E958-4459-A864-6E0B0451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52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rPr>
              <a:t>exp009  三节点最终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386AC-7F42-4235-AFA8-9E3872D0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4792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2.186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8C7DB-A400-4370-887B-FF512940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57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相对 001 1.728x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9E587-E95A-4057-8930-F4166538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19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原实现 1M 156.271x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9145A-3CAF-40A0-9788-09FAC695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58FB18-58A4-4E84-B7E3-583260E4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两个方案均 4/4 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1013C7-9AE8-4653-974B-374A0C9F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参考：项目 README / 原始 C++ 与 Python 实现 / NVIDIA cuFFT 与 CUDA / OpenMP / GCC / Slurm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42E8DF-C3D9-442F-8A0D-D45056F6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AI：OpenAI Codex（GPT-5）辅助分析、实现草稿、实验编排和材料整理，性能数据均来自真实 Slurm 作业</a:t>
            </a:r>
          </a:p>
        </p:txBody>
      </p:sp>
    </p:spTree>
    <p:extLst>
      <p:ext uri="{BB962C8B-B14F-4D97-AF65-F5344CB8AC3E}">
        <p14:creationId xmlns:p14="http://schemas.microsoft.com/office/powerpoint/2010/main" val="17749378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mark-10">
            <a:extLst xmlns:a="http://schemas.openxmlformats.org/drawingml/2006/main">
              <a:ext uri="{FF2B5EF4-FFF2-40B4-BE49-F238E27FC236}">
                <a16:creationId xmlns:a16="http://schemas.microsoft.com/office/drawing/2014/main" id="{2F1189A4-7E07-40A6-B305-E036B22B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3DB2C69B-5275-427F-8683-5045A433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Q&amp;A：重点追问</a:t>
            </a:r>
          </a:p>
        </p:txBody>
      </p:sp>
      <p:sp>
        <p:nvSpPr>
          <p:cNvPr id="3" name="subtitle-10">
            <a:extLst xmlns:a="http://schemas.openxmlformats.org/drawingml/2006/main">
              <a:ext uri="{FF2B5EF4-FFF2-40B4-BE49-F238E27FC236}">
                <a16:creationId xmlns:a16="http://schemas.microsoft.com/office/drawing/2014/main" id="{DA858F59-3286-4FD2-902B-98D9691F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先确认问题口径，再给结论、数字和日志位置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730A5-1F81-4450-ABF2-8CD424C6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0">
            <a:extLst xmlns:a="http://schemas.openxmlformats.org/drawingml/2006/main">
              <a:ext uri="{FF2B5EF4-FFF2-40B4-BE49-F238E27FC236}">
                <a16:creationId xmlns:a16="http://schemas.microsoft.com/office/drawing/2014/main" id="{1259F8CD-48AA-4827-AE15-E1814E10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D5B0F-04C6-4301-949F-CD8B5B4E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Q&amp;A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CAFD5-F777-4789-9B82-E7253605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逐页讲稿与 15 组 Q&amp;A 速查见 docs/presentation-script.md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3E511-3945-4833-BCA0-960D4D96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47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基线为什么慢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2592C-9536-4F56-9BC8-24981D8A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47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重复准备、全长度 FFT、稠密 Mel、6.3 GB 功率谱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77A67-08DA-40F4-A553-2453FA19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479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GPU 为什么慢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CD2A61-7DBB-44B2-9EF1-B4796B56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4797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输入 I/O 不是主因，成本在 H2D/D2H、同步和输出写入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B66A52-32A8-40AA-91CB-9CDFDA9F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48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数字怎么读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0E8C2D-C0DD-44DC-82DC-BB0600DD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8481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1.728x 是完整四例；1427.391x 与 156.271x 是 1M 前缀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7DDB27-5003-4704-AFB0-A14D156E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482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如何复现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A1C69-5FEA-4151-B0ED-E515AE19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482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默认 make 构建 exp008；make final-three-node 构建 exp009</a:t>
            </a:r>
          </a:p>
        </p:txBody>
      </p:sp>
    </p:spTree>
    <p:extLst>
      <p:ext uri="{BB962C8B-B14F-4D97-AF65-F5344CB8AC3E}">
        <p14:creationId xmlns:p14="http://schemas.microsoft.com/office/powerpoint/2010/main" val="1192985122"/>
      </p:ext>
    </p:extLst>
  </p:cSld>
</p:sld>
</file>

<file path=ppt/theme/theme1.xml><?xml version="1.0" encoding="utf-8"?>
<a:theme xmlns:a="http://schemas.openxmlformats.org/drawingml/2006/main" name="ChatGPT">
  <a:themeElements>
    <a:clrScheme name="Melspec Review">
      <a:dk1>
        <a:srgbClr val="000000"/>
      </a:dk1>
      <a:lt1>
        <a:srgbClr val="FFFFFF"/>
      </a:lt1>
      <a:dk2>
        <a:srgbClr val="14243A"/>
      </a:dk2>
      <a:lt2>
        <a:srgbClr val="D7DEE8"/>
      </a:lt2>
      <a:accent1>
        <a:srgbClr val="2E90FA"/>
      </a:accent1>
      <a:accent2>
        <a:srgbClr val="12B76A"/>
      </a:accent2>
      <a:accent3>
        <a:srgbClr val="F79009"/>
      </a:accent3>
      <a:accent4>
        <a:srgbClr val="D92D20"/>
      </a:accent4>
      <a:accent5>
        <a:srgbClr val="7F56D9"/>
      </a:accent5>
      <a:accent6>
        <a:srgbClr val="0BA5EC"/>
      </a:accent6>
      <a:hlink>
        <a:srgbClr val="2E90FA"/>
      </a:hlink>
      <a:folHlink>
        <a:srgbClr val="7F56D9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elspec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2026-10-31T07:55:30.1150000Z</dcterms:created>
  <dcterms:modified xsi:type="dcterms:W3CDTF">2026-10-31T07:55:30.1150000Z</dcterms:modified>
</coreProperties>
</file>