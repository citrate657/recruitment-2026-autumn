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4e5a35911349ee" /><Relationship Type="http://schemas.openxmlformats.org/officeDocument/2006/relationships/extended-properties" Target="/docProps/app.xml" Id="R1243424431d9425a" /><Relationship Type="http://schemas.openxmlformats.org/officeDocument/2006/relationships/officeDocument" Target="/ppt/presentation.xml" Id="R73dd867d7b2a40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b48b61b8454dc8"/>
  </p:sldMasterIdLst>
  <p:notesMasterIdLst>
    <p:notesMasterId xmlns:r="http://schemas.openxmlformats.org/officeDocument/2006/relationships" r:id="R849259f96dca435d"/>
  </p:notesMasterIdLst>
  <p:sldIdLst>
    <p:sldId xmlns:r="http://schemas.openxmlformats.org/officeDocument/2006/relationships" id="256" r:id="Ra9d486e9191c4301"/>
    <p:sldId xmlns:r="http://schemas.openxmlformats.org/officeDocument/2006/relationships" id="257" r:id="R8ca986eb2fe64266"/>
    <p:sldId xmlns:r="http://schemas.openxmlformats.org/officeDocument/2006/relationships" id="258" r:id="R5702f692b9494075"/>
    <p:sldId xmlns:r="http://schemas.openxmlformats.org/officeDocument/2006/relationships" id="259" r:id="R42e88ab201bc4adf"/>
    <p:sldId xmlns:r="http://schemas.openxmlformats.org/officeDocument/2006/relationships" id="260" r:id="Rbe013278eaa843a0"/>
    <p:sldId xmlns:r="http://schemas.openxmlformats.org/officeDocument/2006/relationships" id="261" r:id="Raaac764705b546d7"/>
    <p:sldId xmlns:r="http://schemas.openxmlformats.org/officeDocument/2006/relationships" id="262" r:id="Rac9550da17b8481b"/>
    <p:sldId xmlns:r="http://schemas.openxmlformats.org/officeDocument/2006/relationships" id="263" r:id="Rabf477e03413493d"/>
    <p:sldId xmlns:r="http://schemas.openxmlformats.org/officeDocument/2006/relationships" id="264" r:id="Ra5fab64f20ef4ebc"/>
    <p:sldId xmlns:r="http://schemas.openxmlformats.org/officeDocument/2006/relationships" id="265" r:id="R2a42f187e79a40eb"/>
    <p:sldId xmlns:r="http://schemas.openxmlformats.org/officeDocument/2006/relationships" id="266" r:id="Rc6b3a3e1d26644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bc65505fde4cbc" /><Relationship Type="http://schemas.openxmlformats.org/officeDocument/2006/relationships/slideMaster" Target="/ppt/slideMasters/slideMaster1.xml" Id="R06b48b61b8454dc8" /><Relationship Type="http://schemas.openxmlformats.org/officeDocument/2006/relationships/notesMaster" Target="/ppt/notesMasters/notesMaster1.xml" Id="R849259f96dca435d" /><Relationship Type="http://schemas.openxmlformats.org/officeDocument/2006/relationships/presProps" Target="/ppt/presProps.xml" Id="R998aac02335441f1" /><Relationship Type="http://schemas.openxmlformats.org/officeDocument/2006/relationships/tableStyles" Target="/ppt/tableStyles.xml" Id="R929af36b251e41e7" /><Relationship Type="http://schemas.openxmlformats.org/officeDocument/2006/relationships/slide" Target="/ppt/slides/slide1.xml" Id="Ra9d486e9191c4301" /><Relationship Type="http://schemas.openxmlformats.org/officeDocument/2006/relationships/slide" Target="/ppt/slides/slide2.xml" Id="R8ca986eb2fe64266" /><Relationship Type="http://schemas.openxmlformats.org/officeDocument/2006/relationships/slide" Target="/ppt/slides/slide3.xml" Id="R5702f692b9494075" /><Relationship Type="http://schemas.openxmlformats.org/officeDocument/2006/relationships/slide" Target="/ppt/slides/slide4.xml" Id="R42e88ab201bc4adf" /><Relationship Type="http://schemas.openxmlformats.org/officeDocument/2006/relationships/slide" Target="/ppt/slides/slide5.xml" Id="Rbe013278eaa843a0" /><Relationship Type="http://schemas.openxmlformats.org/officeDocument/2006/relationships/slide" Target="/ppt/slides/slide6.xml" Id="Raaac764705b546d7" /><Relationship Type="http://schemas.openxmlformats.org/officeDocument/2006/relationships/slide" Target="/ppt/slides/slide7.xml" Id="Rac9550da17b8481b" /><Relationship Type="http://schemas.openxmlformats.org/officeDocument/2006/relationships/slide" Target="/ppt/slides/slide8.xml" Id="Rabf477e03413493d" /><Relationship Type="http://schemas.openxmlformats.org/officeDocument/2006/relationships/slide" Target="/ppt/slides/slide9.xml" Id="Ra5fab64f20ef4ebc" /><Relationship Type="http://schemas.openxmlformats.org/officeDocument/2006/relationships/slide" Target="/ppt/slides/slide10.xml" Id="R2a42f187e79a40eb" /><Relationship Type="http://schemas.openxmlformats.org/officeDocument/2006/relationships/slide" Target="/ppt/slides/slide11.xml" Id="Rc6b3a3e1d266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92e138a11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13a89b868d4ca4" /><Relationship Type="http://schemas.openxmlformats.org/officeDocument/2006/relationships/notesMaster" Target="/ppt/notesMasters/notesMaster1.xml" Id="R96619c72bc8542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67db39c9242d0" /><Relationship Type="http://schemas.openxmlformats.org/officeDocument/2006/relationships/notesMaster" Target="/ppt/notesMasters/notesMaster1.xml" Id="R5734d153b01b47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4790d582b466a" /><Relationship Type="http://schemas.openxmlformats.org/officeDocument/2006/relationships/notesMaster" Target="/ppt/notesMasters/notesMaster1.xml" Id="R10ccc1284e9547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a8c4cb2a04552" /><Relationship Type="http://schemas.openxmlformats.org/officeDocument/2006/relationships/notesMaster" Target="/ppt/notesMasters/notesMaster1.xml" Id="Rcf73badbd909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7a0527ddaf44a6" /><Relationship Type="http://schemas.openxmlformats.org/officeDocument/2006/relationships/notesMaster" Target="/ppt/notesMasters/notesMaster1.xml" Id="R3b91f6416f444b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92cdbe07854ecb" /><Relationship Type="http://schemas.openxmlformats.org/officeDocument/2006/relationships/notesMaster" Target="/ppt/notesMasters/notesMaster1.xml" Id="R253a235f34304e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7f3f9da9d24b05" /><Relationship Type="http://schemas.openxmlformats.org/officeDocument/2006/relationships/notesMaster" Target="/ppt/notesMasters/notesMaster1.xml" Id="Re3466a30fb0f42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83f52ed3c045de" /><Relationship Type="http://schemas.openxmlformats.org/officeDocument/2006/relationships/notesMaster" Target="/ppt/notesMasters/notesMaster1.xml" Id="R9571d225e1994e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a69b7a9f0f43d8" /><Relationship Type="http://schemas.openxmlformats.org/officeDocument/2006/relationships/notesMaster" Target="/ppt/notesMasters/notesMaster1.xml" Id="R6372b1128bc345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23d49e28cf4ae0" /><Relationship Type="http://schemas.openxmlformats.org/officeDocument/2006/relationships/notesMaster" Target="/ppt/notesMasters/notesMaster1.xml" Id="R0034bc7d1cac43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f31d7cdfcd4ac8" /><Relationship Type="http://schemas.openxmlformats.org/officeDocument/2006/relationships/notesMaster" Target="/ppt/notesMasters/notesMaster1.xml" Id="R4297b6d4f06d48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本页用于开场。</a:t>
            </a:r>
          </a:p>
          <a:p xmlns:a="http://schemas.openxmlformats.org/drawingml/2006/main">
            <a:r>
              <a:t>汇报覆盖单节点 CPU、单节点 GPU、多节点 CPU 和多节点 GPU 路线，最终以三个节点上的 exp009 作为当前最快结果。</a:t>
            </a:r>
          </a:p>
          <a:p xmlns:a="http://schemas.openxmlformats.org/drawingml/2006/main">
            <a:r>
              <a:t>数据来源为 docs/experiment-report.md 和 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评测框架固定四个用例，每个正式结果运行三次并取最小值。</a:t>
            </a:r>
          </a:p>
          <a:p xmlns:a="http://schemas.openxmlformats.org/drawingml/2006/main">
            <a:r>
              <a:t>性能基线使用 exp001 的 64 线程 spread 结果 3.777 秒。16 线程的 7.572 秒只保留为历史记录，不能用于高估后续优化。</a:t>
            </a:r>
          </a:p>
          <a:p xmlns:a="http://schemas.openxmlformats.org/drawingml/2006/main">
            <a:r>
              <a:t>证据来源：docs/experiment-report.md、logs/cpu-thread-scaling_slurm-275.log。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横向条形图按总耗时从低到高展示全部关键版本。</a:t>
            </a:r>
          </a:p>
          <a:p xmlns:a="http://schemas.openxmlformats.org/drawingml/2006/main">
            <a:r>
              <a:t>exp009 为 2.186 秒，exp004 为 2.533 秒，exp008 为 2.733 秒。GPU 路线最好的是 exp006，4.024 秒。</a:t>
            </a:r>
          </a:p>
          <a:p xmlns:a="http://schemas.openxmlformats.org/drawingml/2006/main">
            <a:r>
              <a:t>证据来源：docs/experiment-report.md 的最终结果表，日志包括 jobs 359、413 和 415。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第一条主线从 exp001 的 CPU 算法出发，在单节点 profiling 后得到 exp008。</a:t>
            </a:r>
          </a:p>
          <a:p xmlns:a="http://schemas.openxmlformats.org/drawingml/2006/main">
            <a:r>
              <a:t>第二条主线先比较 GPU 和异构方案，再转向多节点 CPU。exp004 的三节点结果推动我们把 exp008 的数据路径移植到多节点。</a:t>
            </a:r>
          </a:p>
          <a:p xmlns:a="http://schemas.openxmlformats.org/drawingml/2006/main">
            <a:r>
              <a:t>最终 exp009 同时包含本地 PCM 读取、单 OpenMP 区域和三节点分布写入。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的核心不是换语言，而是让每个阶段只做必要工作。</a:t>
            </a:r>
          </a:p>
          <a:p xmlns:a="http://schemas.openxmlformats.org/drawingml/2006/main">
            <a:r>
              <a:t>实数输入通过打包把核心 FFT 长度减半。Mel 投影删除乘零运算。分块让中间数据留在缓存层级内。</a:t>
            </a:r>
          </a:p>
          <a:p xmlns:a="http://schemas.openxmlformats.org/drawingml/2006/main">
            <a:r>
              <a:t>64 线程 spread 合计 3.777 秒。来源：logs/cpu-thread-scaling_slurm-275.log。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图显示 exp006 是 GPU 路线中最好的，4.024 秒，但仍慢于 64 线程 exp001。</a:t>
            </a:r>
          </a:p>
          <a:p xmlns:a="http://schemas.openxmlformats.org/drawingml/2006/main">
            <a:r>
              <a:t>GPU 计算不慢，问题在于短进程里的启动、搬运、同步和最终输出。</a:t>
            </a:r>
          </a:p>
          <a:p xmlns:a="http://schemas.openxmlformats.org/drawingml/2006/main">
            <a:r>
              <a:t>证据来源：logs/006_multi_node_gpu_only_slurm-410.log、logs/003_cpu_gpu_tuning_slurm-299.log。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exp007 把 default 拆成读取与归一化约 0.20 秒，计算约 0.50 秒，转换与写入约 0.24 秒。</a:t>
            </a:r>
          </a:p>
          <a:p xmlns:a="http://schemas.openxmlformats.org/drawingml/2006/main">
            <a:r>
              <a:t>完整写盘和写入 /dev/null 只差 70 到 90 毫秒，因此先优化主机侧内存和转换路径，收益比直接换磁盘策略更明确。</a:t>
            </a:r>
          </a:p>
          <a:p xmlns:a="http://schemas.openxmlformats.org/drawingml/2006/main">
            <a:r>
              <a:t>证据来源：logs/007_single_node_profile_slurm-412.log。job 411 的 perf 无权限问题已在报告中披露。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 exp001 的 FFT 和 Mel 数学，只修改数据路径。</a:t>
            </a:r>
          </a:p>
          <a:p xmlns:a="http://schemas.openxmlformats.org/drawingml/2006/main">
            <a:r>
              <a:t>并行归一化、单 OpenMP 区域和直接 float32 输出把合计从 3.777 秒降到 2.733 秒，峰值内存降到 394 MB。</a:t>
            </a:r>
          </a:p>
          <a:p xmlns:a="http://schemas.openxmlformats.org/drawingml/2006/main">
            <a:r>
              <a:t>官方四用例全部通过。来源：logs/008_single_node_cpu_slurm-413.log。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使用三个 rank，每个节点读取自己的连续 PCM 区间，再用单 OpenMP 区域直接生成 float32 Mel。</a:t>
            </a:r>
          </a:p>
          <a:p xmlns:a="http://schemas.openxmlformats.org/drawingml/2006/main">
            <a:r>
              <a:t>rank 0 写入 token，其他 rank 确认 token 后并行写入不重叠的帧列。</a:t>
            </a:r>
          </a:p>
          <a:p xmlns:a="http://schemas.openxmlformats.org/drawingml/2006/main">
            <a:r>
              <a:t>四用例合计 2.186 秒，比三节点 exp004 再快 1.159 倍。来源：logs/009_three_node_cpu_slurm-415.log。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的 default profile 中，读取约 0.02 秒，归一化约 0.04 秒，计算约 0.13 秒，分布式写入约 0.28 秒。</a:t>
            </a:r>
          </a:p>
          <a:p xmlns:a="http://schemas.openxmlformats.org/drawingml/2006/main">
            <a:r>
              <a:t>写入占单个 rank wall time 的一半以上。下一步不应先增加 CPU 核数或 GPU。</a:t>
            </a:r>
          </a:p>
          <a:p xmlns:a="http://schemas.openxmlformats.org/drawingml/2006/main">
            <a:r>
              <a:t>优化工作已按当前决定停止，这里的建议只作为后续可能方向。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最终结果以 exp009 的 2.186 秒为主。</a:t>
            </a:r>
          </a:p>
          <a:p xmlns:a="http://schemas.openxmlformats.org/drawingml/2006/main">
            <a:r>
              <a:t>这一结果比 exp001 的 64 线程基线快 1.728 倍，并且四个官方用例全部通过。</a:t>
            </a:r>
          </a:p>
          <a:p xmlns:a="http://schemas.openxmlformats.org/drawingml/2006/main">
            <a:r>
              <a:t>优化阶段已经停止，后续工作只保留文档、PPT 和汇报内容。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5eaee007147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4c38e4bb14c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5e30a8f2146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f965a0c1645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58cbb82cd94f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f06b864d441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F19D4C-4D3E-41CD-8AD7-17B9D0F0E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30B57C-4149-4BCF-BF40-F9F528CE32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F430E3-4E77-4E98-B933-3DB31D6E4C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B5D9FF-1CB9-4820-B7F1-0CC06A73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64C6EF-F8A8-496F-812A-B08DF5E17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AEF441-A1AD-4086-811E-0144EF296B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093769-E637-4095-9F07-DB86321CAB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8DA8FF-EB76-4788-BE4A-463FE2E3BD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197C54-60A0-4F8F-8904-1F8007887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9DC775-9433-498F-8AA4-4280889652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416b245c0e4c1a" /><Relationship Type="http://schemas.openxmlformats.org/officeDocument/2006/relationships/slideLayout" Target="/ppt/slideLayouts/slideLayout1.xml" Id="R60831dff9a9c4fe6" /><Relationship Type="http://schemas.openxmlformats.org/officeDocument/2006/relationships/slideLayout" Target="/ppt/slideLayouts/slideLayout2.xml" Id="R2a42d32baa624a3e" /><Relationship Type="http://schemas.openxmlformats.org/officeDocument/2006/relationships/slideLayout" Target="/ppt/slideLayouts/slideLayout3.xml" Id="R81b7c307b7a54591" /><Relationship Type="http://schemas.openxmlformats.org/officeDocument/2006/relationships/slideLayout" Target="/ppt/slideLayouts/slideLayout4.xml" Id="R4f5493ea7eed4fbf" /><Relationship Type="http://schemas.openxmlformats.org/officeDocument/2006/relationships/slideLayout" Target="/ppt/slideLayouts/slideLayout5.xml" Id="R81bee2fe51224255" /><Relationship Type="http://schemas.openxmlformats.org/officeDocument/2006/relationships/slideLayout" Target="/ppt/slideLayouts/slideLayout6.xml" Id="Rcc7eccfc22f7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31dff9a9c4fe6"/>
    <p:sldLayoutId xmlns:r="http://schemas.openxmlformats.org/officeDocument/2006/relationships" id="2147483650" r:id="R2a42d32baa624a3e"/>
    <p:sldLayoutId xmlns:r="http://schemas.openxmlformats.org/officeDocument/2006/relationships" id="2147483651" r:id="R81b7c307b7a54591"/>
    <p:sldLayoutId xmlns:r="http://schemas.openxmlformats.org/officeDocument/2006/relationships" id="2147483652" r:id="R4f5493ea7eed4fbf"/>
    <p:sldLayoutId xmlns:r="http://schemas.openxmlformats.org/officeDocument/2006/relationships" id="2147483653" r:id="R81bee2fe51224255"/>
    <p:sldLayoutId xmlns:r="http://schemas.openxmlformats.org/officeDocument/2006/relationships" id="2147483654" r:id="Rcc7eccfc22f7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9534624be41f0" /><Relationship Type="http://schemas.openxmlformats.org/officeDocument/2006/relationships/notesSlide" Target="/ppt/notesSlides/notesSlide1.xml" Id="Ra3ad321d624a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2f5ff690844ad" /><Relationship Type="http://schemas.openxmlformats.org/officeDocument/2006/relationships/notesSlide" Target="/ppt/notesSlides/notesSlide2.xml" Id="Rfcffe42af36a4c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a8ccec187448c" /><Relationship Type="http://schemas.openxmlformats.org/officeDocument/2006/relationships/chart" Target="/ppt/slides/charts/chart1.xml" Id="R1ccd7c5eee364ed1" /><Relationship Type="http://schemas.openxmlformats.org/officeDocument/2006/relationships/notesSlide" Target="/ppt/notesSlides/notesSlide3.xml" Id="Rad9a4df546b740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0b6791ef243f4" /><Relationship Type="http://schemas.openxmlformats.org/officeDocument/2006/relationships/notesSlide" Target="/ppt/notesSlides/notesSlide4.xml" Id="Rb38eee879ad84f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de58488934134" /><Relationship Type="http://schemas.openxmlformats.org/officeDocument/2006/relationships/notesSlide" Target="/ppt/notesSlides/notesSlide5.xml" Id="R888cffe3f2c14e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364fea0bd4f52" /><Relationship Type="http://schemas.openxmlformats.org/officeDocument/2006/relationships/chart" Target="/ppt/slides/charts/chart2.xml" Id="R34ed4d4c9ac14933" /><Relationship Type="http://schemas.openxmlformats.org/officeDocument/2006/relationships/notesSlide" Target="/ppt/notesSlides/notesSlide6.xml" Id="R3c878cb9f4774f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a717a576a41b1" /><Relationship Type="http://schemas.openxmlformats.org/officeDocument/2006/relationships/chart" Target="/ppt/slides/charts/chart3.xml" Id="R8cb48ddbbdf84802" /><Relationship Type="http://schemas.openxmlformats.org/officeDocument/2006/relationships/notesSlide" Target="/ppt/notesSlides/notesSlide7.xml" Id="R630394395f8642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17888bd4a4225" /><Relationship Type="http://schemas.openxmlformats.org/officeDocument/2006/relationships/notesSlide" Target="/ppt/notesSlides/notesSlide8.xml" Id="Ra490658141854f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4212c23254caa" /><Relationship Type="http://schemas.openxmlformats.org/officeDocument/2006/relationships/notesSlide" Target="/ppt/notesSlides/notesSlide9.xml" Id="Re8baf7461dfd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fe83a51ef4d88" /><Relationship Type="http://schemas.openxmlformats.org/officeDocument/2006/relationships/chart" Target="/ppt/slides/charts/chart4.xml" Id="R4238ecbb3261468a" /><Relationship Type="http://schemas.openxmlformats.org/officeDocument/2006/relationships/notesSlide" Target="/ppt/notesSlides/notesSlide10.xml" Id="Rcbc3632f26c647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1d9e8f2cb4106" /><Relationship Type="http://schemas.openxmlformats.org/officeDocument/2006/relationships/notesSlide" Target="/ppt/notesSlides/notesSlide11.xml" Id="R292ff27e10814c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009 三节点 CPU</c:v>
                </c:pt>
                <c:pt idx="1">
                  <c:v>004 三节点 CPU</c:v>
                </c:pt>
                <c:pt idx="2">
                  <c:v>008 单节点 CPU</c:v>
                </c:pt>
                <c:pt idx="3">
                  <c:v>001 单节点 CPU</c:v>
                </c:pt>
                <c:pt idx="4">
                  <c:v>006 两节点 GPU</c:v>
                </c:pt>
                <c:pt idx="5">
                  <c:v>002 单节点 GPU</c:v>
                </c:pt>
                <c:pt idx="6">
                  <c:v>005 两节点 CPU+GPU</c:v>
                </c:pt>
                <c:pt idx="7">
                  <c:v>003 单节点 CPU+GPU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2.186</c:v>
                </c:pt>
                <c:pt idx="1">
                  <c:v>2.533</c:v>
                </c:pt>
                <c:pt idx="2">
                  <c:v>2.733</c:v>
                </c:pt>
                <c:pt idx="3">
                  <c:v>3.777</c:v>
                </c:pt>
                <c:pt idx="4">
                  <c:v>4.024</c:v>
                </c:pt>
                <c:pt idx="5">
                  <c:v>5.164</c:v>
                </c:pt>
                <c:pt idx="6">
                  <c:v>5.179</c:v>
                </c:pt>
                <c:pt idx="7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 两节点纯 GPU</c:v>
                </c:pt>
                <c:pt idx="1">
                  <c:v>002  单节点双 GPU</c:v>
                </c:pt>
                <c:pt idx="2">
                  <c:v>005  两节点 CPU+GPU</c:v>
                </c:pt>
                <c:pt idx="3">
                  <c:v>003 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75CD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2B7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读取与归一化</c:v>
                </c:pt>
                <c:pt idx="1">
                  <c:v>FFT / 功率 / Mel</c:v>
                </c:pt>
                <c:pt idx="2">
                  <c:v>转换与写入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 rank 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本地读取</c:v>
                </c:pt>
                <c:pt idx="1">
                  <c:v>归一化</c:v>
                </c:pt>
                <c:pt idx="2">
                  <c:v>计算</c:v>
                </c:pt>
                <c:pt idx="3">
                  <c:v>分布式写入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0.04</c:v>
                </c:pt>
                <c:pt idx="2">
                  <c:v>0.13</c:v>
                </c:pt>
                <c:pt idx="3">
                  <c:v>0.28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96C36F7-4B80-4B81-84E5-D3F2EC09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2026 秋季招新题  /  技术复盘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0E49230-B8F1-44C9-8982-D8AD3F6D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Melspec 高性能实现复盘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898AB48-189A-4758-81C0-3E95DBD1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 CPU 算法优化到三节点流水线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FA162-A074-4472-A79B-691FECB2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76B83530-A672-4902-B4E7-C5B6BA63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exp009  2.186 s</a:t>
            </a:r>
          </a:p>
        </p:txBody>
      </p:sp>
      <p:sp>
        <p:nvSpPr>
          <p:cNvPr id="6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79E56EE8-CDB1-4737-8717-A933D43D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官方四用例  /  4/4 PASS  /  相对 exp001 加速 1.728x</a:t>
            </a:r>
          </a:p>
        </p:txBody>
      </p:sp>
    </p:spTree>
    <p:extLst>
      <p:ext uri="{BB962C8B-B14F-4D97-AF65-F5344CB8AC3E}">
        <p14:creationId xmlns:p14="http://schemas.microsoft.com/office/powerpoint/2010/main" val="944723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2">
            <a:extLst xmlns:a="http://schemas.openxmlformats.org/drawingml/2006/main">
              <a:ext uri="{FF2B5EF4-FFF2-40B4-BE49-F238E27FC236}">
                <a16:creationId xmlns:a16="http://schemas.microsoft.com/office/drawing/2014/main" id="{017251E9-865A-4864-9CFC-A21F4857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777E0D3-F667-478E-BF4D-8365A45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评测范围与统一口径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A3DA4E4F-543D-4715-9856-3EBAD725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四个官方用例，三次运行取最小值，所有性能统一对照 exp001 的 64 线程结果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3EB2F-EAD5-427F-AD6D-00207D42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FE5AB557-7A4A-48EE-8829-91FBBD6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7DD9D-AFCC-49F6-9396-EA9DBF99677F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5810250" cy="28003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2324100"/>
                <a:gridCol w="1106714"/>
                <a:gridCol w="1106714"/>
                <a:gridCol w="1272721"/>
              </a:tblGrid>
              <a:tr h="56007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n_fft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n_mels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帧数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12DC0-4A21-45BF-9B79-F2B5E7B0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官方 expected 输出容差：rtol 1e-3，atol 1e-4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统一性能基线：exp001，64 线程 spread，3.777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计算环境：hepnode1 到 hepnode3，64 核 CPU 与 2 张 L40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所有计时均来自 Slurm 计算节点</a:t>
            </a:r>
          </a:p>
        </p:txBody>
      </p:sp>
      <p:sp>
        <p:nvSpPr>
          <p:cNvPr id="8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9BA8304B-1346-4173-8244-1C1E8C48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注：exp001 原始 16 线程正式结果为 7.572 s，后续比较不再使用该口径。</a:t>
            </a:r>
          </a:p>
        </p:txBody>
      </p:sp>
    </p:spTree>
    <p:extLst>
      <p:ext uri="{BB962C8B-B14F-4D97-AF65-F5344CB8AC3E}">
        <p14:creationId xmlns:p14="http://schemas.microsoft.com/office/powerpoint/2010/main" val="1347698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mark-3">
            <a:extLst xmlns:a="http://schemas.openxmlformats.org/drawingml/2006/main">
              <a:ext uri="{FF2B5EF4-FFF2-40B4-BE49-F238E27FC236}">
                <a16:creationId xmlns:a16="http://schemas.microsoft.com/office/drawing/2014/main" id="{C0F38BC9-7A6B-447D-92F6-AC4CC58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2C2E9AA-069C-461E-992C-C0F3C705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总体性能结果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04537D9B-6992-4F2C-A3C2-3099035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三节点 CPU 流水化版本以 2.186 s 排名第一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70AA2-3025-411E-B6F4-7517EBC8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97962F29-BF63-4C7C-A6AE-075A7B44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FAB5288-B7EF-49B1-8AC5-50591262DD0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8105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cd7c5eee364ed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0C6B0-B21F-4ED2-8DCA-39F7AFAA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9D2D3-7BD4-40DB-ABEB-D573D3B6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四用例合计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1F8CA-1C98-4DF0-8D7F-72E114C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9B6EF-0BD9-423F-BFBA-C414CFF8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</p:spTree>
    <p:extLst>
      <p:ext uri="{BB962C8B-B14F-4D97-AF65-F5344CB8AC3E}">
        <p14:creationId xmlns:p14="http://schemas.microsoft.com/office/powerpoint/2010/main" val="605403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mark-4">
            <a:extLst xmlns:a="http://schemas.openxmlformats.org/drawingml/2006/main">
              <a:ext uri="{FF2B5EF4-FFF2-40B4-BE49-F238E27FC236}">
                <a16:creationId xmlns:a16="http://schemas.microsoft.com/office/drawing/2014/main" id="{A889251A-B3CF-46C9-83B1-85F2ECB7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D9F77E2-2229-4DBF-9C3E-BE6BC921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实验演进路线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40AF7F62-8FF2-4B99-94CE-002F8456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CPU 算法与多节点资源两条主线最终汇合到 exp009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10931-4E1C-4D34-8441-A4EAD5CC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CDA612C3-F45B-41F3-9DA3-B51F9739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F8D4D-EF20-4415-AC2B-737E1332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3B452-8DA3-4CEE-B6E3-D46CAE2D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97888-3315-40A2-B61D-BBFE6E22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6860A-F38A-484B-BC05-A9C811F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打包 FFT / 稀疏 Mel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50A1A-D7D8-45E0-B0E7-490E2271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EBB6E-9CE0-488B-9B96-1A22A166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FF7EC-EC29-4238-B087-1FE88E8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单节点流水化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4BBA5-FB72-4983-8BD5-266BC5F8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42B9D-4F21-4907-BA3B-F3E76CA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4E113-45C4-437A-BDBD-49D9BC76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三节点流水化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BA82C-FCF0-4B3C-BA87-49B510F1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CPU 算法主线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49F7E-3A2A-4A95-9D2F-697952E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并行资源探索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384A3-2D73-49E7-91BB-B3967C6A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002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69E75-7352-4265-9254-54AD7418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00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单节点双 GPU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68305-BF71-4331-9B8F-C5D6A3A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5DC22-6335-45FA-AFA2-7217FE5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800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003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DA495-673B-40AF-B840-3ADD902A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200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单节点 CPU+GPU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6CE18-84CA-4BFA-9D3E-C74DF32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530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FFB31-9586-4DF8-801A-D313A1CF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004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70118-6EAA-462D-8073-18FD210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00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三节点 CPU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7F7B5-6307-416E-B1DC-6EA10064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AEA9D-45E6-4447-A2A9-6C1BBF4E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800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005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030D9-7B90-4887-9661-F3F72024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200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两节点 CPU+GPU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D3AD07-53C5-49EA-84C1-2F5FCC7D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530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C1458A-01FF-4924-BAA3-20C357E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006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A"/>
                </a:solidFill>
                <a:latin typeface="Microsoft YaHei"/>
                <a:ea typeface="Microsoft YaHei"/>
                <a:cs typeface="Microsoft YaHei"/>
              </a:rPr>
              <a:t>006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079F1-C94D-4658-A1DB-2F34D6E8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00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两节点纯 GPU</a:t>
            </a:r>
          </a:p>
        </p:txBody>
      </p:sp>
    </p:spTree>
    <p:extLst>
      <p:ext uri="{BB962C8B-B14F-4D97-AF65-F5344CB8AC3E}">
        <p14:creationId xmlns:p14="http://schemas.microsoft.com/office/powerpoint/2010/main" val="152084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5">
            <a:extLst xmlns:a="http://schemas.openxmlformats.org/drawingml/2006/main">
              <a:ext uri="{FF2B5EF4-FFF2-40B4-BE49-F238E27FC236}">
                <a16:creationId xmlns:a16="http://schemas.microsoft.com/office/drawing/2014/main" id="{D66A6855-B762-4FEA-8AD4-8140A9E8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945F9EC7-BDDB-4D7D-A4EE-5708CBC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 的计算优化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AB993BB9-1087-4A73-85E6-06BF0B33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先消除算法中的重复计算与乘零工作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194DF-E9D4-4621-A76D-0AF0F68E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605C851-BA35-4CCA-B4FE-D2B4803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F4AFB-60E5-46FE-901C-5DB1E7B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3BBC2-6FBB-4932-A4D1-BFB3D35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半长度实数 FFT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82CB-5711-4D02-968F-E9802290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将核心复数 FFT 从 n_fft 降到 n_fft/2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66A9D-DF8C-42AE-B17D-849B55E3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8CB03-FE23-4552-9888-B7AD6CDA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BD8B5-AED9-4408-9676-233FD756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稀疏 Mel 投影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3C2A4-8EDF-4E18-911F-33E7526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只遍历三角滤波器非零区间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AF280-805C-46CA-B5D9-ED5092FC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F2171-FED7-43D2-A9D9-49C1CBC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EFF15-9114-414B-AEA6-AEB21C07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分块与 OpenMP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5FE31-5849-4846-92CA-CFC4919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复用一个 FFT plan 和每线程工作区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C19F3-9201-488B-9EA5-546DAFC5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rPr>
              <a:t>3.777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08A71-DB9E-4EBC-A745-B0DE0B5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 线程四用例合计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9C9F0-A071-4C6A-8ACD-E996A424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7.572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7A09E-E44E-4D9F-9E97-88568306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 16 线程正式结果</a:t>
            </a:r>
          </a:p>
        </p:txBody>
      </p:sp>
    </p:spTree>
    <p:extLst>
      <p:ext uri="{BB962C8B-B14F-4D97-AF65-F5344CB8AC3E}">
        <p14:creationId xmlns:p14="http://schemas.microsoft.com/office/powerpoint/2010/main" val="1884960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6">
            <a:extLst xmlns:a="http://schemas.openxmlformats.org/drawingml/2006/main">
              <a:ext uri="{FF2B5EF4-FFF2-40B4-BE49-F238E27FC236}">
                <a16:creationId xmlns:a16="http://schemas.microsoft.com/office/drawing/2014/main" id="{8C43A7A0-BBBE-46C3-8E1C-77C080E2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5528859-C198-483C-89D2-5EF9BEB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路线的收益与限制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473CBF9E-9B2C-479C-9280-F2FEA43C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GPU 计算很快，但端到端时间被数据搬运和同步拉长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57F07-9B5B-4B59-9189-3A3B40CD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D20862AD-E7E5-4AD6-BEB1-6823D13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02CF06A-28CF-47FF-8087-7A586D424CFB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ed4d4c9ac1493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EF26E-F061-4F2F-BEFA-00403F52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计算只占一小段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704E9-A812-4576-B2AA-9792B442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480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 的 GPU 计算约 0.16 到 0.23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H2D、D2H、cuFFT plan 与 stream 同步仍需支付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分担帧数没有超过纯 GPU，资源竞争抵消收益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输出文件接近 188 MiB，成为共同下限</a:t>
            </a:r>
          </a:p>
        </p:txBody>
      </p:sp>
    </p:spTree>
    <p:extLst>
      <p:ext uri="{BB962C8B-B14F-4D97-AF65-F5344CB8AC3E}">
        <p14:creationId xmlns:p14="http://schemas.microsoft.com/office/powerpoint/2010/main" val="1114691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7">
            <a:extLst xmlns:a="http://schemas.openxmlformats.org/drawingml/2006/main">
              <a:ext uri="{FF2B5EF4-FFF2-40B4-BE49-F238E27FC236}">
                <a16:creationId xmlns:a16="http://schemas.microsoft.com/office/drawing/2014/main" id="{7CB198C9-06B8-4D4E-BE7F-753A4070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1E75230-0A72-4590-A68D-564D264B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单节点阶段 profiling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0A644914-2B21-49B7-A936-26D83EF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用例中，计算约占一半，读取和输出转换仍占明显比例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89EFE-8D78-4813-A689-5CBDFC2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A6403126-AA4F-4320-B232-DD2F1BE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0577D1F-467F-4BDF-A68B-D18F57C5EF3A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b48ddbbdf8480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AF73A-2FCE-48A5-A6E0-B73679C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779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7F826-41C2-475F-A37E-8A6CAD6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exp001 峰值内存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7DE9D-1939-451B-84CC-722A3CEC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写入 /dev/null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BD0EA-D18A-456D-8D57-D88FA6A8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24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0.90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AEBC7-30E3-4EFD-ADF9-8FA6128D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完整写盘 0.97 s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差异约 70 到 90 ms</a:t>
            </a:r>
          </a:p>
        </p:txBody>
      </p:sp>
    </p:spTree>
    <p:extLst>
      <p:ext uri="{BB962C8B-B14F-4D97-AF65-F5344CB8AC3E}">
        <p14:creationId xmlns:p14="http://schemas.microsoft.com/office/powerpoint/2010/main" val="1870092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mark-8">
            <a:extLst xmlns:a="http://schemas.openxmlformats.org/drawingml/2006/main">
              <a:ext uri="{FF2B5EF4-FFF2-40B4-BE49-F238E27FC236}">
                <a16:creationId xmlns:a16="http://schemas.microsoft.com/office/drawing/2014/main" id="{F713F29C-7AC3-4003-B304-C469A33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2AA99B2-4E28-460C-A1F4-0B0BA3A3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 单节点流水化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5A87EA95-AD8E-42D2-83ED-0DA54B9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用更少的中间内存和并行区完成同一次计算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DBF3F-459E-47E7-BA9F-293BAD09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D27D6A53-2892-4523-A07A-9260CD3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D4A76-EB4E-44F0-ADF4-06AA1BE8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BA829-6FE8-4BF1-87E1-2A63901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64 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E4AA-18D0-4251-A0EB-64E6179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direct float32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ACDDF-9DC6-4314-85F1-477C9F79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single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A7DC1-AD97-43DA-A49B-A200A7C4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EA9D6-BCD4-4897-A097-EADDB8F0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3F47B-E0A8-451A-9A71-A722F0D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9615C-C870-4DEB-A22D-107826D3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98758-C08D-4977-9028-51419984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54485-CBAC-4BF6-AC21-E273FD8A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1.382x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E2DDD-DDEA-4C82-A69B-A9315FAD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77ADA-7616-4C94-AA8A-DE787251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394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7D30B-0BB1-4B13-8AE8-D2B84592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峰值 RSS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6EA2A-823C-4CBE-90E4-DEFB003BEC16}"/>
              </a:ext>
            </a:extLst>
          </p:cNvPr>
          <p:cNvGraphicFramePr/>
          <p:nvPr/>
        </p:nvGraphicFramePr>
        <p:xfrm>
          <a:off xmlns:a="http://schemas.openxmlformats.org/drawingml/2006/main" x="685800" y="4362450"/>
          <a:ext xmlns:a="http://schemas.openxmlformats.org/drawingml/2006/main" cx="9810750" cy="1428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4150702"/>
                <a:gridCol w="1886683"/>
                <a:gridCol w="1886683"/>
                <a:gridCol w="1886683"/>
              </a:tblGrid>
              <a:tr h="28575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4777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mark-9">
            <a:extLst xmlns:a="http://schemas.openxmlformats.org/drawingml/2006/main">
              <a:ext uri="{FF2B5EF4-FFF2-40B4-BE49-F238E27FC236}">
                <a16:creationId xmlns:a16="http://schemas.microsoft.com/office/drawing/2014/main" id="{3B46F6AF-C9D5-4EB4-B1A6-C96E3E1E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3481F60-A9D8-47B2-94C7-9C80921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 三节点 CPU 流水线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8546E3F1-1C09-4612-B432-E6706162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每个节点只处理本地帧区间，三个 rank 并行写出最终矩阵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617C-2260-460F-86D6-05C4B589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FA3E0E9B-ABC2-476F-BA86-DEAE7DB1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3C4EB-CCFB-45A7-95CB-9026055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2EEB0-4B3B-4E27-BD59-AFBEC6D7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03DE5-D8DF-4079-AC78-19F1483D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hepnode3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B5111-83D3-4A0F-A2A0-416FBD46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F01C0-BA87-40A0-A2E1-816569A3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9BE43-25BC-4A62-A58D-20F6D5D4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B7284-73BF-4B47-97B1-A884A550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共享输出文件  /  64-bit token 协调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E70EC-EEFF-4B79-9B6B-9DCB6BA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462C7-7283-4A6C-BA31-4E48D889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BCFD4-B191-49CD-813F-9A63E839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1.159x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DBAC0-1A13-4083-91CC-DFFB4E4B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相对三节点 exp004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4C378-F3C2-4915-898A-8F1C0053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 exp008 数据路径相同，优势来自三节点并行读取、计算与写出</a:t>
            </a:r>
          </a:p>
        </p:txBody>
      </p:sp>
    </p:spTree>
    <p:extLst>
      <p:ext uri="{BB962C8B-B14F-4D97-AF65-F5344CB8AC3E}">
        <p14:creationId xmlns:p14="http://schemas.microsoft.com/office/powerpoint/2010/main" val="1141346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10">
            <a:extLst xmlns:a="http://schemas.openxmlformats.org/drawingml/2006/main">
              <a:ext uri="{FF2B5EF4-FFF2-40B4-BE49-F238E27FC236}">
                <a16:creationId xmlns:a16="http://schemas.microsoft.com/office/drawing/2014/main" id="{3C2F8164-77AE-41A1-A08D-6B2C0F93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D5B7272-92E2-4A9D-BC6E-07B8FB81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当前瓶颈已经从计算转向输出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AE22CDAD-17E7-4BC9-82ED-9EA27E01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的 default profile 显示，分布式写入约占总时间的一半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4291F-6A60-4C9F-97AC-F4760DD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E7B1DD90-C83C-41EB-8A63-DF0DF437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72BCAE1-286D-4E84-B0B5-180415396EB3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38ecbb3261468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4055D-2740-4842-9140-BD30CEC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57%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EF787-6EC8-4DCA-8861-535A2FF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default profile 中，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写入占单 rank 总耗时约 57%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38D68-1725-4818-9570-7AECB6B2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继续增加计算资源的边际收益有限。下一轮应先验证异步写、输出布局或 mmap 的成本。</a:t>
            </a:r>
          </a:p>
        </p:txBody>
      </p:sp>
    </p:spTree>
    <p:extLst>
      <p:ext uri="{BB962C8B-B14F-4D97-AF65-F5344CB8AC3E}">
        <p14:creationId xmlns:p14="http://schemas.microsoft.com/office/powerpoint/2010/main" val="1993185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E7EC7-992B-4D4F-8DAB-0AD2985A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DEADF-FB37-49A7-8385-CBFA9474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算法优化打底，三节点流水线兑现收益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32C5A-665A-4663-806E-526D25E8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4D09F-C95E-45D7-8ABD-0EB6686B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最终四用例合计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A9CD8-7726-451A-9BE6-F3B8D636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exp009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511A5-1C64-4B25-98CF-FDC04DE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2F634-00B0-4D38-9E03-B14D8C3A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5108B-AC9A-4E6C-911E-ED96538D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性能提升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22F58-8C18-4E65-BA43-1492C962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BA14A-AA67-4E8D-BEE2-9E83ACD5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官方用例通过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15B9F-A84A-4343-ABEF-4B20435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14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正确性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93329-30F5-4AD7-BFA1-94A737DF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CEECF-1643-4167-88A7-413249E0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优化阶段已停止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BB4E5-B63D-4638-ADEE-5593376D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文档与讲稿已完成，PPT 可作为最终汇报材料。</a:t>
            </a:r>
          </a:p>
        </p:txBody>
      </p:sp>
    </p:spTree>
    <p:extLst>
      <p:ext uri="{BB962C8B-B14F-4D97-AF65-F5344CB8AC3E}">
        <p14:creationId xmlns:p14="http://schemas.microsoft.com/office/powerpoint/2010/main" val="2047862672"/>
      </p:ext>
    </p:extLst>
  </p:cSld>
</p:sld>
</file>

<file path=ppt/theme/theme1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2026-10-31T01:06:05.7790000Z</dcterms:created>
  <dcterms:modified xsi:type="dcterms:W3CDTF">2026-10-31T01:06:05.7790000Z</dcterms:modified>
</coreProperties>
</file>