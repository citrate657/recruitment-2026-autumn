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四例合计</c:f>
              <c:strCache>
                <c:ptCount val="1"/>
                <c:pt idx="0">
                  <c:v>四例合计</c:v>
                </c:pt>
              </c:strCache>
            </c:strRef>
          </c:tx>
          <c:spPr>
            <a:solidFill>
              <a:srgbClr val="007FA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F59E0B"/>
              </a:solidFill>
            </c:spPr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Data'!$A$2:$A$5</c:f>
              <c:strCache>
                <c:ptCount val="4"/>
                <c:pt idx="0">
                  <c:v>006 两节点纯 GPU</c:v>
                </c:pt>
                <c:pt idx="1">
                  <c:v>002 单节点双 GPU</c:v>
                </c:pt>
                <c:pt idx="2">
                  <c:v>005 两节点 CPU+GPU</c:v>
                </c:pt>
                <c:pt idx="3">
                  <c:v>003 单节点 CPU+GPU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4.024</c:v>
                </c:pt>
                <c:pt idx="1">
                  <c:v>5.164</c:v>
                </c:pt>
                <c:pt idx="2">
                  <c:v>5.179</c:v>
                </c:pt>
                <c:pt idx="3">
                  <c:v>5.207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CFE2E9"/>
              </a:solidFill>
              <a:prstDash val="solid"/>
              <a:round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75" b="0" i="0" u="none" strike="noStrike" kern="1200" baseline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gap"/>
    <c:showDLblsOverMax val="0"/>
    <c:extLst>
      <c:ext uri="{0b15fc19-7d7d-44ad-8c2d-2c3a37ce22c3}">
        <chartProps xmlns="https://web.wps.cn/et/2018/main" chartId="{e5a785b9-b749-4ddb-bdad-c8b087f97ba9}"/>
      </c:ext>
    </c:extLst>
  </c:chart>
  <c:spPr>
    <a:solidFill>
      <a:srgbClr val="FFFFFF"/>
    </a:solidFill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开场说明只保留一条主线：基线问题、两次关键优化、多节点扩展和 GPU 复盘。</a:t>
            </a:r>
          </a:p>
          <a:p>
            <a:r>
              <a:t>最终提交两个成果：单节点 exp008 和三节点 exp009。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原始实现正确，但重复 FFT 准备、全长度实数 FFT、稠密 Mel 和完整功率谱拖慢了热路径。</a:t>
            </a:r>
          </a:p>
          <a:p>
            <a:r>
              <a:t>1M 前缀上 exp001 已经比自己实现快 731.206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exp001 只讲三点：半长度实数 FFT、稀疏 Mel、分块并行。</a:t>
            </a:r>
          </a:p>
          <a:p>
            <a:r>
              <a:t>64 线程四例合计 3.777 秒，1M 样本上相对原实现为 731.206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exp001 是共同基础。GPU 路线从 exp001 向 exp002/003/005 分叉，exp006 是独立纯 GPU 对照。</a:t>
            </a:r>
          </a:p>
          <a:p>
            <a:r>
              <a:t>最终主线是 exp001 分别派生 exp007 和 exp008，exp008 再包含 exp009。</a:t>
            </a:r>
          </a:p>
          <a:p>
            <a:r>
              <a:t>exp009 还复用 exp004 的本地帧划分和分布写入设计。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九次实验都保留在这张总表里，后续只展开最终相关的主干。</a:t>
            </a:r>
          </a:p>
          <a:p>
            <a:r>
              <a:t>四例成绩统一相对 exp001 的 64 线程结果。原实现对照使用相同的 1M 前缀。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exp008 保留算法数学，只并行归一化、合并 OpenMP 区域并直接输出 float32。</a:t>
            </a:r>
          </a:p>
          <a:p>
            <a:r>
              <a:t>四例合计 2.733 秒，相对 exp001 为 1.382 倍，1M 样本相对原实现为 1427.391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单节点优化到 2.733 秒后，剩余成本主要来自输出和总帧规模，因此尝试多节点。</a:t>
            </a:r>
          </a:p>
          <a:p>
            <a:r>
              <a:t>每个 rank 处理连续帧，只读局部 PCM，并直接写自己的输出列。最终 exp009 为 2.186 秒。</a:t>
            </a:r>
          </a:p>
          <a:p>
            <a:r>
              <a:t>两节点旧路径 3.083 秒，比单节点慢，说明多节点必须同时优化数据路径。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最终保留两个方案：exp008 为 2.733 秒，exp009 为 2.186 秒。</a:t>
            </a:r>
          </a:p>
          <a:p>
            <a:r>
              <a:t>两者均通过官方四例。1M 原实现加速与完整四例加速的口径不同。</a:t>
            </a:r>
          </a:p>
          <a:p>
            <a:r>
              <a:t>参考资料包括项目源码、cuFFT/CUDA、OpenMP/GCC 和 Slurm。AI 使用 OpenAI Codex GPT-5，正式数据来自实际作业。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GPU 路线最好的是 exp006，合计 4.024 秒，但仍慢于 CPU 最终方案。</a:t>
            </a:r>
          </a:p>
          <a:p>
            <a:r>
              <a:t>输入 I/O 很短，真正成本是设备传输、每 1024 帧同步和共享输出写入。</a:t>
            </a:r>
          </a:p>
          <a:p>
            <a:r>
              <a:t>CPU+GPU 还会竞争内存带宽，最终等待较慢的一侧。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Q&amp;A 先确认问题的比较口径。</a:t>
            </a:r>
          </a:p>
          <a:p>
            <a:r>
              <a:t>常见问题包括基线为什么慢、GPU/CPU+GPU 为什么没有胜出、三个加速比如何区分，以及如何复现。</a:t>
            </a:r>
          </a:p>
          <a:p>
            <a:r>
              <a:t>完整回答见 docs/presentation-script.md 的 Q&amp;A 速查。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幻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幻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幻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幻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幻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幻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幻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幻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幻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幻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幻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幻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矩形 7"/>
          <p:cNvSpPr>
            <a:spLocks noGrp="1"/>
          </p:cNvSpPr>
          <p:nvPr/>
        </p:nvSpPr>
        <p:spPr>
          <a:xfrm>
            <a:off x="-152399" y="0"/>
            <a:ext cx="12344400" cy="6857999"/>
          </a:xfrm>
          <a:prstGeom prst="rect">
            <a:avLst/>
          </a:prstGeom>
          <a:solidFill>
            <a:srgbClr val="E9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52400" y="238760"/>
            <a:ext cx="12382500" cy="6619240"/>
          </a:xfrm>
          <a:prstGeom prst="rect">
            <a:avLst/>
          </a:prstGeom>
        </p:spPr>
      </p:pic>
      <p:sp>
        <p:nvSpPr>
          <p:cNvPr id="5" name="文本框 4"/>
          <p:cNvSpPr>
            <a:spLocks noGrp="1"/>
          </p:cNvSpPr>
          <p:nvPr/>
        </p:nvSpPr>
        <p:spPr>
          <a:xfrm>
            <a:off x="664210" y="1483360"/>
            <a:ext cx="8213090" cy="133858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 algn="l"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6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000">
                <a:solidFill>
                  <a:srgbClr val="062A3B"/>
                </a:solidFill>
                <a:latin typeface="SDK_SC_Web" panose="00020600040101010101" charset="-128"/>
                <a:ea typeface="SDK_SC_Web" panose="00020600040101010101" charset="-128"/>
                <a:cs typeface="SDK_SC_Web" panose="00020600040101010101" charset="-128"/>
              </a:rPr>
              <a:t>Towards Higher Performance in Computing</a:t>
            </a:r>
            <a:endParaRPr sz="4000">
              <a:solidFill>
                <a:srgbClr val="062A3B"/>
              </a:solidFill>
              <a:latin typeface="SDK_SC_Web" panose="00020600040101010101" charset="-128"/>
              <a:ea typeface="SDK_SC_Web" panose="00020600040101010101" charset="-128"/>
              <a:cs typeface="SDK_SC_Web" panose="00020600040101010101" charset="-128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5200" y="382362"/>
            <a:ext cx="1964267" cy="618074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70" y="333375"/>
            <a:ext cx="2924175" cy="666750"/>
          </a:xfrm>
          <a:prstGeom prst="rect">
            <a:avLst/>
          </a:prstGeom>
        </p:spPr>
      </p:pic>
      <p:sp>
        <p:nvSpPr>
          <p:cNvPr id="14" name="文本框 13"/>
          <p:cNvSpPr>
            <a:spLocks noGrp="1"/>
          </p:cNvSpPr>
          <p:nvPr/>
        </p:nvSpPr>
        <p:spPr>
          <a:xfrm>
            <a:off x="869950" y="3509645"/>
            <a:ext cx="2641600" cy="58864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ln>
                  <a:noFill/>
                </a:ln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计算机</a:t>
            </a:r>
            <a:r>
              <a:rPr sz="1800" b="1">
                <a:ln>
                  <a:noFill/>
                </a:ln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2606 </a:t>
            </a:r>
            <a:r>
              <a:rPr sz="1800" b="1">
                <a:ln>
                  <a:noFill/>
                </a:ln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王正韬</a:t>
            </a:r>
            <a:endParaRPr sz="1800" b="1">
              <a:ln>
                <a:noFill/>
              </a:ln>
              <a:solidFill>
                <a:srgbClr val="FFFFFF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0" y="6688667"/>
            <a:ext cx="12192000" cy="169333"/>
          </a:xfrm>
          <a:prstGeom prst="rect">
            <a:avLst/>
          </a:prstGeom>
          <a:solidFill>
            <a:srgbClr val="0659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33450" y="2903220"/>
            <a:ext cx="3430270" cy="5251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——Melspec</a:t>
            </a:r>
            <a:r>
              <a:rPr sz="24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性能优化</a:t>
            </a:r>
            <a:endParaRPr sz="240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>
            <a:alphaModFix amt="4000"/>
          </a:blip>
          <a:srcRect t="4939" r="28793" b="22469"/>
          <a:stretch>
            <a:fillRect/>
          </a:stretch>
        </p:blipFill>
        <p:spPr>
          <a:xfrm>
            <a:off x="2641601" y="902926"/>
            <a:ext cx="9550400" cy="5955074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5800" y="1695450"/>
            <a:ext cx="10382250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685800" y="1000125"/>
            <a:ext cx="10287000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 algn="l"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原始参考实现的问题</a:t>
            </a:r>
            <a:endParaRPr sz="32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 flipV="1">
            <a:off x="685800" y="1885950"/>
            <a:ext cx="10287000" cy="38100"/>
          </a:xfrm>
          <a:prstGeom prst="rect">
            <a:avLst/>
          </a:prstGeom>
          <a:solidFill>
            <a:srgbClr val="0659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0" y="333375"/>
            <a:ext cx="2924175" cy="666750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704850" y="1571625"/>
            <a:ext cx="981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实现正确，但热路径存在重复计算、乘零和大块内存流量</a:t>
            </a: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5800" y="2095500"/>
            <a:ext cx="38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238250" y="209550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重复准备</a:t>
            </a:r>
            <a:endParaRPr sz="200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714750" y="2095500"/>
            <a:ext cx="7334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每帧重新分配中间数组，重算位反转索引，并在每个 FFT stage 生成 twiddle。这些与帧内容无关的准备成本被反复执行。</a:t>
            </a: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85800" y="2857500"/>
            <a:ext cx="10572750" cy="9525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85800" y="3009900"/>
            <a:ext cx="38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238250" y="300990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全长度复数 FFT</a:t>
            </a:r>
            <a:endParaRPr sz="200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714750" y="3009900"/>
            <a:ext cx="7334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实数输入仍走 n_fft 点复数 FFT。打包成 n_fft/2 点复数变换即可保留相同频率分辨率，原路径的计算和中间数组都更长。</a:t>
            </a: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85800" y="3771900"/>
            <a:ext cx="10572750" cy="9525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85800" y="3924300"/>
            <a:ext cx="38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238250" y="392430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稠密 Mel 投影</a:t>
            </a:r>
            <a:endParaRPr sz="200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714750" y="3924300"/>
            <a:ext cx="7334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每个三角滤波器只有窄带非零，原实现却扫描 n_mels × (n_fft/2+1) 全表。大部分乘法权重为零，访存量也随滤波器数量放大。</a:t>
            </a: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85800" y="4686300"/>
            <a:ext cx="10572750" cy="9525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85800" y="4838700"/>
            <a:ext cx="38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2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238250" y="477774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完整功率谱</a:t>
            </a:r>
            <a:endParaRPr sz="200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714750" y="4838700"/>
            <a:ext cx="7334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 [bin, frame] 保留完整 double 功率谱，default 约 6.3 GB。Mel 投影跨行读取，缓存局部性差，峰值内存压力高。</a:t>
            </a: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85800" y="57531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同口径 1M default：61.663 s 降至 0.084 s，exp001 加速 731.206x。</a:t>
            </a:r>
            <a:endParaRPr sz="1125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四类浪费叠加在每帧热路径上，主要成本来自计算组织和访存，不是测试脚本或磁盘读取。</a:t>
            </a:r>
            <a:endParaRPr sz="1125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0287000" y="647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r"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Melspec 优化  /  0</a:t>
            </a:r>
            <a:r>
              <a:rPr lang="en-US"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lang="en-US" sz="750" b="0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>
            <a:alphaModFix amt="4000"/>
          </a:blip>
          <a:srcRect t="4939" r="28793" b="22469"/>
          <a:stretch>
            <a:fillRect/>
          </a:stretch>
        </p:blipFill>
        <p:spPr>
          <a:xfrm>
            <a:off x="2641601" y="902926"/>
            <a:ext cx="9550400" cy="5955074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5800" y="1695450"/>
            <a:ext cx="10382250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685800" y="1000125"/>
            <a:ext cx="10287000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 algn="l"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exp001 的算法优化</a:t>
            </a:r>
            <a:endParaRPr sz="32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 flipV="1">
            <a:off x="685800" y="1885950"/>
            <a:ext cx="10287000" cy="38100"/>
          </a:xfrm>
          <a:prstGeom prst="rect">
            <a:avLst/>
          </a:prstGeom>
          <a:solidFill>
            <a:srgbClr val="0659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0" y="333375"/>
            <a:ext cx="2924175" cy="666750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704850" y="1571625"/>
            <a:ext cx="981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用半长度实数 FFT、稀疏 Mel 和并行分块消除主要浪费</a:t>
            </a: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5800" y="2047875"/>
            <a:ext cx="38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238250" y="2047875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打包实数 FFT</a:t>
            </a:r>
            <a:endParaRPr sz="180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238250" y="2390775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85800" y="2981325"/>
            <a:ext cx="6334125" cy="9525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85800" y="3171825"/>
            <a:ext cx="38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238250" y="3171825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稀疏 Mel</a:t>
            </a:r>
            <a:endParaRPr sz="180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238250" y="3514725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85800" y="4105275"/>
            <a:ext cx="6334125" cy="9525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85800" y="4295775"/>
            <a:ext cx="38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238250" y="4295775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分块与并行</a:t>
            </a:r>
            <a:endParaRPr sz="180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238250" y="4638675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524750" y="228600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3.777 s</a:t>
            </a:r>
            <a:endParaRPr sz="315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524750" y="2828925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64 线程四例合计</a:t>
            </a:r>
            <a:endParaRPr sz="105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524750" y="3905250"/>
            <a:ext cx="3333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731.206x</a:t>
            </a:r>
            <a:endParaRPr sz="315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524750" y="4448175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原实现 1M 样本</a:t>
            </a:r>
            <a:endParaRPr sz="105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0287000" y="647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r"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Melspec 优化  /  0</a:t>
            </a:r>
            <a:r>
              <a:rPr lang="en-US"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lang="en-US" sz="750" b="0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238250" y="2390775"/>
            <a:ext cx="5429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将相邻两帧的实部和虚部分别打包，把核心 FFT 从 n_fft 点复数变换降到 n_fft/2 点。一次后处理即可恢复实数频谱，频率分辨率不变。</a:t>
            </a:r>
            <a:endParaRPr sz="1125" b="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238250" y="3514725"/>
            <a:ext cx="5429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预先构图，只保存每个三角滤波器的非零区间和权重。计算时直接跳过零权重频率箱，显著减少乘法与无效访存。</a:t>
            </a:r>
            <a:endParaRPr sz="1125" b="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238250" y="4638675"/>
            <a:ext cx="5429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 256 帧分块，复用 twiddle、位反转表和线程工作区。FFT、功率与稀疏 Mel 融合在 OpenMP 帧循环中，并用 SIMD 累加。</a:t>
            </a:r>
            <a:endParaRPr sz="1125" b="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85800" y="5314950"/>
            <a:ext cx="6477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结果：64 线程 spread 下四例合计 3.777 s，4/4 PASS。相比单线程 79.120 s 提升约 20.95x，也为 exp008 和 exp009 保留了同一套 FFT 与 Mel 数学。</a:t>
            </a:r>
            <a:endParaRPr sz="105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>
            <a:spLocks noGrp="1"/>
          </p:cNvSpPr>
          <p:nvPr/>
        </p:nvSpPr>
        <p:spPr>
          <a:xfrm>
            <a:off x="685800" y="1695450"/>
            <a:ext cx="10382250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596348" y="1108749"/>
            <a:ext cx="10287000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 algn="l"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代码演进关系</a:t>
            </a:r>
            <a:endParaRPr sz="32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 flipV="1">
            <a:off x="-95250" y="-95250"/>
            <a:ext cx="9525" cy="9525"/>
          </a:xfrm>
          <a:prstGeom prst="rect">
            <a:avLst/>
          </a:prstGeom>
          <a:solidFill>
            <a:srgbClr val="0659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170" y="333375"/>
            <a:ext cx="2924175" cy="666750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596348" y="1666875"/>
            <a:ext cx="981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粗</a:t>
            </a: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线是直接源码包含或主要演化</a:t>
            </a: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细</a:t>
            </a: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线是设计复用与对照</a:t>
            </a:r>
            <a:endParaRPr sz="105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5800" y="2571750"/>
            <a:ext cx="1476375" cy="590550"/>
          </a:xfrm>
          <a:prstGeom prst="rect">
            <a:avLst/>
          </a:prstGeom>
          <a:solidFill>
            <a:srgbClr val="062A3B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baseline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src</a:t>
            </a: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/melspec.cpp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714625" y="2571750"/>
            <a:ext cx="1571625" cy="590550"/>
          </a:xfrm>
          <a:prstGeom prst="rect">
            <a:avLst/>
          </a:prstGeom>
          <a:solidFill>
            <a:srgbClr val="EAF8FC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exp001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单节点纯</a:t>
            </a:r>
            <a:r>
              <a:t>CPU</a:t>
            </a:r>
            <a:r>
              <a:t>基础优化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000625" y="1476375"/>
            <a:ext cx="1381125" cy="590550"/>
          </a:xfrm>
          <a:prstGeom prst="rect">
            <a:avLst/>
          </a:prstGeom>
          <a:solidFill>
            <a:srgbClr val="FFF4DF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exp002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单节点</a:t>
            </a: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双GPU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762750" y="1476375"/>
            <a:ext cx="1381125" cy="590550"/>
          </a:xfrm>
          <a:prstGeom prst="rect">
            <a:avLst/>
          </a:prstGeom>
          <a:solidFill>
            <a:srgbClr val="FFF4DF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exp003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单节点异构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524875" y="1476375"/>
            <a:ext cx="1428750" cy="590550"/>
          </a:xfrm>
          <a:prstGeom prst="rect">
            <a:avLst/>
          </a:prstGeom>
          <a:solidFill>
            <a:srgbClr val="FFF4DF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exp005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多节点异构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524875" y="2381250"/>
            <a:ext cx="1428750" cy="590550"/>
          </a:xfrm>
          <a:prstGeom prst="rect">
            <a:avLst/>
          </a:prstGeom>
          <a:solidFill>
            <a:srgbClr val="FFF4DF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exp006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多节点</a:t>
            </a: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GPU对照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000625" y="3095625"/>
            <a:ext cx="1571625" cy="590550"/>
          </a:xfrm>
          <a:prstGeom prst="rect">
            <a:avLst/>
          </a:prstGeom>
          <a:solidFill>
            <a:srgbClr val="EAF8FC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exp004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多节点</a:t>
            </a: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</a:t>
            </a: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000625" y="3952875"/>
            <a:ext cx="1571625" cy="590550"/>
          </a:xfrm>
          <a:prstGeom prst="rect">
            <a:avLst/>
          </a:prstGeom>
          <a:solidFill>
            <a:srgbClr val="F2F4F7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exp007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profile</a:t>
            </a:r>
            <a:endParaRPr sz="1050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714625" y="3952875"/>
            <a:ext cx="1571625" cy="590550"/>
          </a:xfrm>
          <a:prstGeom prst="rect">
            <a:avLst/>
          </a:prstGeom>
          <a:solidFill>
            <a:srgbClr val="E6F8F1"/>
          </a:solidFill>
          <a:ln w="28575">
            <a:solidFill>
              <a:srgbClr val="18A77A"/>
            </a:solidFill>
            <a:prstDash val="solid"/>
          </a:ln>
        </p:spPr>
        <p:txBody>
          <a:bodyPr/>
          <a:lstStyle>
            <a:defPPr algn="ctr"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exp008</a:t>
            </a:r>
            <a:endParaRPr sz="1050" b="1" i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单节点纯CPU最终</a:t>
            </a:r>
            <a:endParaRPr sz="1050" b="1" i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2714625" y="5095875"/>
            <a:ext cx="1571625" cy="590550"/>
          </a:xfrm>
          <a:prstGeom prst="rect">
            <a:avLst/>
          </a:prstGeom>
          <a:solidFill>
            <a:srgbClr val="E6F8F1"/>
          </a:solidFill>
          <a:ln w="28575">
            <a:solidFill>
              <a:srgbClr val="18A77A"/>
            </a:solidFill>
            <a:prstDash val="solid"/>
          </a:ln>
        </p:spPr>
        <p:txBody>
          <a:bodyPr/>
          <a:lstStyle>
            <a:defPPr algn="ctr"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exp009</a:t>
            </a:r>
            <a:endParaRPr sz="1050" b="1" i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i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多节点</a:t>
            </a:r>
            <a:r>
              <a:rPr i="1">
                <a:solidFill>
                  <a:srgbClr val="FF0000"/>
                </a:solidFill>
              </a:rPr>
              <a:t>纯CPU</a:t>
            </a:r>
            <a:r>
              <a:rPr sz="1050" b="1" i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</a:t>
            </a:r>
            <a:endParaRPr sz="1050" b="1" i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2162175" y="2857500"/>
            <a:ext cx="552450" cy="28575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286250" y="2867025"/>
            <a:ext cx="285750" cy="28575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4667250" y="1771650"/>
            <a:ext cx="28575" cy="1095375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686225" y="1771650"/>
            <a:ext cx="324000" cy="28575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381750" y="1771650"/>
            <a:ext cx="381000" cy="28575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143875" y="1771650"/>
            <a:ext cx="381000" cy="28575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239250" y="2066925"/>
            <a:ext cx="28575" cy="314325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286250" y="2867025"/>
            <a:ext cx="381000" cy="28575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4667250" y="2867025"/>
            <a:ext cx="28575" cy="558000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4667250" y="3408362"/>
            <a:ext cx="333375" cy="28575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3495675" y="3162300"/>
            <a:ext cx="28575" cy="790575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5786437" y="3686175"/>
            <a:ext cx="19050" cy="270000"/>
          </a:xfrm>
          <a:prstGeom prst="rect">
            <a:avLst/>
          </a:prstGeom>
          <a:solidFill>
            <a:srgbClr val="007FA6"/>
          </a:solidFill>
          <a:ln w="0">
            <a:noFill/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301437" y="4248150"/>
            <a:ext cx="684000" cy="19050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3495675" y="4543425"/>
            <a:ext cx="28575" cy="552450"/>
          </a:xfrm>
          <a:prstGeom prst="rect">
            <a:avLst/>
          </a:prstGeom>
          <a:solidFill>
            <a:srgbClr val="18A77A"/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6572250" y="3390900"/>
            <a:ext cx="396000" cy="19050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949200" y="3394200"/>
            <a:ext cx="19050" cy="2016000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303200" y="5391150"/>
            <a:ext cx="2646000" cy="19050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10287000" y="647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r"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Melspec 优化  /  0</a:t>
            </a:r>
            <a:r>
              <a:rPr lang="en-US"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lang="en-US" sz="750" b="0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>
            <a:alphaModFix amt="4000"/>
          </a:blip>
          <a:srcRect t="4939" r="28793" b="22469"/>
          <a:stretch>
            <a:fillRect/>
          </a:stretch>
        </p:blipFill>
        <p:spPr>
          <a:xfrm>
            <a:off x="2641601" y="902926"/>
            <a:ext cx="9550400" cy="5955074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5800" y="1695450"/>
            <a:ext cx="10382250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685800" y="1000125"/>
            <a:ext cx="10287000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 algn="l"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exp001–009 结果总览</a:t>
            </a:r>
            <a:endParaRPr sz="32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 flipV="1">
            <a:off x="685800" y="1885950"/>
            <a:ext cx="10287000" cy="38100"/>
          </a:xfrm>
          <a:prstGeom prst="rect">
            <a:avLst/>
          </a:prstGeom>
          <a:solidFill>
            <a:srgbClr val="0659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0" y="333375"/>
            <a:ext cx="2924175" cy="666750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704850" y="1571625"/>
            <a:ext cx="981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官方四用例取三次最小值；相对值统一以 exp001 T=64 的 3.777 s 为基线</a:t>
            </a:r>
            <a:endParaRPr sz="105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685800" y="1924050"/>
          <a:ext cx="10820400" cy="3762380"/>
        </p:xfrm>
        <a:graphic>
          <a:graphicData uri="http://schemas.openxmlformats.org/drawingml/2006/table">
            <a:tbl>
              <a:tblPr firstRow="1" bandRow="1"/>
              <a:tblGrid>
                <a:gridCol w="719455"/>
                <a:gridCol w="7462520"/>
                <a:gridCol w="1381125"/>
                <a:gridCol w="1257300"/>
              </a:tblGrid>
              <a:tr h="376238">
                <a:tc>
                  <a:txBody>
                    <a:bodyPr/>
                    <a:lstStyle/>
                    <a:p>
                      <a:r>
                        <a:t>exp#</a:t>
                      </a:r>
                    </a:p>
                  </a:txBody>
                  <a:tcPr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关键思路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四例合计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相对 001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001</a:t>
                      </a:r>
                    </a:p>
                  </a:txBody>
                  <a:tcPr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打包实数 FFT、稀疏 Mel、SIMD、OpenMP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3.777 s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1.000x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002</a:t>
                      </a:r>
                    </a:p>
                  </a:txBody>
                  <a:tcPr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单节点双 GPU，cuFFT D2Z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5.164 s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0.731x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003</a:t>
                      </a:r>
                    </a:p>
                  </a:txBody>
                  <a:tcPr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单节点 CPU + 双 GPU 异构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5.207 s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0.725x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004</a:t>
                      </a:r>
                    </a:p>
                  </a:txBody>
                  <a:tcPr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多节点 CPU，本地帧区间与 pwrite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2.533 s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1.491x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005</a:t>
                      </a:r>
                    </a:p>
                  </a:txBody>
                  <a:tcPr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两节点 CPU+GPU 异构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5.179 s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0.729x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006</a:t>
                      </a:r>
                    </a:p>
                  </a:txBody>
                  <a:tcPr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两节点纯 GPU，CPU 不参与帧计算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4.024 s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0.939x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007</a:t>
                      </a:r>
                    </a:p>
                  </a:txBody>
                  <a:tcPr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阶段 profile，不改变算法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profile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基线分析</a:t>
                      </a:r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b="1"/>
                        <a:t>008</a:t>
                      </a:r>
                      <a:endParaRPr b="1"/>
                    </a:p>
                  </a:txBody>
                  <a:tcPr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单节点最终：更短的数据路径</a:t>
                      </a:r>
                      <a:endParaRPr b="1"/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2.733 s</a:t>
                      </a:r>
                      <a:endParaRPr b="1"/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1.382x</a:t>
                      </a:r>
                      <a:endParaRPr b="1"/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b="1"/>
                        <a:t>009</a:t>
                      </a:r>
                      <a:endParaRPr b="1"/>
                    </a:p>
                  </a:txBody>
                  <a:tcPr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三节点最终：本地读、并行算、分布写</a:t>
                      </a:r>
                      <a:endParaRPr b="1"/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2.186 s</a:t>
                      </a:r>
                      <a:endParaRPr b="1"/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1.728x</a:t>
                      </a:r>
                      <a:endParaRPr b="1"/>
                    </a:p>
                  </a:txBody>
                  <a:tcPr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矩形 9"/>
          <p:cNvSpPr>
            <a:spLocks noGrp="1"/>
          </p:cNvSpPr>
          <p:nvPr/>
        </p:nvSpPr>
        <p:spPr>
          <a:xfrm>
            <a:off x="704850" y="5848350"/>
            <a:ext cx="952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975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最终方案为 exp008 与 exp009；完整原实现对照使用同一 1M 样本前缀。</a:t>
            </a:r>
            <a:endParaRPr sz="975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0287000" y="647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r"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Melspec 优化  /  0</a:t>
            </a:r>
            <a:r>
              <a:rPr lang="en-US"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lang="en-US" sz="750" b="0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>
            <a:alphaModFix amt="4000"/>
          </a:blip>
          <a:srcRect t="4939" r="28793" b="22469"/>
          <a:stretch>
            <a:fillRect/>
          </a:stretch>
        </p:blipFill>
        <p:spPr>
          <a:xfrm>
            <a:off x="2641601" y="902926"/>
            <a:ext cx="9550400" cy="5955074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5800" y="1695450"/>
            <a:ext cx="10382250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685800" y="1000125"/>
            <a:ext cx="10287000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 algn="l"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exp008 单节点最终方案</a:t>
            </a:r>
            <a:endParaRPr sz="32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 flipV="1">
            <a:off x="685800" y="1885950"/>
            <a:ext cx="10287000" cy="38100"/>
          </a:xfrm>
          <a:prstGeom prst="rect">
            <a:avLst/>
          </a:prstGeom>
          <a:solidFill>
            <a:srgbClr val="0659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0" y="333375"/>
            <a:ext cx="2924175" cy="666750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704850" y="1571625"/>
            <a:ext cx="1028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 exp001 到 exp008：保留 FFT 与 Mel 数学，重点改并行粒度、输出精度和内存生命周期</a:t>
            </a:r>
            <a:endParaRPr sz="105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5800" y="2095500"/>
            <a:ext cx="1714500" cy="876300"/>
          </a:xfrm>
          <a:prstGeom prst="rect">
            <a:avLst/>
          </a:prstGeom>
          <a:solidFill>
            <a:srgbClr val="EAF8FC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读取</a:t>
            </a:r>
            <a:endParaRPr sz="127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 PCM</a:t>
            </a:r>
            <a:endParaRPr sz="127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400300" y="2524125"/>
            <a:ext cx="666750" cy="19050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067050" y="2095500"/>
            <a:ext cx="1714500" cy="876300"/>
          </a:xfrm>
          <a:prstGeom prst="rect">
            <a:avLst/>
          </a:prstGeom>
          <a:solidFill>
            <a:srgbClr val="EAF8FC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归一化</a:t>
            </a:r>
            <a:endParaRPr sz="127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64 threads</a:t>
            </a:r>
            <a:endParaRPr sz="127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781550" y="2524125"/>
            <a:ext cx="666750" cy="19050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448300" y="2095500"/>
            <a:ext cx="1714500" cy="876300"/>
          </a:xfrm>
          <a:prstGeom prst="rect">
            <a:avLst/>
          </a:prstGeom>
          <a:solidFill>
            <a:srgbClr val="FFF4D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>
            <a:defPPr algn="ctr"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计算</a:t>
            </a:r>
            <a:endParaRPr sz="127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direct float32</a:t>
            </a:r>
            <a:endParaRPr sz="127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162800" y="2524125"/>
            <a:ext cx="666750" cy="19050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829550" y="2095500"/>
            <a:ext cx="1714500" cy="876300"/>
          </a:xfrm>
          <a:prstGeom prst="rect">
            <a:avLst/>
          </a:prstGeom>
          <a:solidFill>
            <a:srgbClr val="EAF8FC"/>
          </a:solidFill>
          <a:ln w="19050">
            <a:solidFill>
              <a:srgbClr val="007FA6"/>
            </a:solidFill>
            <a:prstDash val="solid"/>
          </a:ln>
        </p:spPr>
        <p:txBody>
          <a:bodyPr/>
          <a:lstStyle>
            <a:defPPr algn="ctr"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写入</a:t>
            </a:r>
            <a:endParaRPr sz="127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single pass</a:t>
            </a:r>
            <a:endParaRPr sz="127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85800" y="3429000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2.733 s</a:t>
            </a:r>
            <a:endParaRPr sz="315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85800" y="39719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四例合计</a:t>
            </a:r>
            <a:endParaRPr sz="105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333750" y="3429000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1.382x</a:t>
            </a:r>
            <a:endParaRPr sz="315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333750" y="39719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 exp001</a:t>
            </a:r>
            <a:endParaRPr sz="105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096000" y="3429000"/>
            <a:ext cx="295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1427.391x</a:t>
            </a:r>
            <a:endParaRPr sz="315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096000" y="3971925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原实现 1M</a:t>
            </a:r>
            <a:endParaRPr sz="105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85800" y="4762500"/>
            <a:ext cx="5070475" cy="9963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just">
              <a:buNone/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PCM 归一化串行执行。每个 256 帧 tile 单独创建 OpenMP 区域。保留完整 double 输出矩阵和 double tile staging，最后再做一遍串行 double 到 float32 转换。</a:t>
            </a:r>
            <a:endParaRPr sz="1600" b="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0287000" y="647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r"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Melspec 优化  /  06</a:t>
            </a:r>
            <a:endParaRPr sz="750" b="0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85800" y="4457700"/>
            <a:ext cx="4857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exp001 的额外成本</a:t>
            </a:r>
            <a:endParaRPr sz="112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191250" y="44577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exp008 的改法</a:t>
            </a:r>
            <a:endParaRPr sz="1125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905500" y="4476750"/>
            <a:ext cx="9525" cy="1219200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91250" y="4762500"/>
            <a:ext cx="49530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just">
              <a:def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PCM 归一化改为 64 线程并行。用一个 OpenMP 区域覆盖全部帧，减少反复创建并行区和 barrier。线程完成 Mel 后直接写 float32，删除 double 全矩阵、staging 与末遍转换</a:t>
            </a:r>
            <a:r>
              <a:rPr sz="1050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050" b="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85800" y="5953125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default profile：读取 0.06 s，归一化 0.11 s，计算 0.36 s，写入 0.08 s。峰值内存（RSS）从 779 MB 降至 394 MB，四例从 3.777 s 降至 2.733 s。</a:t>
            </a:r>
            <a:endParaRPr sz="975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>
            <a:alphaModFix amt="4000"/>
          </a:blip>
          <a:srcRect t="4939" r="28793" b="22469"/>
          <a:stretch>
            <a:fillRect/>
          </a:stretch>
        </p:blipFill>
        <p:spPr>
          <a:xfrm>
            <a:off x="2641601" y="902926"/>
            <a:ext cx="9550400" cy="5955074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5800" y="1695450"/>
            <a:ext cx="10382250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685800" y="1000125"/>
            <a:ext cx="10287000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 algn="l"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单节点到多节点</a:t>
            </a:r>
            <a:endParaRPr sz="32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 flipV="1">
            <a:off x="685800" y="1885950"/>
            <a:ext cx="10287000" cy="38100"/>
          </a:xfrm>
          <a:prstGeom prst="rect">
            <a:avLst/>
          </a:prstGeom>
          <a:solidFill>
            <a:srgbClr val="0659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0" y="333375"/>
            <a:ext cx="2924175" cy="666750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704850" y="1571625"/>
            <a:ext cx="981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计算路径稳定后，把连续帧区间拆给不同节点</a:t>
            </a:r>
            <a:endParaRPr sz="105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295400" y="2857500"/>
            <a:ext cx="7620000" cy="19050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10" name="椭圆 9"/>
          <p:cNvSpPr>
            <a:spLocks noGrp="1"/>
          </p:cNvSpPr>
          <p:nvPr/>
        </p:nvSpPr>
        <p:spPr>
          <a:xfrm>
            <a:off x="1095375" y="2657475"/>
            <a:ext cx="400050" cy="400050"/>
          </a:xfrm>
          <a:prstGeom prst="ellipse">
            <a:avLst/>
          </a:prstGeom>
          <a:solidFill>
            <a:srgbClr val="007F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095375" y="2724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09625" y="22288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</a:t>
            </a:r>
            <a:r>
              <a: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05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62000" y="3219450"/>
            <a:ext cx="10953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单节点</a:t>
            </a:r>
            <a:endParaRPr sz="112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09625" y="3581400"/>
            <a:ext cx="10001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3.777</a:t>
            </a:r>
            <a:r>
              <a: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</a:t>
            </a:r>
            <a:endParaRPr sz="1500" b="1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椭圆 14"/>
          <p:cNvSpPr>
            <a:spLocks noGrp="1"/>
          </p:cNvSpPr>
          <p:nvPr/>
        </p:nvSpPr>
        <p:spPr>
          <a:xfrm>
            <a:off x="3571875" y="2657475"/>
            <a:ext cx="400050" cy="400050"/>
          </a:xfrm>
          <a:prstGeom prst="ellipse">
            <a:avLst/>
          </a:prstGeom>
          <a:solidFill>
            <a:srgbClr val="007F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3571875" y="2724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286125" y="22288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exp004</a:t>
            </a:r>
            <a:endParaRPr sz="105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238500" y="3219450"/>
            <a:ext cx="10953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两节点</a:t>
            </a:r>
            <a:endParaRPr sz="112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286125" y="3581400"/>
            <a:ext cx="10001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3.083 s</a:t>
            </a:r>
            <a:endParaRPr sz="1500" b="1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椭圆 19"/>
          <p:cNvSpPr>
            <a:spLocks noGrp="1"/>
          </p:cNvSpPr>
          <p:nvPr/>
        </p:nvSpPr>
        <p:spPr>
          <a:xfrm>
            <a:off x="6048375" y="2657475"/>
            <a:ext cx="400050" cy="400050"/>
          </a:xfrm>
          <a:prstGeom prst="ellipse">
            <a:avLst/>
          </a:prstGeom>
          <a:solidFill>
            <a:srgbClr val="007F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048375" y="2724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762625" y="22288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exp004</a:t>
            </a:r>
            <a:endParaRPr sz="105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715000" y="3219450"/>
            <a:ext cx="10953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三节点</a:t>
            </a:r>
            <a:endParaRPr sz="112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762625" y="3581400"/>
            <a:ext cx="10001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2.533 s</a:t>
            </a:r>
            <a:endParaRPr sz="1500" b="1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8524875" y="2657475"/>
            <a:ext cx="400050" cy="400050"/>
          </a:xfrm>
          <a:prstGeom prst="ellipse">
            <a:avLst/>
          </a:prstGeom>
          <a:solidFill>
            <a:srgbClr val="18A7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8524875" y="2724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239125" y="22288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exp009</a:t>
            </a:r>
            <a:endParaRPr sz="105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191500" y="3219450"/>
            <a:ext cx="10953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三节点最终</a:t>
            </a:r>
            <a:endParaRPr sz="1125" b="1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239125" y="3581400"/>
            <a:ext cx="10001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ctr"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2.186 s</a:t>
            </a:r>
            <a:endParaRPr sz="1500" b="1">
              <a:solidFill>
                <a:srgbClr val="18A7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85800" y="4074160"/>
            <a:ext cx="9906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marL="228600" indent="-114300">
              <a:spcAft>
                <a:spcPts val="800"/>
              </a:spcAft>
              <a:buChar char="•"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 rank 只读取自己的连续 PCM 帧区间</a:t>
            </a:r>
            <a:endParaRPr sz="20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114300">
              <a:spcAft>
                <a:spcPts val="800"/>
              </a:spcAft>
              <a:buChar char="•"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各 rank 直接 pwrite 不重叠输出列，不需要 Gather</a:t>
            </a:r>
            <a:endParaRPr sz="20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114300">
              <a:spcAft>
                <a:spcPts val="800"/>
              </a:spcAft>
              <a:buChar char="•"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原生 Slurm 协调避免 MPI 启动开销</a:t>
            </a:r>
            <a:endParaRPr sz="20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114300">
              <a:spcAft>
                <a:spcPts val="800"/>
              </a:spcAft>
              <a:buChar char="•"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两节点旧路径慢于 exp008，三节点才形成明显收益</a:t>
            </a:r>
            <a:endParaRPr sz="20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10287000" y="647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r"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Melspec 优化  /  07</a:t>
            </a:r>
            <a:endParaRPr sz="750" b="0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>
            <a:alphaModFix amt="4000"/>
          </a:blip>
          <a:srcRect t="4939" r="28793" b="22469"/>
          <a:stretch>
            <a:fillRect/>
          </a:stretch>
        </p:blipFill>
        <p:spPr>
          <a:xfrm>
            <a:off x="2641601" y="902926"/>
            <a:ext cx="9550400" cy="5955074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5800" y="1695450"/>
            <a:ext cx="10382250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685800" y="1000125"/>
            <a:ext cx="10287000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 algn="l"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两个最终成果</a:t>
            </a:r>
            <a:endParaRPr sz="32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 flipV="1">
            <a:off x="685800" y="1885950"/>
            <a:ext cx="10287000" cy="38100"/>
          </a:xfrm>
          <a:prstGeom prst="rect">
            <a:avLst/>
          </a:prstGeom>
          <a:solidFill>
            <a:srgbClr val="0659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0" y="333375"/>
            <a:ext cx="2924175" cy="666750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704850" y="1571625"/>
            <a:ext cx="981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两个方案均通过官方四例；相对加速与同口径原实现加速分别标注</a:t>
            </a:r>
            <a:endParaRPr sz="105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810250" y="2143125"/>
            <a:ext cx="9525" cy="2238375"/>
          </a:xfrm>
          <a:prstGeom prst="rect">
            <a:avLst/>
          </a:prstGeom>
          <a:solidFill>
            <a:srgbClr val="CFE2E9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85800" y="2190750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exp008  单节点最终</a:t>
            </a:r>
            <a:endParaRPr sz="1275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85800" y="2619375"/>
            <a:ext cx="4095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2.733 s</a:t>
            </a:r>
            <a:endParaRPr sz="3450" b="1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85800" y="34861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 001 1.382x</a:t>
            </a:r>
            <a:endParaRPr sz="1275" b="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85800" y="3829050"/>
            <a:ext cx="438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原实现 1M 1427.391x</a:t>
            </a:r>
            <a:endParaRPr sz="120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210300" y="2190750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exp009  三节点最终</a:t>
            </a:r>
            <a:endParaRPr sz="1275" b="1">
              <a:solidFill>
                <a:srgbClr val="18A7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210300" y="2619375"/>
            <a:ext cx="4095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2.186 s</a:t>
            </a:r>
            <a:endParaRPr sz="3450" b="1">
              <a:solidFill>
                <a:srgbClr val="18A7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210300" y="34861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 001 1.728x</a:t>
            </a:r>
            <a:endParaRPr sz="1275" b="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210300" y="3829050"/>
            <a:ext cx="438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原实现 1M 156.271x</a:t>
            </a:r>
            <a:endParaRPr sz="120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85800" y="4552950"/>
            <a:ext cx="419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35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18A7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两个方案均 4/4 PASS</a:t>
            </a:r>
            <a:endParaRPr sz="1400" b="1">
              <a:solidFill>
                <a:srgbClr val="18A7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85800" y="5295900"/>
            <a:ext cx="1028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参考：项目源码与</a:t>
            </a:r>
            <a:r>
              <a: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README  /  NVIDIA </a:t>
            </a:r>
            <a:r>
              <a: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cuFFT、CUDA</a:t>
            </a:r>
            <a:r>
              <a: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/  </a:t>
            </a:r>
            <a:r>
              <a: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OpenMP、GCC</a:t>
            </a:r>
            <a:r>
              <a: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/  </a:t>
            </a:r>
            <a:r>
              <a: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Slurm</a:t>
            </a:r>
            <a:endParaRPr sz="90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85800" y="5619750"/>
            <a:ext cx="1028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AI：Codex（</a:t>
            </a:r>
            <a:r>
              <a:t>DeepSeek-V4.1-Flash-1017, </a:t>
            </a:r>
            <a:r>
              <a:t>reasoning_effort</a:t>
            </a:r>
            <a:r>
              <a:t>=</a:t>
            </a:r>
            <a:r>
              <a:t>max</a:t>
            </a:r>
            <a:r>
              <a:rPr sz="90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）辅助分析、实现草稿、实验编排和材料整理</a:t>
            </a:r>
            <a:endParaRPr sz="90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0287000" y="647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r"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Melspec 优化  /  0</a:t>
            </a:r>
            <a:r>
              <a:rPr lang="en-US"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lang="en-US" sz="750" b="0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2">
            <a:alphaModFix amt="4000"/>
          </a:blip>
          <a:srcRect t="4939" r="28793" b="22469"/>
          <a:stretch>
            <a:fillRect/>
          </a:stretch>
        </p:blipFill>
        <p:spPr>
          <a:xfrm>
            <a:off x="2641601" y="902926"/>
            <a:ext cx="9550400" cy="5955074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5800" y="1695450"/>
            <a:ext cx="10382250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685800" y="1000125"/>
            <a:ext cx="10287000" cy="457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 algn="l"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62A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 与 CPU+GPU 为什么没有胜出</a:t>
            </a:r>
            <a:endParaRPr sz="32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 flipV="1">
            <a:off x="685800" y="1885950"/>
            <a:ext cx="10287000" cy="38100"/>
          </a:xfrm>
          <a:prstGeom prst="rect">
            <a:avLst/>
          </a:prstGeom>
          <a:solidFill>
            <a:srgbClr val="0659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70" y="333375"/>
            <a:ext cx="2924175" cy="666750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704850" y="1571625"/>
            <a:ext cx="1028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66708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计算本身很快，固定启动、设备传输、同步和共享输出共同拖慢完整 CLI</a:t>
            </a:r>
            <a:endParaRPr sz="1050" b="0">
              <a:solidFill>
                <a:srgbClr val="66708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738620" y="2062480"/>
            <a:ext cx="4495165" cy="380873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>
              <a:defRPr sz="112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marL="228600" indent="-114300" algn="just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 路线最快是两节点纯 GPU exp006，合计 4.024 s，仍慢于 exp001 3.777 s 和 exp008 2.733 s。</a:t>
            </a:r>
            <a:endParaRPr sz="14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114300" algn="just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 路径含 H2D、kernel、D2H 和同步约 0.161–0.233 s，核心算术本身并不慢。</a:t>
            </a:r>
            <a:endParaRPr sz="14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114300" algn="just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 PCM 读取约 0.093 s/rank，只占阶段时间约 9%，磁盘读取不是主要原因。</a:t>
            </a:r>
            <a:endParaRPr sz="14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114300" algn="just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 1024 帧同步一次，default 每 rank 约 94 次。pageable 输出缓冲使传输无法与下一批计算重叠。</a:t>
            </a:r>
            <a:endParaRPr sz="14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114300" algn="just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共享输出写入约 0.280–0.489 s，rank 1 约占 49%，default 完整输出约 188 MiB。</a:t>
            </a:r>
            <a:endParaRPr sz="14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114300" algn="just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CUDA 初始化、显存分配和 cuFFT plan 另有约 0.056–0.060 s 固定开销，短用例难以摊薄。</a:t>
            </a:r>
            <a:endParaRPr sz="14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114300" algn="just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>
                <a:solidFill>
                  <a:srgbClr val="1D293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CPU+GPU 还会竞争主机内存、缓存和 I/O，并等待较慢一侧。纯 GPU 5.164 s 仍快于异构 5.179/5.207 s。</a:t>
            </a:r>
            <a:endParaRPr sz="1400">
              <a:solidFill>
                <a:srgbClr val="1D293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85800" y="5810250"/>
            <a:ext cx="1066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结论：在当前四个短用例和共享输出路径下，GPU 算术不是主要瓶颈，耗时主要落在设备传输、同步与输出 I/O。</a:t>
            </a:r>
            <a:endParaRPr sz="127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0287000" y="647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r"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buNone/>
              <a:def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Melspec 优化  /  0</a:t>
            </a:r>
            <a:r>
              <a:rPr lang="en-US" sz="750" b="0">
                <a:solidFill>
                  <a:srgbClr val="007FA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endParaRPr lang="en-US" sz="750" b="0">
              <a:solidFill>
                <a:srgbClr val="007FA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13" name="Chart"/>
          <p:cNvGraphicFramePr/>
          <p:nvPr/>
        </p:nvGraphicFramePr>
        <p:xfrm>
          <a:off x="685800" y="1952625"/>
          <a:ext cx="6096000" cy="3714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365" cy="6866255"/>
          </a:xfrm>
          <a:prstGeom prst="rect">
            <a:avLst/>
          </a:prstGeom>
        </p:spPr>
      </p:pic>
      <p:sp>
        <p:nvSpPr>
          <p:cNvPr id="5" name="文本框 4"/>
          <p:cNvSpPr>
            <a:spLocks noGrp="1"/>
          </p:cNvSpPr>
          <p:nvPr/>
        </p:nvSpPr>
        <p:spPr>
          <a:xfrm>
            <a:off x="1381125" y="2143125"/>
            <a:ext cx="7470775" cy="80200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 algn="l"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4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400" b="1">
                <a:solidFill>
                  <a:srgbClr val="FFFFFF"/>
                </a:solidFill>
                <a:latin typeface="SDK_SC_Web" panose="00020600040101010101" charset="-128"/>
                <a:ea typeface="SDK_SC_Web" panose="00020600040101010101" charset="-128"/>
                <a:cs typeface="SDK_SC_Web" panose="00020600040101010101" charset="-128"/>
              </a:rPr>
              <a:t>Thanks for Listening!</a:t>
            </a:r>
            <a:endParaRPr sz="4400" b="1">
              <a:solidFill>
                <a:srgbClr val="FFFFFF"/>
              </a:solidFill>
              <a:latin typeface="SDK_SC_Web" panose="00020600040101010101" charset="-128"/>
              <a:ea typeface="SDK_SC_Web" panose="00020600040101010101" charset="-128"/>
              <a:cs typeface="SDK_SC_Web" panose="00020600040101010101" charset="-128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428750" y="39052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00" b="0">
                <a:solidFill>
                  <a:srgbClr val="24A8D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200" b="0">
              <a:solidFill>
                <a:srgbClr val="24A8D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3163</Words>
  <Application>WPS 演示</Application>
  <PresentationFormat>Converted Presentation</PresentationFormat>
  <Paragraphs>326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宋体</vt:lpstr>
      <vt:lpstr>Wingdings</vt:lpstr>
      <vt:lpstr>Arial</vt:lpstr>
      <vt:lpstr>微软雅黑</vt:lpstr>
      <vt:lpstr>SDK_SC_Web</vt:lpstr>
      <vt:lpstr>等线</vt:lpstr>
      <vt:lpstr>Arial Unicode MS</vt:lpstr>
      <vt:lpstr>等线 Light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王正韬</cp:lastModifiedBy>
  <cp:revision>1</cp:revision>
  <dcterms:created xsi:type="dcterms:W3CDTF">2026-10-31T08:59:28Z</dcterms:created>
  <dcterms:modified xsi:type="dcterms:W3CDTF">2026-10-31T08:59:28Z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2052-12.1.0.28022</vt:lpwstr>
  </property>
  <property fmtid="{D5CDD505-2E9C-101B-9397-08002B2CF9AE}" pid="3" name="ICV">
    <vt:lpwstr>2FDFACA0CCE844898596F828D63DEE9B_12</vt:lpwstr>
  </property>
</Properties>
</file>