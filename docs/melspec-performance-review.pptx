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embeddedFontLst>
    <p:embeddedFont>
      <p:font typeface="微软雅黑" panose="020B0503020204020204" charset="-122"/>
      <p:regular r:id="rId17"/>
      <p:bold r:id="rId18"/>
    </p:embeddedFont>
    <p:embeddedFont>
      <p:font typeface="SDK_SC_Web" panose="00020600040101010101" charset="-128"/>
      <p:regular r:id="rId19"/>
    </p:embeddedFont>
    <p:embeddedFont>
      <p:font typeface="等线" panose="02010600030101010101" charset="-122"/>
      <p:regular r:id="rId20"/>
      <p:bold r:id="rId21"/>
    </p:embeddedFont>
    <p:embeddedFont>
      <p:font typeface="等线 Light" panose="02010600030101010101" charset="-122"/>
      <p:regular r:id="rId22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53" y="-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四例合计</c:f>
              <c:strCache>
                <c:ptCount val="1"/>
                <c:pt idx="0">
                  <c:v>四例合计</c:v>
                </c:pt>
              </c:strCache>
            </c:strRef>
          </c:tx>
          <c:spPr>
            <a:solidFill>
              <a:srgbClr val="007FA6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</c:spPr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006 两节点纯 GPU</c:v>
                </c:pt>
                <c:pt idx="1">
                  <c:v>002 单节点双 GPU</c:v>
                </c:pt>
                <c:pt idx="2">
                  <c:v>005 两节点 CPU+GPU</c:v>
                </c:pt>
                <c:pt idx="3">
                  <c:v>003 单节点 CPU+GPU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4.024</c:v>
                </c:pt>
                <c:pt idx="1">
                  <c:v>5.164</c:v>
                </c:pt>
                <c:pt idx="2">
                  <c:v>5.179</c:v>
                </c:pt>
                <c:pt idx="3">
                  <c:v>5.207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CFE2E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ef7a98ed-82a2-4bac-8c99-4f4f7d8776fc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开场说明只保留一条主线：基线问题、两次关键优化、多节点扩展和 GPU 复盘。</a:t>
            </a:r>
          </a:p>
          <a:p>
            <a:r>
              <a:t>最终提交两个成果：单节点 exp008 和三节点 exp009。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原始实现正确，但重复 FFT 准备、全长度实数 FFT、稠密 Mel 和完整功率谱拖慢了热路径。</a:t>
            </a:r>
          </a:p>
          <a:p>
            <a:r>
              <a:t>1M 前缀上 exp001 已经比自己实现快 731.206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exp001 只讲三点：半长度实数 FFT、稀疏 Mel、分块并行。</a:t>
            </a:r>
          </a:p>
          <a:p>
            <a:r>
              <a:t>64 线程四例合计 3.777 秒，1M 样本上相对原实现为 731.206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exp001 是共同基础。GPU 路线从 exp001 向 exp002/003/005 分叉，exp006 是独立纯 GPU 对照。</a:t>
            </a:r>
          </a:p>
          <a:p>
            <a:r>
              <a:t>最终主线是 exp001 分别派生 exp007 和 exp008，exp008 再包含 exp009。</a:t>
            </a:r>
          </a:p>
          <a:p>
            <a:r>
              <a:t>exp009 还复用 exp004 的本地帧划分和分布写入设计。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九次实验都保留在这张总表里，后续只展开最终相关的主干。</a:t>
            </a:r>
          </a:p>
          <a:p>
            <a:r>
              <a:t>四例成绩统一相对 exp001 的 64 线程结果。原实现对照使用相同的 1M 前缀。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exp008 保留算法数学，只并行归一化、合并 OpenMP 区域并直接输出 float32。</a:t>
            </a:r>
          </a:p>
          <a:p>
            <a:r>
              <a:t>四例合计 2.733 秒，相对 exp001 为 1.382 倍，1M 样本相对原实现为 1427.391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单节点优化到 2.733 秒后，剩余成本主要来自输出和总帧规模，因此尝试多节点。</a:t>
            </a:r>
          </a:p>
          <a:p>
            <a:r>
              <a:t>每个 rank 处理连续帧，只读局部 PCM，并直接写自己的输出列。最终 exp009 为 2.186 秒。</a:t>
            </a:r>
          </a:p>
          <a:p>
            <a:r>
              <a:t>两节点旧路径 3.083 秒，比单节点慢，说明多节点必须同时优化数据路径。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最终保留两个方案：exp008 为 2.733 秒，exp009 为 2.186 秒。</a:t>
            </a:r>
          </a:p>
          <a:p>
            <a:r>
              <a:t>两者均通过官方四例。1M 原实现加速与完整四例加速的口径不同。</a:t>
            </a:r>
          </a:p>
          <a:p>
            <a:r>
              <a:t>本页按题目要求披露工具用途。最终实现、结论和数据均经复核，正式数据来自实际作业。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GPU 路线最好的是 exp006，合计 4.024 秒，但仍慢于 CPU 最终方案。</a:t>
            </a:r>
          </a:p>
          <a:p>
            <a:r>
              <a:t>输入 I/O 很短，真正成本是设备传输、每 1024 帧同步和共享输出写入。</a:t>
            </a:r>
          </a:p>
          <a:p>
            <a:r>
              <a:t>CPU+GPU 还会竞争内存带宽，最终等待较慢的一侧。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Q&amp;A 先确认问题的比较口径。</a:t>
            </a:r>
          </a:p>
          <a:p>
            <a:r>
              <a:t>常见问题包括基线为什么慢、GPU/CPU+GPU 为什么没有胜出、三个加速比如何区分，以及如何复现。</a:t>
            </a:r>
          </a:p>
          <a:p>
            <a:r>
              <a:t>完整回答见 docs/presentation-script.md 的 Q&amp;A 速查。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幻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幻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幻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幻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幻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幻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幻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幻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幻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幻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幻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幻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8.png"/><Relationship Id="rId20" Type="http://schemas.openxmlformats.org/officeDocument/2006/relationships/image" Target="../media/image7.png"/><Relationship Id="rId2" Type="http://schemas.openxmlformats.org/officeDocument/2006/relationships/image" Target="../media/image3.png"/><Relationship Id="rId19" Type="http://schemas.openxmlformats.org/officeDocument/2006/relationships/image" Target="../media/image6.png"/><Relationship Id="rId18" Type="http://schemas.openxmlformats.org/officeDocument/2006/relationships/image" Target="../media/image5.png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9.png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-152399" y="0"/>
            <a:ext cx="12344400" cy="6857999"/>
          </a:xfrm>
          <a:prstGeom prst="rect">
            <a:avLst/>
          </a:prstGeom>
          <a:solidFill>
            <a:srgbClr val="E9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400" y="238760"/>
            <a:ext cx="12382500" cy="6619240"/>
          </a:xfrm>
          <a:prstGeom prst="rect">
            <a:avLst/>
          </a:prstGeom>
        </p:spPr>
      </p:pic>
      <p:sp>
        <p:nvSpPr>
          <p:cNvPr id="5" name="文本框 4"/>
          <p:cNvSpPr>
            <a:spLocks noGrp="1"/>
          </p:cNvSpPr>
          <p:nvPr/>
        </p:nvSpPr>
        <p:spPr>
          <a:xfrm>
            <a:off x="664210" y="1483360"/>
            <a:ext cx="8213090" cy="133858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 algn="l">
              <a:defRPr sz="36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6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6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6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6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6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6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6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6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6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6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>
                <a:solidFill>
                  <a:srgbClr val="062A3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DK_SC_Web" panose="00020600040101010101" charset="-128"/>
                <a:ea typeface="SDK_SC_Web" panose="00020600040101010101" charset="-128"/>
                <a:cs typeface="SDK_SC_Web" panose="00020600040101010101" charset="-128"/>
              </a:rPr>
              <a:t>Towards Higher Performance in </a:t>
            </a:r>
            <a:r>
              <a:rPr lang="en-US" sz="4000">
                <a:solidFill>
                  <a:srgbClr val="062A3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DK_SC_Web" panose="00020600040101010101" charset="-128"/>
                <a:ea typeface="SDK_SC_Web" panose="00020600040101010101" charset="-128"/>
                <a:cs typeface="SDK_SC_Web" panose="00020600040101010101" charset="-128"/>
              </a:rPr>
              <a:t>Melspec Computation</a:t>
            </a:r>
            <a:endParaRPr lang="en-US" sz="4000">
              <a:solidFill>
                <a:srgbClr val="062A3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DK_SC_Web" panose="00020600040101010101" charset="-128"/>
              <a:ea typeface="SDK_SC_Web" panose="00020600040101010101" charset="-128"/>
              <a:cs typeface="SDK_SC_Web" panose="00020600040101010101" charset="-128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00" y="382362"/>
            <a:ext cx="1964267" cy="61807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  <p:sp>
        <p:nvSpPr>
          <p:cNvPr id="14" name="文本框 13"/>
          <p:cNvSpPr>
            <a:spLocks noGrp="1"/>
          </p:cNvSpPr>
          <p:nvPr/>
        </p:nvSpPr>
        <p:spPr>
          <a:xfrm>
            <a:off x="849630" y="3429000"/>
            <a:ext cx="2641600" cy="58864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sz="1800" b="0">
              <a:ln>
                <a:noFill/>
              </a:ln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0" y="6688667"/>
            <a:ext cx="12192000" cy="169333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33450" y="2821940"/>
            <a:ext cx="4030345" cy="4648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8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07F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——Melspec</a:t>
            </a:r>
            <a:r>
              <a:rPr lang="zh-CN" sz="2400" b="1">
                <a:solidFill>
                  <a:srgbClr val="007F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sz="2400" b="1">
                <a:solidFill>
                  <a:srgbClr val="007F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性能优化</a:t>
            </a:r>
            <a:endParaRPr sz="2400" b="1">
              <a:solidFill>
                <a:srgbClr val="007FA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alphaModFix amt="4000"/>
          </a:blip>
          <a:srcRect t="4939" r="28793" b="22469"/>
          <a:stretch>
            <a:fillRect/>
          </a:stretch>
        </p:blipFill>
        <p:spPr>
          <a:xfrm>
            <a:off x="2641601" y="902926"/>
            <a:ext cx="9550400" cy="5955074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685800" y="1695450"/>
            <a:ext cx="1038225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685800" y="1000125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原始参考实现的问题</a:t>
            </a:r>
            <a:endParaRPr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V="1">
            <a:off x="685800" y="1762125"/>
            <a:ext cx="10287000" cy="38100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04850" y="15716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实现正确，但热路径存在重复计算、乘零和大块内存流量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5800" y="20955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38250" y="20955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重复准备</a:t>
            </a:r>
            <a:endParaRPr sz="200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696335" y="2040890"/>
            <a:ext cx="3292475" cy="7105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just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dirty="0" err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每帧重新分配中间数组，重算位反转索引，并在每个</a:t>
            </a:r>
            <a:r>
              <a:rPr sz="1200" b="0" dirty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FFT stage </a:t>
            </a:r>
            <a:r>
              <a:rPr sz="1200" b="0" dirty="0" err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sz="1200" b="0" dirty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dirty="0" err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twiddle。这些与帧内容无关的准备成本被反复执行</a:t>
            </a:r>
            <a:r>
              <a:rPr sz="1200" b="0" dirty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b="0" dirty="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85800" y="2857500"/>
            <a:ext cx="10572750" cy="9525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0099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238250" y="30099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全长度复数 FFT</a:t>
            </a:r>
            <a:endParaRPr sz="200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695700" y="2971800"/>
            <a:ext cx="335470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just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dirty="0" err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实数输入仍走</a:t>
            </a:r>
            <a:r>
              <a:rPr sz="1200" b="0" dirty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dirty="0" err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n_fft</a:t>
            </a:r>
            <a:r>
              <a:rPr sz="1200" b="0" dirty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dirty="0" err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点复数</a:t>
            </a:r>
            <a:r>
              <a:rPr sz="1200" b="0" dirty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dirty="0" err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FFT。打包成</a:t>
            </a:r>
            <a:r>
              <a:rPr sz="1200" b="0" dirty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dirty="0" err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n_fft</a:t>
            </a:r>
            <a:r>
              <a:rPr sz="1200" b="0" dirty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/2 </a:t>
            </a:r>
            <a:r>
              <a:rPr sz="1200" b="0" dirty="0" err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点复数变换即可保留相同频率分辨率，原路径的计算和中间数组都更长</a:t>
            </a:r>
            <a:r>
              <a:rPr sz="1200" b="0" dirty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b="0" dirty="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3771900"/>
            <a:ext cx="10572750" cy="9525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85800" y="39243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238250" y="39243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 Mel 投影</a:t>
            </a:r>
            <a:endParaRPr sz="200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3714750" y="3924300"/>
            <a:ext cx="3383915" cy="6616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just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每个三角滤波器只有窄带非零，原实现却扫描 n_mels × (n_fft/2+1) 全表。大部分乘法权重为零，访存量也随滤波器数量放大。</a:t>
            </a:r>
            <a:endParaRPr sz="1200" b="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85800" y="4686300"/>
            <a:ext cx="10572750" cy="9525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85800" y="48387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1238250" y="477774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完整功率谱</a:t>
            </a:r>
            <a:endParaRPr sz="200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3714750" y="4838700"/>
            <a:ext cx="3465830" cy="625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[bin, frame] 保留完整 double 功率谱，default 约 6.3 GB。Mel 投影跨行读取，缓存局部性差，峰值内存压力高。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57531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同口径 1M default：61.663 s 降至 0.084 s，exp001 加速 731.206x。</a:t>
            </a:r>
            <a:endParaRPr sz="1125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四类浪费叠加在每帧热路径上，主要成本来自计算组织和访存，不是测试脚本或磁盘读取。</a:t>
            </a:r>
            <a:endParaRPr sz="1125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287000" y="64770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r"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Melspec 优化  /  02</a:t>
            </a:r>
            <a:endParaRPr sz="750" b="0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81850" y="1819275"/>
            <a:ext cx="3369310" cy="101917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81850" y="2901950"/>
            <a:ext cx="3914140" cy="83439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81850" y="3783330"/>
            <a:ext cx="2998470" cy="88328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81850" y="4838065"/>
            <a:ext cx="449326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alphaModFix amt="4000"/>
          </a:blip>
          <a:srcRect t="4939" r="28793" b="22469"/>
          <a:stretch>
            <a:fillRect/>
          </a:stretch>
        </p:blipFill>
        <p:spPr>
          <a:xfrm>
            <a:off x="2641601" y="902926"/>
            <a:ext cx="9550400" cy="5955074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685800" y="1695450"/>
            <a:ext cx="1038225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685800" y="1000125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exp001 的算法优化</a:t>
            </a:r>
            <a:endParaRPr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V="1">
            <a:off x="685800" y="1733550"/>
            <a:ext cx="10287000" cy="38100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04850" y="1409700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用半长度实数 FFT、稀疏 Mel 和并行分块消除主要浪费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5800" y="18669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38250" y="18478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打包实数 FFT</a:t>
            </a:r>
            <a:endParaRPr sz="180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239077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85800" y="2981325"/>
            <a:ext cx="6334125" cy="9525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85800" y="317182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238250" y="3171825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 Mel</a:t>
            </a:r>
            <a:endParaRPr sz="180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38250" y="351472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85800" y="4105275"/>
            <a:ext cx="6334125" cy="9525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85800" y="42957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238250" y="4295775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分块与并行</a:t>
            </a:r>
            <a:endParaRPr sz="180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38250" y="463867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524750" y="22860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3.777 s</a:t>
            </a:r>
            <a:endParaRPr sz="3150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524750" y="28289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64 线程四例合计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524750" y="390525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731.206x</a:t>
            </a:r>
            <a:endParaRPr sz="31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524750" y="444817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原实现 1M 样本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287000" y="64770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r"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Melspec 优化  /  03</a:t>
            </a:r>
            <a:endParaRPr sz="750" b="0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238885" y="2196465"/>
            <a:ext cx="2914650" cy="4610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just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将相邻两帧的实部和虚部分别打包，把核心 FFT 从 n_fft 点复数变换降到 n_fft/2 点。一次后处理即可恢复实数频谱，频率分辨率不变。</a:t>
            </a:r>
            <a:endParaRPr sz="1125" b="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238250" y="3514725"/>
            <a:ext cx="5780405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预先构图，只保存每个三角滤波器的非零区间和权重。计算时直接跳过零权重频率箱，显著减少乘法与无效访存。</a:t>
            </a:r>
            <a:endParaRPr sz="1125" b="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238250" y="4638675"/>
            <a:ext cx="5734685" cy="360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256 帧分块，复用 twiddle、位反转表和线程工作区。FFT、功率与稀疏 Mel 融合在 OpenMP 帧循环中，并用 SIMD 累加。</a:t>
            </a:r>
            <a:endParaRPr sz="1125" b="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5800" y="53149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结果：64 线程 spread 下四例合计 3.777 s，4/4 PASS。相比单线程 79.120 s 提升约 20.95x，也为 exp008 和 exp009 保留了同一套 FFT 与 Mel 数学。</a:t>
            </a:r>
            <a:endParaRPr sz="1050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242435" y="1771650"/>
            <a:ext cx="2745740" cy="11995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>
            <a:spLocks noGrp="1"/>
          </p:cNvSpPr>
          <p:nvPr/>
        </p:nvSpPr>
        <p:spPr>
          <a:xfrm>
            <a:off x="685800" y="1695450"/>
            <a:ext cx="1038225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596348" y="1108749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代码演进关系</a:t>
            </a:r>
            <a:endParaRPr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V="1">
            <a:off x="-95250" y="-95250"/>
            <a:ext cx="9525" cy="9525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596348" y="166687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粗线是直接源码包含或主要演化，细线是设计复用与对照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571750"/>
            <a:ext cx="1476375" cy="590550"/>
          </a:xfrm>
          <a:prstGeom prst="rect">
            <a:avLst/>
          </a:prstGeom>
          <a:solidFill>
            <a:srgbClr val="062A3B"/>
          </a:solidFill>
          <a:ln w="19050">
            <a:solidFill>
              <a:srgbClr val="007FA6"/>
            </a:solidFill>
            <a:prstDash val="solid"/>
          </a:ln>
        </p:spPr>
        <p:txBody>
          <a:bodyPr/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src/melspec.cpp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714625" y="2571750"/>
            <a:ext cx="1571625" cy="590550"/>
          </a:xfrm>
          <a:prstGeom prst="rect">
            <a:avLst/>
          </a:prstGeom>
          <a:solidFill>
            <a:srgbClr val="EAF8FC"/>
          </a:solidFill>
          <a:ln w="19050">
            <a:solidFill>
              <a:srgbClr val="007FA6"/>
            </a:solidFill>
            <a:prstDash val="solid"/>
          </a:ln>
        </p:spPr>
        <p:txBody>
          <a:bodyPr/>
          <a:lstStyle>
            <a:defPPr algn="ctr"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exp001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单节点纯</a:t>
            </a:r>
            <a:r>
              <a:t>CPU基础优化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000625" y="1476375"/>
            <a:ext cx="1381125" cy="590550"/>
          </a:xfrm>
          <a:prstGeom prst="rect">
            <a:avLst/>
          </a:prstGeom>
          <a:solidFill>
            <a:srgbClr val="FFF4DF"/>
          </a:solidFill>
          <a:ln w="19050">
            <a:solidFill>
              <a:srgbClr val="007FA6"/>
            </a:solidFill>
            <a:prstDash val="solid"/>
          </a:ln>
        </p:spPr>
        <p:txBody>
          <a:bodyPr/>
          <a:lstStyle>
            <a:defPPr algn="ctr"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exp002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单节点双GPU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762750" y="1476375"/>
            <a:ext cx="1381125" cy="590550"/>
          </a:xfrm>
          <a:prstGeom prst="rect">
            <a:avLst/>
          </a:prstGeom>
          <a:solidFill>
            <a:srgbClr val="FFF4DF"/>
          </a:solidFill>
          <a:ln w="19050">
            <a:solidFill>
              <a:srgbClr val="007FA6"/>
            </a:solidFill>
            <a:prstDash val="solid"/>
          </a:ln>
        </p:spPr>
        <p:txBody>
          <a:bodyPr/>
          <a:lstStyle>
            <a:defPPr algn="ctr"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exp003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单节点异构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24875" y="1476375"/>
            <a:ext cx="1428750" cy="590550"/>
          </a:xfrm>
          <a:prstGeom prst="rect">
            <a:avLst/>
          </a:prstGeom>
          <a:solidFill>
            <a:srgbClr val="FFF4DF"/>
          </a:solidFill>
          <a:ln w="19050">
            <a:solidFill>
              <a:srgbClr val="007FA6"/>
            </a:solidFill>
            <a:prstDash val="solid"/>
          </a:ln>
        </p:spPr>
        <p:txBody>
          <a:bodyPr/>
          <a:lstStyle>
            <a:defPPr algn="ctr"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exp005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多节点异构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24875" y="2381250"/>
            <a:ext cx="1428750" cy="590550"/>
          </a:xfrm>
          <a:prstGeom prst="rect">
            <a:avLst/>
          </a:prstGeom>
          <a:solidFill>
            <a:srgbClr val="FFF4DF"/>
          </a:solidFill>
          <a:ln w="19050">
            <a:solidFill>
              <a:srgbClr val="007FA6"/>
            </a:solidFill>
            <a:prstDash val="solid"/>
          </a:ln>
        </p:spPr>
        <p:txBody>
          <a:bodyPr/>
          <a:lstStyle>
            <a:defPPr algn="ctr"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exp006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多节点GPU对照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000625" y="3095625"/>
            <a:ext cx="1571625" cy="590550"/>
          </a:xfrm>
          <a:prstGeom prst="rect">
            <a:avLst/>
          </a:prstGeom>
          <a:solidFill>
            <a:srgbClr val="EAF8FC"/>
          </a:solidFill>
          <a:ln w="19050">
            <a:solidFill>
              <a:srgbClr val="007FA6"/>
            </a:solidFill>
            <a:prstDash val="solid"/>
          </a:ln>
        </p:spPr>
        <p:txBody>
          <a:bodyPr/>
          <a:lstStyle>
            <a:defPPr algn="ctr"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exp004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多节点纯CPU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000625" y="3952875"/>
            <a:ext cx="1571625" cy="590550"/>
          </a:xfrm>
          <a:prstGeom prst="rect">
            <a:avLst/>
          </a:prstGeom>
          <a:solidFill>
            <a:srgbClr val="F2F4F7"/>
          </a:solidFill>
          <a:ln w="19050">
            <a:solidFill>
              <a:srgbClr val="007FA6"/>
            </a:solidFill>
            <a:prstDash val="solid"/>
          </a:ln>
        </p:spPr>
        <p:txBody>
          <a:bodyPr/>
          <a:lstStyle>
            <a:defPPr algn="ctr"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exp007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profile</a:t>
            </a:r>
            <a:endParaRPr sz="1050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714625" y="3952875"/>
            <a:ext cx="1571625" cy="590550"/>
          </a:xfrm>
          <a:prstGeom prst="rect">
            <a:avLst/>
          </a:prstGeom>
          <a:solidFill>
            <a:srgbClr val="E6F8F1"/>
          </a:solidFill>
          <a:ln w="28575">
            <a:solidFill>
              <a:srgbClr val="18A77A"/>
            </a:solidFill>
            <a:prstDash val="solid"/>
          </a:ln>
        </p:spPr>
        <p:txBody>
          <a:bodyPr/>
          <a:lstStyle>
            <a:defPPr algn="ctr"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exp008</a:t>
            </a:r>
            <a:endParaRPr sz="105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单节点纯CPU最终</a:t>
            </a:r>
            <a:endParaRPr sz="105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714625" y="5095875"/>
            <a:ext cx="1571625" cy="590550"/>
          </a:xfrm>
          <a:prstGeom prst="rect">
            <a:avLst/>
          </a:prstGeom>
          <a:solidFill>
            <a:srgbClr val="E6F8F1"/>
          </a:solidFill>
          <a:ln w="28575">
            <a:solidFill>
              <a:srgbClr val="18A77A"/>
            </a:solidFill>
            <a:prstDash val="solid"/>
          </a:ln>
        </p:spPr>
        <p:txBody>
          <a:bodyPr/>
          <a:lstStyle>
            <a:defPPr algn="ctr"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exp009</a:t>
            </a:r>
            <a:endParaRPr sz="105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050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多节点</a:t>
            </a:r>
            <a:r>
              <a:rPr i="1">
                <a:solidFill>
                  <a:srgbClr val="FF0000"/>
                </a:solidFill>
              </a:rPr>
              <a:t>纯CPU</a:t>
            </a:r>
            <a:r>
              <a:rPr sz="105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</a:t>
            </a:r>
            <a:endParaRPr sz="105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62175" y="2857500"/>
            <a:ext cx="552450" cy="28575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286250" y="2867025"/>
            <a:ext cx="285750" cy="28575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67250" y="1771650"/>
            <a:ext cx="28575" cy="1095375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686225" y="1771650"/>
            <a:ext cx="324000" cy="28575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1771650"/>
            <a:ext cx="381000" cy="28575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43875" y="1771650"/>
            <a:ext cx="381000" cy="28575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239250" y="2066925"/>
            <a:ext cx="28575" cy="314325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286250" y="2867025"/>
            <a:ext cx="381000" cy="28575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667250" y="2867025"/>
            <a:ext cx="28575" cy="558000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667250" y="3408362"/>
            <a:ext cx="333375" cy="28575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495675" y="3162300"/>
            <a:ext cx="28575" cy="790575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786437" y="3686175"/>
            <a:ext cx="19050" cy="270000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301437" y="4248150"/>
            <a:ext cx="684000" cy="19050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495675" y="4543425"/>
            <a:ext cx="28575" cy="552450"/>
          </a:xfrm>
          <a:prstGeom prst="rect">
            <a:avLst/>
          </a:prstGeom>
          <a:solidFill>
            <a:srgbClr val="18A77A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572250" y="3390900"/>
            <a:ext cx="396000" cy="19050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949200" y="3394200"/>
            <a:ext cx="19050" cy="2016000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303200" y="5391150"/>
            <a:ext cx="2646000" cy="19050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0287000" y="64770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r"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Melspec 优化  /  04</a:t>
            </a:r>
            <a:endParaRPr sz="750" b="0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00395" y="2061210"/>
            <a:ext cx="28575" cy="612000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 rot="5400000">
            <a:off x="7106588" y="1258238"/>
            <a:ext cx="28575" cy="2808000"/>
          </a:xfrm>
          <a:prstGeom prst="rect">
            <a:avLst/>
          </a:prstGeom>
          <a:solidFill>
            <a:srgbClr val="007FA6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alphaModFix amt="4000"/>
          </a:blip>
          <a:srcRect t="4939" r="28793" b="22469"/>
          <a:stretch>
            <a:fillRect/>
          </a:stretch>
        </p:blipFill>
        <p:spPr>
          <a:xfrm>
            <a:off x="2641601" y="902926"/>
            <a:ext cx="9550400" cy="5955074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685800" y="1695450"/>
            <a:ext cx="1038225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685800" y="1000125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exp001–009 结果总览</a:t>
            </a:r>
            <a:endParaRPr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V="1">
            <a:off x="685800" y="1885950"/>
            <a:ext cx="10287000" cy="38100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04850" y="15716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官方四用例取三次最小值；相对值统一以 exp001 T=64 的 3.777 s 为基线</a:t>
            </a:r>
            <a:endParaRPr sz="10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85800" y="1924050"/>
          <a:ext cx="10820400" cy="3762380"/>
        </p:xfrm>
        <a:graphic>
          <a:graphicData uri="http://schemas.openxmlformats.org/drawingml/2006/table">
            <a:tbl>
              <a:tblPr firstRow="1" bandRow="1"/>
              <a:tblGrid>
                <a:gridCol w="719455"/>
                <a:gridCol w="7462520"/>
                <a:gridCol w="1381125"/>
                <a:gridCol w="1257300"/>
              </a:tblGrid>
              <a:tr h="376238">
                <a:tc>
                  <a:txBody>
                    <a:bodyPr/>
                    <a:lstStyle/>
                    <a:p>
                      <a:r>
                        <a:t>exp#</a:t>
                      </a:r>
                    </a:p>
                  </a:txBody>
                  <a:tcPr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关键思路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四例合计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相对 001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001</a:t>
                      </a:r>
                    </a:p>
                  </a:txBody>
                  <a:tcPr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打包实数 FFT、稀疏 Mel、SIMD、OpenMP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3.777 s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1.000x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002</a:t>
                      </a:r>
                    </a:p>
                  </a:txBody>
                  <a:tcPr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单节点双 GPU，cuFFT D2Z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5.164 s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0.731x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003</a:t>
                      </a:r>
                    </a:p>
                  </a:txBody>
                  <a:tcPr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单节点 CPU + 双 GPU 异构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5.207 s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0.725x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004</a:t>
                      </a:r>
                    </a:p>
                  </a:txBody>
                  <a:tcPr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多节点 CPU，本地帧区间与 pwrite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2.533 s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1.491x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005</a:t>
                      </a:r>
                    </a:p>
                  </a:txBody>
                  <a:tcPr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两节点 CPU+GPU 异构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5.179 s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0.729x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006</a:t>
                      </a:r>
                    </a:p>
                  </a:txBody>
                  <a:tcPr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两节点纯 GPU，CPU 不参与帧计算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4.024 s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0.939x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t>007</a:t>
                      </a:r>
                    </a:p>
                  </a:txBody>
                  <a:tcPr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阶段 profile，不改变算法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profile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基线分析</a:t>
                      </a:r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rPr b="1"/>
                        <a:t>008</a:t>
                      </a:r>
                      <a:endParaRPr b="1"/>
                    </a:p>
                  </a:txBody>
                  <a:tcPr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单节点最终：更短的数据路径</a:t>
                      </a:r>
                      <a:endParaRPr b="1"/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2.733 s</a:t>
                      </a:r>
                      <a:endParaRPr b="1"/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1.382x</a:t>
                      </a:r>
                      <a:endParaRPr b="1"/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rPr b="1"/>
                        <a:t>009</a:t>
                      </a:r>
                      <a:endParaRPr b="1"/>
                    </a:p>
                  </a:txBody>
                  <a:tcPr>
                    <a:lnL w="9525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三节点最终：本地读、并行算、分布写</a:t>
                      </a:r>
                      <a:endParaRPr b="1"/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2.186 s</a:t>
                      </a:r>
                      <a:endParaRPr b="1"/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1.728x</a:t>
                      </a:r>
                      <a:endParaRPr b="1"/>
                    </a:p>
                  </a:txBody>
                  <a:tcPr>
                    <a:lnL w="9525" cmpd="sng">
                      <a:solidFill>
                        <a:srgbClr val="CFE2E9"/>
                      </a:solidFill>
                      <a:prstDash val="solid"/>
                    </a:lnL>
                    <a:lnR w="9525">
                      <a:solidFill>
                        <a:srgbClr val="CFE2E9"/>
                      </a:solidFill>
                      <a:prstDash val="solid"/>
                    </a:lnR>
                    <a:lnT w="9525" cmpd="sng">
                      <a:solidFill>
                        <a:srgbClr val="CFE2E9"/>
                      </a:solidFill>
                      <a:prstDash val="solid"/>
                    </a:lnT>
                    <a:lnB w="9525">
                      <a:solidFill>
                        <a:srgbClr val="CFE2E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矩形 9"/>
          <p:cNvSpPr>
            <a:spLocks noGrp="1"/>
          </p:cNvSpPr>
          <p:nvPr/>
        </p:nvSpPr>
        <p:spPr>
          <a:xfrm>
            <a:off x="704850" y="58483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最终方案为 exp008 与 exp009；完整原实现对照使用同一 1M 样本前缀。</a:t>
            </a:r>
            <a:endParaRPr sz="975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287000" y="64770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r"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Melspec 优化  /  05</a:t>
            </a:r>
            <a:endParaRPr sz="750" b="0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alphaModFix amt="4000"/>
          </a:blip>
          <a:srcRect t="4939" r="28793" b="22469"/>
          <a:stretch>
            <a:fillRect/>
          </a:stretch>
        </p:blipFill>
        <p:spPr>
          <a:xfrm>
            <a:off x="2641601" y="902926"/>
            <a:ext cx="9550400" cy="5955074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685800" y="1695450"/>
            <a:ext cx="1038225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685800" y="1000125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exp008 单节点最终方案</a:t>
            </a:r>
            <a:endParaRPr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V="1">
            <a:off x="685800" y="1885950"/>
            <a:ext cx="10287000" cy="38100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04850" y="15716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exp001 到 exp008：保留 FFT 与 Mel 数学，重点改并行粒度、输出精度和内存生命周期</a:t>
            </a:r>
            <a:endParaRPr sz="10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095500"/>
            <a:ext cx="1714500" cy="876300"/>
          </a:xfrm>
          <a:prstGeom prst="rect">
            <a:avLst/>
          </a:prstGeom>
          <a:solidFill>
            <a:srgbClr val="EAF8FC"/>
          </a:solidFill>
          <a:ln w="19050">
            <a:solidFill>
              <a:srgbClr val="007FA6"/>
            </a:solidFill>
            <a:prstDash val="solid"/>
          </a:ln>
        </p:spPr>
        <p:txBody>
          <a:bodyPr/>
          <a:lstStyle>
            <a:defPPr algn="ctr"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endParaRPr sz="1275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PCM</a:t>
            </a:r>
            <a:endParaRPr sz="1275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400300" y="2524125"/>
            <a:ext cx="666750" cy="19050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067050" y="2095500"/>
            <a:ext cx="1714500" cy="876300"/>
          </a:xfrm>
          <a:prstGeom prst="rect">
            <a:avLst/>
          </a:prstGeom>
          <a:solidFill>
            <a:srgbClr val="EAF8FC"/>
          </a:solidFill>
          <a:ln w="19050">
            <a:solidFill>
              <a:srgbClr val="007FA6"/>
            </a:solidFill>
            <a:prstDash val="solid"/>
          </a:ln>
        </p:spPr>
        <p:txBody>
          <a:bodyPr/>
          <a:lstStyle>
            <a:defPPr algn="ctr"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归一化</a:t>
            </a:r>
            <a:endParaRPr sz="1275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64 threads</a:t>
            </a:r>
            <a:endParaRPr sz="1275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81550" y="2524125"/>
            <a:ext cx="666750" cy="19050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448300" y="2095500"/>
            <a:ext cx="1714500" cy="876300"/>
          </a:xfrm>
          <a:prstGeom prst="rect">
            <a:avLst/>
          </a:prstGeom>
          <a:solidFill>
            <a:srgbClr val="FFF4D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>
            <a:defPPr algn="ctr"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endParaRPr sz="1275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direct float32</a:t>
            </a:r>
            <a:endParaRPr sz="1275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62800" y="2524125"/>
            <a:ext cx="666750" cy="19050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29550" y="2095500"/>
            <a:ext cx="1714500" cy="876300"/>
          </a:xfrm>
          <a:prstGeom prst="rect">
            <a:avLst/>
          </a:prstGeom>
          <a:solidFill>
            <a:srgbClr val="EAF8FC"/>
          </a:solidFill>
          <a:ln w="19050">
            <a:solidFill>
              <a:srgbClr val="007FA6"/>
            </a:solidFill>
            <a:prstDash val="solid"/>
          </a:ln>
        </p:spPr>
        <p:txBody>
          <a:bodyPr/>
          <a:lstStyle>
            <a:defPPr algn="ctr"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</a:t>
            </a:r>
            <a:endParaRPr sz="1275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single pass</a:t>
            </a:r>
            <a:endParaRPr sz="1275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42900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2.733 s</a:t>
            </a:r>
            <a:endParaRPr sz="31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9719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四例合计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333750" y="342900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1.382x</a:t>
            </a:r>
            <a:endParaRPr sz="3150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33750" y="39719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 exp001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0" y="3429000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1427.391x</a:t>
            </a:r>
            <a:endParaRPr sz="31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0" y="397192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原实现 1M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762500"/>
            <a:ext cx="5070475" cy="9963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just">
              <a:buNone/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PCM 归一化串行执行。每个 256 帧 tile 单独创建 OpenMP 区域。保留完整 double 输出矩阵和 double tile staging，最后再做一遍串行 double 到 float32 转换。</a:t>
            </a:r>
            <a:endParaRPr sz="1600" b="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287000" y="64770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r"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Melspec 优化  /  06</a:t>
            </a:r>
            <a:endParaRPr sz="750" b="0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4457700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exp001 的额外成本</a:t>
            </a:r>
            <a:endParaRPr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191250" y="4457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exp008 的改法</a:t>
            </a:r>
            <a:endParaRPr sz="1125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905500" y="4476750"/>
            <a:ext cx="9525" cy="1219200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191250" y="4762500"/>
            <a:ext cx="4953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just">
              <a:buNone/>
              <a:def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PCM 归一化改为 64 线程并行。用一个 OpenMP 区域覆盖全部帧，减少反复创建并行区和 barrier。线程完成 Mel 后直接写 float32，删除 double 全矩阵、staging 与末遍转换</a:t>
            </a:r>
            <a:r>
              <a:rPr sz="1050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50" b="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5800" y="5953125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9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9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9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9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9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9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9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9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9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9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9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default profile：读取 0.06 s，归一化 0.11 s，计算 0.36 s，写入 0.08 s。峰值内存（RSS）从 779 MB 降至 394 MB，四例从 3.777 s 降至 2.733 s。</a:t>
            </a:r>
            <a:endParaRPr sz="975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alphaModFix amt="4000"/>
          </a:blip>
          <a:srcRect t="4939" r="28793" b="22469"/>
          <a:stretch>
            <a:fillRect/>
          </a:stretch>
        </p:blipFill>
        <p:spPr>
          <a:xfrm>
            <a:off x="2641601" y="902926"/>
            <a:ext cx="9550400" cy="5955074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685800" y="1695450"/>
            <a:ext cx="1038225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685800" y="1000125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单节点到多节点</a:t>
            </a:r>
            <a:endParaRPr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V="1">
            <a:off x="685800" y="1885950"/>
            <a:ext cx="10287000" cy="38100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04850" y="15716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计算路径稳定后，把连续帧区间拆给不同节点</a:t>
            </a:r>
            <a:endParaRPr sz="10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2857500"/>
            <a:ext cx="7620000" cy="19050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1095375" y="2657475"/>
            <a:ext cx="400050" cy="400050"/>
          </a:xfrm>
          <a:prstGeom prst="ellipse">
            <a:avLst/>
          </a:prstGeom>
          <a:solidFill>
            <a:srgbClr val="007F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95375" y="2724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9625" y="22288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exp001</a:t>
            </a:r>
            <a:endParaRPr sz="1050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2000" y="3219450"/>
            <a:ext cx="1095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单节点</a:t>
            </a:r>
            <a:endParaRPr sz="1125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9625" y="3581400"/>
            <a:ext cx="1000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3.777 s</a:t>
            </a:r>
            <a:endParaRPr sz="15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3571875" y="2657475"/>
            <a:ext cx="400050" cy="400050"/>
          </a:xfrm>
          <a:prstGeom prst="ellipse">
            <a:avLst/>
          </a:prstGeom>
          <a:solidFill>
            <a:srgbClr val="007F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571875" y="2724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286125" y="22288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exp004</a:t>
            </a:r>
            <a:endParaRPr sz="1050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238500" y="3219450"/>
            <a:ext cx="1095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两节点</a:t>
            </a:r>
            <a:endParaRPr sz="1125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286125" y="3581400"/>
            <a:ext cx="1000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3.083 s</a:t>
            </a:r>
            <a:endParaRPr sz="15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048375" y="2657475"/>
            <a:ext cx="400050" cy="400050"/>
          </a:xfrm>
          <a:prstGeom prst="ellipse">
            <a:avLst/>
          </a:prstGeom>
          <a:solidFill>
            <a:srgbClr val="007F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48375" y="2724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762625" y="22288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exp004</a:t>
            </a:r>
            <a:endParaRPr sz="1050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715000" y="3219450"/>
            <a:ext cx="1095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三节点</a:t>
            </a:r>
            <a:endParaRPr sz="1125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62625" y="3581400"/>
            <a:ext cx="1000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2.533 s</a:t>
            </a:r>
            <a:endParaRPr sz="15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8524875" y="2657475"/>
            <a:ext cx="400050" cy="400050"/>
          </a:xfrm>
          <a:prstGeom prst="ellipse">
            <a:avLst/>
          </a:prstGeom>
          <a:solidFill>
            <a:srgbClr val="18A7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524875" y="2724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239125" y="22288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exp009</a:t>
            </a:r>
            <a:endParaRPr sz="1050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91500" y="3219450"/>
            <a:ext cx="1095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三节点最终</a:t>
            </a:r>
            <a:endParaRPr sz="1125" b="1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239125" y="3581400"/>
            <a:ext cx="1000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ctr">
              <a:defRPr sz="15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5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5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5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5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5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5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5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5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5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5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2.186 s</a:t>
            </a:r>
            <a:endParaRPr sz="1500" b="1">
              <a:solidFill>
                <a:srgbClr val="18A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5800" y="4074160"/>
            <a:ext cx="9906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rank 只读取自己的连续 PCM 帧区间</a:t>
            </a:r>
            <a:endParaRPr sz="200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 rank 直接 pwrite 不重叠输出列，不需要 Gather</a:t>
            </a:r>
            <a:endParaRPr sz="200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 Slurm 协调避免 MPI 启动开销</a:t>
            </a:r>
            <a:endParaRPr sz="200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800"/>
              </a:spcAft>
              <a:buChar char="•"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两节点旧路径慢于 exp008，三节点才形成明显收益</a:t>
            </a:r>
            <a:endParaRPr sz="200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287000" y="64770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r"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Melspec 优化  /  07</a:t>
            </a:r>
            <a:endParaRPr sz="750" b="0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alphaModFix amt="4000"/>
          </a:blip>
          <a:srcRect t="4939" r="28793" b="22469"/>
          <a:stretch>
            <a:fillRect/>
          </a:stretch>
        </p:blipFill>
        <p:spPr>
          <a:xfrm>
            <a:off x="2641601" y="902926"/>
            <a:ext cx="9550400" cy="5955074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685800" y="1695450"/>
            <a:ext cx="1038225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685800" y="1000125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两个最终成果</a:t>
            </a:r>
            <a:endParaRPr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V="1">
            <a:off x="685800" y="1885950"/>
            <a:ext cx="10287000" cy="38100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04850" y="1571625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两个方案均通过官方四例；相对加速与同口径原实现加速分别标注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810250" y="2143125"/>
            <a:ext cx="9525" cy="2238375"/>
          </a:xfrm>
          <a:prstGeom prst="rect">
            <a:avLst/>
          </a:prstGeom>
          <a:solidFill>
            <a:srgbClr val="CFE2E9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1907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exp008  单节点最终</a:t>
            </a:r>
            <a:endParaRPr sz="1275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619375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34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4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4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4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4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4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4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4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4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4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4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2.733 s</a:t>
            </a:r>
            <a:endParaRPr sz="3450" b="1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34861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 001 1.382x</a:t>
            </a:r>
            <a:endParaRPr sz="1275" b="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382905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原实现 1M 1427.391x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10300" y="21907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75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75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75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75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75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75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75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75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75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75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75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exp009  三节点最终</a:t>
            </a:r>
            <a:endParaRPr sz="1275" b="1">
              <a:solidFill>
                <a:srgbClr val="18A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10300" y="2619375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34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4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4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4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4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4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4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4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4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4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4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2.186 s</a:t>
            </a:r>
            <a:endParaRPr sz="3450" b="1">
              <a:solidFill>
                <a:srgbClr val="18A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10300" y="34861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 001 1.728x</a:t>
            </a:r>
            <a:endParaRPr sz="1275" b="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10300" y="382905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原实现 1M 156.271x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455295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3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35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18A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两个方案均 4/4 PASS</a:t>
            </a:r>
            <a:endParaRPr sz="1400" b="1">
              <a:solidFill>
                <a:srgbClr val="18A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529590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参考：项目源码与 README  /  NVIDIA cuFFT、CUDA  /  OpenMP、GCC  /  Slurm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56197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工具：Codex 外接 DeepSeek-V4.1-Flash-1017（reasoning_effort=max），用于源码理解、方案讨论、实现草稿、实验编排与文档整理；所有数据来自实际 Slurm 作业。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287000" y="64770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r"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Melspec 优化  /  08</a:t>
            </a:r>
            <a:endParaRPr sz="750" b="0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alphaModFix amt="4000"/>
          </a:blip>
          <a:srcRect t="4939" r="28793" b="22469"/>
          <a:stretch>
            <a:fillRect/>
          </a:stretch>
        </p:blipFill>
        <p:spPr>
          <a:xfrm>
            <a:off x="2641601" y="902926"/>
            <a:ext cx="9550400" cy="5955074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685800" y="1695450"/>
            <a:ext cx="10382250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sz="20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685800" y="1000125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62A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与 CPU+GPU 为什么没有胜出</a:t>
            </a:r>
            <a:endParaRPr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 flipV="1">
            <a:off x="685800" y="1885950"/>
            <a:ext cx="10287000" cy="38100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04850" y="15716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计算本身很快，固定启动、设备传输、同步和共享输出共同拖慢完整 CLI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38620" y="2062480"/>
            <a:ext cx="4495165" cy="3808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7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marL="228600" indent="-114300" algn="l">
              <a:spcAft>
                <a:spcPts val="400"/>
              </a:spcAft>
              <a:buChar char="•"/>
              <a:def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路线最快是两节点纯 GPU exp006，合计 4.024 s，仍慢于 exp001 3.777 s 和 exp008 2.733 s。</a:t>
            </a:r>
            <a:endParaRPr sz="140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 algn="l">
              <a:spcAft>
                <a:spcPts val="400"/>
              </a:spcAft>
              <a:buChar char="•"/>
              <a:def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路径含 H2D、kernel、D2H 和同步约 0.161–0.233 s，核心算术本身并不慢。</a:t>
            </a:r>
            <a:endParaRPr sz="140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 algn="l">
              <a:spcAft>
                <a:spcPts val="400"/>
              </a:spcAft>
              <a:buChar char="•"/>
              <a:def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 PCM 读取约 0.093 s/rank，只占阶段时间约 9%，磁盘读取不是主要原因。</a:t>
            </a:r>
            <a:endParaRPr sz="140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 algn="l">
              <a:spcAft>
                <a:spcPts val="400"/>
              </a:spcAft>
              <a:buChar char="•"/>
              <a:def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 1024 帧同步一次，default 每 rank 约 94 次。pageable 输出缓冲使传输无法与下一批计算重叠。</a:t>
            </a:r>
            <a:endParaRPr sz="140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 algn="l">
              <a:spcAft>
                <a:spcPts val="400"/>
              </a:spcAft>
              <a:buChar char="•"/>
              <a:def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共享输出写入约 0.280–0.489 s，rank 1 约占 49%，default 完整输出约 188 MiB。</a:t>
            </a:r>
            <a:endParaRPr sz="140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 algn="l">
              <a:spcAft>
                <a:spcPts val="400"/>
              </a:spcAft>
              <a:buChar char="•"/>
              <a:def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CUDA 初始化、显存分配和 cuFFT plan 另有约 0.056–0.060 s 固定开销，短用例难以摊薄。</a:t>
            </a:r>
            <a:endParaRPr sz="140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 algn="l">
              <a:spcAft>
                <a:spcPts val="400"/>
              </a:spcAft>
              <a:buChar char="•"/>
              <a:def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D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CPU+GPU 还会竞争主机内存、缓存和 I/O，并等待较慢一侧。纯 GPU 5.164 s 仍快于异构 5.179/5.207 s。</a:t>
            </a:r>
            <a:endParaRPr sz="1400">
              <a:solidFill>
                <a:srgbClr val="1D29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581025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结论：在当前四个短用例和共享输出路径下，GPU 算术不是主要瓶颈，耗时主要落在设备传输、同步与输出 I/O。</a:t>
            </a:r>
            <a:endParaRPr sz="12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287000" y="64770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r"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buNone/>
              <a:def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007F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Melspec 优化  /  09</a:t>
            </a:r>
            <a:endParaRPr sz="750" b="0">
              <a:solidFill>
                <a:srgbClr val="007F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Chart"/>
          <p:cNvGraphicFramePr/>
          <p:nvPr/>
        </p:nvGraphicFramePr>
        <p:xfrm>
          <a:off x="685800" y="1952625"/>
          <a:ext cx="6096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66255"/>
          </a:xfrm>
          <a:prstGeom prst="rect">
            <a:avLst/>
          </a:prstGeom>
        </p:spPr>
      </p:pic>
      <p:sp>
        <p:nvSpPr>
          <p:cNvPr id="5" name="文本框 4"/>
          <p:cNvSpPr>
            <a:spLocks noGrp="1"/>
          </p:cNvSpPr>
          <p:nvPr/>
        </p:nvSpPr>
        <p:spPr>
          <a:xfrm>
            <a:off x="1381125" y="2143125"/>
            <a:ext cx="7470775" cy="80200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 algn="l"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400" b="1">
                <a:solidFill>
                  <a:srgbClr val="FFFFFF"/>
                </a:solidFill>
                <a:latin typeface="SDK_SC_Web" panose="00020600040101010101" charset="-128"/>
                <a:ea typeface="SDK_SC_Web" panose="00020600040101010101" charset="-128"/>
                <a:cs typeface="SDK_SC_Web" panose="00020600040101010101" charset="-128"/>
              </a:rPr>
              <a:t>Thanks for Listening!</a:t>
            </a:r>
            <a:endParaRPr sz="4400" b="1">
              <a:solidFill>
                <a:srgbClr val="FFFFFF"/>
              </a:solidFill>
              <a:latin typeface="SDK_SC_Web" panose="00020600040101010101" charset="-128"/>
              <a:ea typeface="SDK_SC_Web" panose="00020600040101010101" charset="-128"/>
              <a:cs typeface="SDK_SC_Web" panose="00020600040101010101" charset="-128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39052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 algn="l">
              <a:defRPr sz="1200" b="0">
                <a:solidFill>
                  <a:srgbClr val="24A8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24A8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24A8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24A8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24A8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24A8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24A8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24A8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24A8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24A8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0">
                <a:solidFill>
                  <a:srgbClr val="24A8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24A8D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2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3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4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5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6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7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8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9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10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11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12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13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14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15.xml><?xml version="1.0" encoding="utf-8"?>
<p:tagLst xmlns:p="http://schemas.openxmlformats.org/presentationml/2006/main">
  <p:tag name="KSO_WM_DIAGRAM_VIRTUALLY_FRAME" val="{&quot;height&quot;:266.8,&quot;left&quot;:54,&quot;top&quot;:160.7,&quot;width&quot;:832.5}"/>
</p:tagLst>
</file>

<file path=ppt/tags/tag16.xml><?xml version="1.0" encoding="utf-8"?>
<p:tagLst xmlns:p="http://schemas.openxmlformats.org/presentationml/2006/main">
  <p:tag name="KSO_WM_DIAGRAM_VIRTUALLY_FRAME" val="{&quot;height&quot;:266.95,&quot;left&quot;:54,&quot;top&quot;:139.5,&quot;width&quot;:498.75}"/>
</p:tagLst>
</file>

<file path=ppt/tags/tag17.xml><?xml version="1.0" encoding="utf-8"?>
<p:tagLst xmlns:p="http://schemas.openxmlformats.org/presentationml/2006/main">
  <p:tag name="KSO_WM_DIAGRAM_VIRTUALLY_FRAME" val="{&quot;height&quot;:266.95,&quot;left&quot;:54,&quot;top&quot;:139.5,&quot;width&quot;:498.75}"/>
</p:tagLst>
</file>

<file path=ppt/tags/tag18.xml><?xml version="1.0" encoding="utf-8"?>
<p:tagLst xmlns:p="http://schemas.openxmlformats.org/presentationml/2006/main">
  <p:tag name="KSO_WM_DIAGRAM_VIRTUALLY_FRAME" val="{&quot;height&quot;:266.95,&quot;left&quot;:54,&quot;top&quot;:139.5,&quot;width&quot;:498.75}"/>
</p:tagLst>
</file>

<file path=ppt/tags/tag19.xml><?xml version="1.0" encoding="utf-8"?>
<p:tagLst xmlns:p="http://schemas.openxmlformats.org/presentationml/2006/main">
  <p:tag name="KSO_WM_DIAGRAM_VIRTUALLY_FRAME" val="{&quot;height&quot;:266.95,&quot;left&quot;:54,&quot;top&quot;:139.5,&quot;width&quot;:498.75}"/>
</p:tagLst>
</file>

<file path=ppt/tags/tag20.xml><?xml version="1.0" encoding="utf-8"?>
<p:tagLst xmlns:p="http://schemas.openxmlformats.org/presentationml/2006/main">
  <p:tag name="KSO_WM_DIAGRAM_VIRTUALLY_FRAME" val="{&quot;height&quot;:266.95,&quot;left&quot;:54,&quot;top&quot;:139.5,&quot;width&quot;:498.75}"/>
</p:tagLst>
</file>

<file path=ppt/tags/tag21.xml><?xml version="1.0" encoding="utf-8"?>
<p:tagLst xmlns:p="http://schemas.openxmlformats.org/presentationml/2006/main">
  <p:tag name="KSO_WM_DIAGRAM_VIRTUALLY_FRAME" val="{&quot;height&quot;:266.95,&quot;left&quot;:54,&quot;top&quot;:139.5,&quot;width&quot;:498.75}"/>
</p:tagLst>
</file>

<file path=ppt/tags/tag22.xml><?xml version="1.0" encoding="utf-8"?>
<p:tagLst xmlns:p="http://schemas.openxmlformats.org/presentationml/2006/main">
  <p:tag name="KSO_WM_DIAGRAM_VIRTUALLY_FRAME" val="{&quot;height&quot;:266.95,&quot;left&quot;:54,&quot;top&quot;:139.5,&quot;width&quot;:498.75}"/>
</p:tagLst>
</file>

<file path=ppt/tags/tag23.xml><?xml version="1.0" encoding="utf-8"?>
<p:tagLst xmlns:p="http://schemas.openxmlformats.org/presentationml/2006/main">
  <p:tag name="KSO_WM_DIAGRAM_VIRTUALLY_FRAME" val="{&quot;height&quot;:266.95,&quot;left&quot;:54,&quot;top&quot;:139.5,&quot;width&quot;:498.75}"/>
</p:tagLst>
</file>

<file path=ppt/tags/tag24.xml><?xml version="1.0" encoding="utf-8"?>
<p:tagLst xmlns:p="http://schemas.openxmlformats.org/presentationml/2006/main">
  <p:tag name="KSO_WM_DIAGRAM_VIRTUALLY_FRAME" val="{&quot;height&quot;:266.95,&quot;left&quot;:54,&quot;top&quot;:139.5,&quot;width&quot;:498.75}"/>
</p:tagLst>
</file>

<file path=ppt/tags/tag25.xml><?xml version="1.0" encoding="utf-8"?>
<p:tagLst xmlns:p="http://schemas.openxmlformats.org/presentationml/2006/main">
  <p:tag name="KSO_WM_DIAGRAM_VIRTUALLY_FRAME" val="{&quot;height&quot;:266.95,&quot;left&quot;:54,&quot;top&quot;:139.5,&quot;width&quot;:498.75}"/>
</p:tagLst>
</file>

<file path=ppt/tags/tag26.xml><?xml version="1.0" encoding="utf-8"?>
<p:tagLst xmlns:p="http://schemas.openxmlformats.org/presentationml/2006/main">
  <p:tag name="KSO_WM_DIAGRAM_VIRTUALLY_FRAME" val="{&quot;height&quot;:266.95,&quot;left&quot;:54,&quot;top&quot;:139.5,&quot;width&quot;:498.75}"/>
</p:tagLst>
</file>

<file path=ppt/tags/tag27.xml><?xml version="1.0" encoding="utf-8"?>
<p:tagLst xmlns:p="http://schemas.openxmlformats.org/presentationml/2006/main">
  <p:tag name="KSO_WM_DIAGRAM_VIRTUALLY_FRAME" val="{&quot;height&quot;:266.95,&quot;left&quot;:54,&quot;top&quot;:139.5,&quot;width&quot;:498.7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3196</Words>
  <Application>WPS 演示</Application>
  <PresentationFormat>宽屏</PresentationFormat>
  <Paragraphs>324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SDK_SC_Web</vt:lpstr>
      <vt:lpstr>等线</vt:lpstr>
      <vt:lpstr>Arial Unicode MS</vt:lpstr>
      <vt:lpstr>等线 Light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王正韬</cp:lastModifiedBy>
  <cp:revision>14</cp:revision>
  <dcterms:created xsi:type="dcterms:W3CDTF">2026-10-31T09:45:00Z</dcterms:created>
  <dcterms:modified xsi:type="dcterms:W3CDTF">2026-10-31T13:54:31Z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7A303CEFFFE54CD8BF9B5AA751FF9A3D_12</vt:lpwstr>
  </property>
  <property fmtid="{D5CDD505-2E9C-101B-9397-08002B2CF9AE}" pid="3" name="KSOProductBuildVer">
    <vt:lpwstr>2052-12.1.0.28022</vt:lpwstr>
  </property>
</Properties>
</file>