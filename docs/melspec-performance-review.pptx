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181cc0a6364901" /><Relationship Type="http://schemas.openxmlformats.org/officeDocument/2006/relationships/extended-properties" Target="/docProps/app.xml" Id="R4e0edecedd734e78" /><Relationship Type="http://schemas.openxmlformats.org/officeDocument/2006/relationships/officeDocument" Target="/ppt/presentation.xml" Id="R4ee7913b9d3d4b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40b08861974f9e"/>
  </p:sldMasterIdLst>
  <p:notesMasterIdLst>
    <p:notesMasterId xmlns:r="http://schemas.openxmlformats.org/officeDocument/2006/relationships" r:id="R99481236bd484a1f"/>
  </p:notesMasterIdLst>
  <p:sldIdLst>
    <p:sldId xmlns:r="http://schemas.openxmlformats.org/officeDocument/2006/relationships" id="256" r:id="R72b77d6876734368"/>
    <p:sldId xmlns:r="http://schemas.openxmlformats.org/officeDocument/2006/relationships" id="257" r:id="R868b7b1beb0a4126"/>
    <p:sldId xmlns:r="http://schemas.openxmlformats.org/officeDocument/2006/relationships" id="258" r:id="R6d794ec3d7d445ed"/>
    <p:sldId xmlns:r="http://schemas.openxmlformats.org/officeDocument/2006/relationships" id="259" r:id="Ra24a2dcf3b944d9b"/>
    <p:sldId xmlns:r="http://schemas.openxmlformats.org/officeDocument/2006/relationships" id="260" r:id="R224a2f4f163b4e7c"/>
    <p:sldId xmlns:r="http://schemas.openxmlformats.org/officeDocument/2006/relationships" id="261" r:id="Rdd6567f7ed0249db"/>
    <p:sldId xmlns:r="http://schemas.openxmlformats.org/officeDocument/2006/relationships" id="262" r:id="R9471dfb2db7d46ea"/>
    <p:sldId xmlns:r="http://schemas.openxmlformats.org/officeDocument/2006/relationships" id="263" r:id="R50743931fab049cb"/>
    <p:sldId xmlns:r="http://schemas.openxmlformats.org/officeDocument/2006/relationships" id="264" r:id="R4b2c67739ea54266"/>
    <p:sldId xmlns:r="http://schemas.openxmlformats.org/officeDocument/2006/relationships" id="265" r:id="R2e3a92c91c8646ed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c949a603fa4eb7" /><Relationship Type="http://schemas.openxmlformats.org/officeDocument/2006/relationships/slideMaster" Target="/ppt/slideMasters/slideMaster1.xml" Id="R4f40b08861974f9e" /><Relationship Type="http://schemas.openxmlformats.org/officeDocument/2006/relationships/notesMaster" Target="/ppt/notesMasters/notesMaster1.xml" Id="R99481236bd484a1f" /><Relationship Type="http://schemas.openxmlformats.org/officeDocument/2006/relationships/presProps" Target="/ppt/presProps.xml" Id="R9eaf11e18db74b17" /><Relationship Type="http://schemas.openxmlformats.org/officeDocument/2006/relationships/viewProps" Target="/ppt/viewProps.xml" Id="R1171ec1c8d314213" /><Relationship Type="http://schemas.openxmlformats.org/officeDocument/2006/relationships/tableStyles" Target="/ppt/tableStyles.xml" Id="R8c6980a23288454f" /><Relationship Type="http://schemas.openxmlformats.org/officeDocument/2006/relationships/slide" Target="/ppt/slides/slide1.xml" Id="R72b77d6876734368" /><Relationship Type="http://schemas.openxmlformats.org/officeDocument/2006/relationships/slide" Target="/ppt/slides/slide2.xml" Id="R868b7b1beb0a4126" /><Relationship Type="http://schemas.openxmlformats.org/officeDocument/2006/relationships/slide" Target="/ppt/slides/slide3.xml" Id="R6d794ec3d7d445ed" /><Relationship Type="http://schemas.openxmlformats.org/officeDocument/2006/relationships/slide" Target="/ppt/slides/slide4.xml" Id="Ra24a2dcf3b944d9b" /><Relationship Type="http://schemas.openxmlformats.org/officeDocument/2006/relationships/slide" Target="/ppt/slides/slide5.xml" Id="R224a2f4f163b4e7c" /><Relationship Type="http://schemas.openxmlformats.org/officeDocument/2006/relationships/slide" Target="/ppt/slides/slide6.xml" Id="Rdd6567f7ed0249db" /><Relationship Type="http://schemas.openxmlformats.org/officeDocument/2006/relationships/slide" Target="/ppt/slides/slide7.xml" Id="R9471dfb2db7d46ea" /><Relationship Type="http://schemas.openxmlformats.org/officeDocument/2006/relationships/slide" Target="/ppt/slides/slide8.xml" Id="R50743931fab049cb" /><Relationship Type="http://schemas.openxmlformats.org/officeDocument/2006/relationships/slide" Target="/ppt/slides/slide9.xml" Id="R4b2c67739ea54266" /><Relationship Type="http://schemas.openxmlformats.org/officeDocument/2006/relationships/slide" Target="/ppt/slides/slide10.xml" Id="R2e3a92c91c8646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15f302a4944a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ac2a2bdff74af0" /><Relationship Type="http://schemas.openxmlformats.org/officeDocument/2006/relationships/notesMaster" Target="/ppt/notesMasters/notesMaster1.xml" Id="R6711d3c929cb42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55417048e24d22" /><Relationship Type="http://schemas.openxmlformats.org/officeDocument/2006/relationships/notesMaster" Target="/ppt/notesMasters/notesMaster1.xml" Id="R2c33f71c3e4d4b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a186b822e446c9" /><Relationship Type="http://schemas.openxmlformats.org/officeDocument/2006/relationships/notesMaster" Target="/ppt/notesMasters/notesMaster1.xml" Id="R4782fec840da43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114d110a334e05" /><Relationship Type="http://schemas.openxmlformats.org/officeDocument/2006/relationships/notesMaster" Target="/ppt/notesMasters/notesMaster1.xml" Id="R9151fa39db1742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ccd38b4c5c46fc" /><Relationship Type="http://schemas.openxmlformats.org/officeDocument/2006/relationships/notesMaster" Target="/ppt/notesMasters/notesMaster1.xml" Id="Rf8c9732e91994d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abc6041aa64137" /><Relationship Type="http://schemas.openxmlformats.org/officeDocument/2006/relationships/notesMaster" Target="/ppt/notesMasters/notesMaster1.xml" Id="R955406609d8b46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d7b34831a547e5" /><Relationship Type="http://schemas.openxmlformats.org/officeDocument/2006/relationships/notesMaster" Target="/ppt/notesMasters/notesMaster1.xml" Id="R1929886097fc4f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c9171ff4ed484d" /><Relationship Type="http://schemas.openxmlformats.org/officeDocument/2006/relationships/notesMaster" Target="/ppt/notesMasters/notesMaster1.xml" Id="R26b364711f0347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afba26dbc14a59" /><Relationship Type="http://schemas.openxmlformats.org/officeDocument/2006/relationships/notesMaster" Target="/ppt/notesMasters/notesMaster1.xml" Id="Rb78bcc84323045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c17800169e481f" /><Relationship Type="http://schemas.openxmlformats.org/officeDocument/2006/relationships/notesMaster" Target="/ppt/notesMasters/notesMaster1.xml" Id="Rfb07ad8688d244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开场说明只保留一条主线：基线问题、两次关键优化、多节点扩展和 GPU 复盘。</a:t>
            </a:r>
          </a:p>
          <a:p xmlns:a="http://schemas.openxmlformats.org/drawingml/2006/main">
            <a:r>
              <a:t>最终提交两个成果：单节点 exp008 和三节点 exp009。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原始实现正确，但重复 FFT 准备、全长度实数 FFT、稠密 Mel 和完整功率谱拖慢了热路径。</a:t>
            </a:r>
          </a:p>
          <a:p xmlns:a="http://schemas.openxmlformats.org/drawingml/2006/main">
            <a:r>
              <a:t>1M 前缀上 exp001 已经比自己实现快 731.206 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exp001 只讲三点：半长度实数 FFT、稀疏 Mel、分块并行。</a:t>
            </a:r>
          </a:p>
          <a:p xmlns:a="http://schemas.openxmlformats.org/drawingml/2006/main">
            <a:r>
              <a:t>64 线程四例合计 3.777 秒，1M 样本上相对原实现为 731.206 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exp001 是共同基础。GPU 路线从 exp001 向 exp002/003/005 分叉，exp006 是独立纯 GPU 对照。</a:t>
            </a:r>
          </a:p>
          <a:p xmlns:a="http://schemas.openxmlformats.org/drawingml/2006/main">
            <a:r>
              <a:t>最终主线是 exp001 分别派生 exp007 和 exp008，exp008 再包含 exp009。</a:t>
            </a:r>
          </a:p>
          <a:p xmlns:a="http://schemas.openxmlformats.org/drawingml/2006/main">
            <a:r>
              <a:t>exp009 还复用 exp004 的本地帧划分和分布写入设计。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九次实验都保留在这张总表里，后续只展开最终相关的主干。</a:t>
            </a:r>
          </a:p>
          <a:p xmlns:a="http://schemas.openxmlformats.org/drawingml/2006/main">
            <a:r>
              <a:t>四例成绩统一相对 exp001 的 64 线程结果。原实现对照使用相同的 1M 前缀。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exp008 保留算法数学，只并行归一化、合并 OpenMP 区域并直接输出 float32。</a:t>
            </a:r>
          </a:p>
          <a:p xmlns:a="http://schemas.openxmlformats.org/drawingml/2006/main">
            <a:r>
              <a:t>四例合计 2.733 秒，相对 exp001 为 1.382 倍，1M 样本相对原实现为 1427.391 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单节点优化到 2.733 秒后，剩余成本主要来自输出和总帧规模，因此尝试多节点。</a:t>
            </a:r>
          </a:p>
          <a:p xmlns:a="http://schemas.openxmlformats.org/drawingml/2006/main">
            <a:r>
              <a:t>每个 rank 处理连续帧，只读局部 PCM，并直接写自己的输出列。最终 exp009 为 2.186 秒。</a:t>
            </a:r>
          </a:p>
          <a:p xmlns:a="http://schemas.openxmlformats.org/drawingml/2006/main">
            <a:r>
              <a:t>两节点旧路径 3.083 秒，比单节点慢，说明多节点必须同时优化数据路径。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最终保留两个方案：exp008 为 2.733 秒，exp009 为 2.186 秒。</a:t>
            </a:r>
          </a:p>
          <a:p xmlns:a="http://schemas.openxmlformats.org/drawingml/2006/main">
            <a:r>
              <a:t>两者均通过官方四例。1M 原实现加速与完整四例加速的口径不同。</a:t>
            </a:r>
          </a:p>
          <a:p xmlns:a="http://schemas.openxmlformats.org/drawingml/2006/main">
            <a:r>
              <a:t>本页按题目要求披露工具用途。最终实现、结论和数据均经复核，正式数据来自实际作业。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GPU 路线最好的是 exp006，合计 4.024 秒，但仍慢于 CPU 最终方案。</a:t>
            </a:r>
          </a:p>
          <a:p xmlns:a="http://schemas.openxmlformats.org/drawingml/2006/main">
            <a:r>
              <a:t>输入 I/O 很短，真正成本是设备传输、每 1024 帧同步和共享输出写入。</a:t>
            </a:r>
          </a:p>
          <a:p xmlns:a="http://schemas.openxmlformats.org/drawingml/2006/main">
            <a:r>
              <a:t>CPU+GPU 还会竞争内存带宽，最终等待较慢的一侧。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先确认问题的比较口径。</a:t>
            </a:r>
          </a:p>
          <a:p xmlns:a="http://schemas.openxmlformats.org/drawingml/2006/main">
            <a:r>
              <a:t>常见问题包括基线为什么慢、GPU/CPU+GPU 为什么没有胜出、三个加速比如何区分，以及如何复现。</a:t>
            </a:r>
          </a:p>
          <a:p xmlns:a="http://schemas.openxmlformats.org/drawingml/2006/main">
            <a:r>
              <a:t>完整回答见 docs/presentation-script.md 的 Q&amp;A 速查。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8c3440cf74c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3ceed19cce4a6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83ce2eb5bd4e1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dacfc441f341f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5d01d4337f4fb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0d80c279034c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f16072f2b457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0271a0133c4a4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988afd99d4eb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bd37c4138b4fa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742adccc924b1c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8AD1FA4-563E-41C6-BD51-21503C392F2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6362A7E3-E1D5-4144-A914-1138CF610C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76EE6E4-B4E1-4537-9D66-736B6E84B3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A33672D2-390A-481D-A4B3-7B35CB804C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幻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7A503077-3419-40C4-BB40-29E17275ED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7218C4B-E621-4CCC-B58D-FE4840A611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F85BA96-5D06-4A61-A873-A3F3CA5115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257DC22-057E-43E8-9D5F-B240F1E33C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C8766DB-7C98-4C6D-940E-5484700274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幻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31F6777-0A2A-41AC-8FBC-9AE3410FD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A05BC0E-0318-49F3-B765-3B17C80145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FB3DAAB-4A84-412A-A7A4-2CA07E343C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81105B5-DADD-4B43-983B-731E675F29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979DD9D-2D4D-4968-ADF6-A061558A56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幻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8952821-77BE-493C-AC42-0FAD8595D3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216FD1B-B24F-458F-A5AC-5DA6356CAF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5512D553-7B91-4094-AD1E-EA8FEDF228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A250B6CE-21F0-4D09-A97F-8B4D1B6B6E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813461F2-9D39-4121-B69A-C943515A88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7DF65829-146B-40D7-A742-721D1DD7D7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幻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7CC929D2-9D77-48FD-8A76-C9984A1077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112B068-88E8-4D6C-9EA1-A58929BB86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BE7B6B9F-E116-44DF-AE90-3BBC8183FF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04992539-2208-4B50-9656-84159D7867F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6E5C0126-7A97-46B4-86AD-55A9C755EA9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5AAFFCD2-018B-47ED-9B1F-C908B027A32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EE710E5C-2A87-4E62-B5D9-AB4E8EFDD9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D8B50DE7-D9FF-43F8-8EA7-9A224E4F7E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幻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B41BF075-ADE8-4F5B-8621-879FAC736B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EA5389D-8AC6-454D-8D8B-F7B452A76C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FEDA419-D868-451F-9034-E372C67C57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4F59D15C-9026-4F67-AC40-693FCDE399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幻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E7BA1EA3-01C3-46F9-971F-E76C148A20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9FABC393-ED5D-4493-BB6E-B97759E17E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8A4FF547-E1CE-4068-A4DC-BF39D546BE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幻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DC309644-E18E-47C7-A212-07526A30E2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F83BF69-23DB-49DD-AE64-5C7E1229A0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AD96D9B-1967-496A-976B-B375248C18F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62E75A59-0415-4DB8-8BEF-9A131421DE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73ACEB2E-5C26-454F-8FD4-D23849FFF1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2ADF7BC8-9CC3-4D75-8691-6D727E7BD7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幻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6D9E80E6-BEAC-48FD-8F12-AD194A9858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014C79A-F855-4AF9-8264-4E60C88DC0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2324FB0F-F0EB-4576-BD2C-4D9652775DE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E9EB56CB-BD6B-4336-B9A2-5296F0C360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57DAE90E-7528-4A42-BF7D-83A8E66302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4E61DBDC-3C66-4A21-A2CD-A7D1DD146F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幻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9480EA5A-8317-43C9-A5EA-7AC9151DBF1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055D12D-C4E8-427A-97E7-8754C024C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本占位符 2">
            <a:extLst xmlns:a="http://schemas.openxmlformats.org/drawingml/2006/main">
              <a:ext uri="{FF2B5EF4-FFF2-40B4-BE49-F238E27FC236}">
                <a16:creationId xmlns:a16="http://schemas.microsoft.com/office/drawing/2014/main" id="{17B1D62F-CD94-4E7A-9BAA-3DFFDD3041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EA371EA-87E2-49F4-A9A2-D010E2A0C8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40027B3-EC61-4029-AF0B-0F1F62D8CB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幻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7A479B7-8C70-4C6C-AAEB-A08DFD4DE1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3625ABC0-F55E-4C39-A14E-241BDBBC32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本占位符 2">
            <a:extLst xmlns:a="http://schemas.openxmlformats.org/drawingml/2006/main">
              <a:ext uri="{FF2B5EF4-FFF2-40B4-BE49-F238E27FC236}">
                <a16:creationId xmlns:a16="http://schemas.microsoft.com/office/drawing/2014/main" id="{6A3117E7-9934-4C14-BCD4-FC68E84229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411066E7-19A8-4B1B-AC66-FCA7B1C948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23D9FE9-F41F-4CD3-A7F2-0613DE19D2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幻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3E405C20-0DE6-4B45-AD79-C5FB5E6924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49c1e162dd46b6" /><Relationship Type="http://schemas.openxmlformats.org/officeDocument/2006/relationships/slideLayout" Target="/ppt/slideLayouts/slideLayout1.xml" Id="R7c247be11a434d71" /><Relationship Type="http://schemas.openxmlformats.org/officeDocument/2006/relationships/slideLayout" Target="/ppt/slideLayouts/slideLayout2.xml" Id="Rd7cba96b3f174870" /><Relationship Type="http://schemas.openxmlformats.org/officeDocument/2006/relationships/slideLayout" Target="/ppt/slideLayouts/slideLayout3.xml" Id="R9a4c289524ef49c9" /><Relationship Type="http://schemas.openxmlformats.org/officeDocument/2006/relationships/slideLayout" Target="/ppt/slideLayouts/slideLayout4.xml" Id="R64535e863cec46dc" /><Relationship Type="http://schemas.openxmlformats.org/officeDocument/2006/relationships/slideLayout" Target="/ppt/slideLayouts/slideLayout5.xml" Id="R3076d7898009408a" /><Relationship Type="http://schemas.openxmlformats.org/officeDocument/2006/relationships/slideLayout" Target="/ppt/slideLayouts/slideLayout6.xml" Id="R3d025f62639a4265" /><Relationship Type="http://schemas.openxmlformats.org/officeDocument/2006/relationships/slideLayout" Target="/ppt/slideLayouts/slideLayout7.xml" Id="Rd2f598b4c3894c48" /><Relationship Type="http://schemas.openxmlformats.org/officeDocument/2006/relationships/slideLayout" Target="/ppt/slideLayouts/slideLayout8.xml" Id="R492b42180b2948e7" /><Relationship Type="http://schemas.openxmlformats.org/officeDocument/2006/relationships/slideLayout" Target="/ppt/slideLayouts/slideLayout9.xml" Id="Ra554500b812f42f3" /><Relationship Type="http://schemas.openxmlformats.org/officeDocument/2006/relationships/slideLayout" Target="/ppt/slideLayouts/slideLayout10.xml" Id="Re17e5d533b7b4785" /><Relationship Type="http://schemas.openxmlformats.org/officeDocument/2006/relationships/slideLayout" Target="/ppt/slideLayouts/slideLayout11.xml" Id="Rc57404fcf43a467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E434BD58-CF13-47BE-A533-C5D8DBC79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25F4615-0FAD-4A6C-847B-D6359AFB96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A8B3283-90BE-4659-B2D6-F658E98D46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33695EC-0B0D-4235-AFA4-B1E4550388E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幻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B932C40-2ED8-4F48-8679-947E9D2A614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247be11a434d71"/>
    <p:sldLayoutId xmlns:r="http://schemas.openxmlformats.org/officeDocument/2006/relationships" id="2147483650" r:id="Rd7cba96b3f174870"/>
    <p:sldLayoutId xmlns:r="http://schemas.openxmlformats.org/officeDocument/2006/relationships" id="2147483651" r:id="R9a4c289524ef49c9"/>
    <p:sldLayoutId xmlns:r="http://schemas.openxmlformats.org/officeDocument/2006/relationships" id="2147483652" r:id="R64535e863cec46dc"/>
    <p:sldLayoutId xmlns:r="http://schemas.openxmlformats.org/officeDocument/2006/relationships" id="2147483653" r:id="R3076d7898009408a"/>
    <p:sldLayoutId xmlns:r="http://schemas.openxmlformats.org/officeDocument/2006/relationships" id="2147483654" r:id="R3d025f62639a4265"/>
    <p:sldLayoutId xmlns:r="http://schemas.openxmlformats.org/officeDocument/2006/relationships" id="2147483655" r:id="Rd2f598b4c3894c48"/>
    <p:sldLayoutId xmlns:r="http://schemas.openxmlformats.org/officeDocument/2006/relationships" id="2147483656" r:id="R492b42180b2948e7"/>
    <p:sldLayoutId xmlns:r="http://schemas.openxmlformats.org/officeDocument/2006/relationships" id="2147483657" r:id="Ra554500b812f42f3"/>
    <p:sldLayoutId xmlns:r="http://schemas.openxmlformats.org/officeDocument/2006/relationships" id="2147483658" r:id="Re17e5d533b7b4785"/>
    <p:sldLayoutId xmlns:r="http://schemas.openxmlformats.org/officeDocument/2006/relationships" id="2147483659" r:id="Rc57404fcf43a467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be3a3d08a4403" /><Relationship Type="http://schemas.openxmlformats.org/officeDocument/2006/relationships/image" Target="/ppt/media/image.png" Id="Rff0fae5d108a4561" /><Relationship Type="http://schemas.openxmlformats.org/officeDocument/2006/relationships/image" Target="/ppt/media/image2.png" Id="Re78fb264e3df4301" /><Relationship Type="http://schemas.openxmlformats.org/officeDocument/2006/relationships/image" Target="/ppt/media/image3.png" Id="R64801a756883456e" /><Relationship Type="http://schemas.openxmlformats.org/officeDocument/2006/relationships/notesSlide" Target="/ppt/notesSlides/notesSlide1.xml" Id="R2e3c9ab68ec942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643fac78944ba" /><Relationship Type="http://schemas.openxmlformats.org/officeDocument/2006/relationships/image" Target="/ppt/media/image4.png" Id="Rcdf16e41b6f64b5c" /><Relationship Type="http://schemas.openxmlformats.org/officeDocument/2006/relationships/image" Target="/ppt/media/image3.png" Id="R791f78b40f9842d9" /><Relationship Type="http://schemas.openxmlformats.org/officeDocument/2006/relationships/notesSlide" Target="/ppt/notesSlides/notesSlide2.xml" Id="R5af88f1547b74b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20282731d4aad" /><Relationship Type="http://schemas.openxmlformats.org/officeDocument/2006/relationships/image" Target="/ppt/media/image4.png" Id="Rc3bd404ac2534428" /><Relationship Type="http://schemas.openxmlformats.org/officeDocument/2006/relationships/image" Target="/ppt/media/image3.png" Id="Rac0c9756a19749eb" /><Relationship Type="http://schemas.openxmlformats.org/officeDocument/2006/relationships/notesSlide" Target="/ppt/notesSlides/notesSlide3.xml" Id="Re11762888ee146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fc32446b44873" /><Relationship Type="http://schemas.openxmlformats.org/officeDocument/2006/relationships/image" Target="/ppt/media/image3.png" Id="Ra95bef1d35fa4719" /><Relationship Type="http://schemas.openxmlformats.org/officeDocument/2006/relationships/notesSlide" Target="/ppt/notesSlides/notesSlide4.xml" Id="Rfdaf92a32be648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6092b574d4230" /><Relationship Type="http://schemas.openxmlformats.org/officeDocument/2006/relationships/image" Target="/ppt/media/image4.png" Id="R0433ea47e4914392" /><Relationship Type="http://schemas.openxmlformats.org/officeDocument/2006/relationships/image" Target="/ppt/media/image3.png" Id="R79bc9212a5bf48e6" /><Relationship Type="http://schemas.openxmlformats.org/officeDocument/2006/relationships/notesSlide" Target="/ppt/notesSlides/notesSlide5.xml" Id="R16d251c8fa924d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bd842b91e46b8" /><Relationship Type="http://schemas.openxmlformats.org/officeDocument/2006/relationships/image" Target="/ppt/media/image4.png" Id="R1fdd8fbf62184ca3" /><Relationship Type="http://schemas.openxmlformats.org/officeDocument/2006/relationships/image" Target="/ppt/media/image3.png" Id="R88569500c68947bd" /><Relationship Type="http://schemas.openxmlformats.org/officeDocument/2006/relationships/notesSlide" Target="/ppt/notesSlides/notesSlide6.xml" Id="Rd58bae25ce7648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d869c0f494ed5" /><Relationship Type="http://schemas.openxmlformats.org/officeDocument/2006/relationships/image" Target="/ppt/media/image4.png" Id="Rab828a265dbd4382" /><Relationship Type="http://schemas.openxmlformats.org/officeDocument/2006/relationships/image" Target="/ppt/media/image3.png" Id="R963ea6b9d6ba4fe2" /><Relationship Type="http://schemas.openxmlformats.org/officeDocument/2006/relationships/notesSlide" Target="/ppt/notesSlides/notesSlide7.xml" Id="R20f0a4072e5549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05c53f70b4537" /><Relationship Type="http://schemas.openxmlformats.org/officeDocument/2006/relationships/image" Target="/ppt/media/image4.png" Id="R8376f589304246a8" /><Relationship Type="http://schemas.openxmlformats.org/officeDocument/2006/relationships/image" Target="/ppt/media/image3.png" Id="R657be4dcbb4d4894" /><Relationship Type="http://schemas.openxmlformats.org/officeDocument/2006/relationships/notesSlide" Target="/ppt/notesSlides/notesSlide8.xml" Id="Rde4bcf1dacfe4b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8ffa9d3c14cf8" /><Relationship Type="http://schemas.openxmlformats.org/officeDocument/2006/relationships/image" Target="/ppt/media/image4.png" Id="Rdfc87df6442c4bfd" /><Relationship Type="http://schemas.openxmlformats.org/officeDocument/2006/relationships/image" Target="/ppt/media/image3.png" Id="Rf669885e79f6477e" /><Relationship Type="http://schemas.openxmlformats.org/officeDocument/2006/relationships/chart" Target="/ppt/slides/charts/chart1.xml" Id="Reee5f725ed564fbc" /><Relationship Type="http://schemas.openxmlformats.org/officeDocument/2006/relationships/notesSlide" Target="/ppt/notesSlides/notesSlide9.xml" Id="R9815fbbf6ea84e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55028830b4a47" /><Relationship Type="http://schemas.openxmlformats.org/officeDocument/2006/relationships/image" Target="/ppt/media/image.jpeg" Id="R47ce99713a3145b4" /><Relationship Type="http://schemas.openxmlformats.org/officeDocument/2006/relationships/notesSlide" Target="/ppt/notesSlides/notesSlide10.xml" Id="R634fe6037c6543f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四例合计</c:v>
          </c:tx>
          <c:spPr>
            <a:solidFill xmlns:a="http://schemas.openxmlformats.org/drawingml/2006/main">
              <a:srgbClr val="007FA6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F59E0B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006 两节点纯 GPU</c:v>
                </c:pt>
                <c:pt idx="1">
                  <c:v>002 单节点双 GPU</c:v>
                </c:pt>
                <c:pt idx="2">
                  <c:v>005 两节点 CPU+GPU</c:v>
                </c:pt>
                <c:pt idx="3">
                  <c:v>003 单节点 CPU+GPU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4.024</c:v>
                </c:pt>
                <c:pt idx="1">
                  <c:v>5.164</c:v>
                </c:pt>
                <c:pt idx="2">
                  <c:v>5.179</c:v>
                </c:pt>
                <c:pt idx="3">
                  <c:v>5.207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D2939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E2E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87E7C12-E5A2-4716-A891-E73D07D8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399" y="0"/>
            <a:ext cx="12344400" cy="6857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A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3" name="图片 12">
            <a:extLst xmlns:a="http://schemas.openxmlformats.org/drawingml/2006/main">
              <a:ext uri="{FF2B5EF4-FFF2-40B4-BE49-F238E27FC236}">
                <a16:creationId xmlns:a16="http://schemas.microsoft.com/office/drawing/2014/main" id="{368D2A70-4919-4ED5-9561-B762169431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fae5d108a45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52400" y="238760"/>
            <a:ext cx="12382500" cy="6619240"/>
          </a:xfrm>
          <a:prstGeom xmlns:a="http://schemas.openxmlformats.org/drawingml/2006/main" prst="rect">
            <a:avLst/>
          </a:prstGeom>
        </p:spPr>
      </p:pic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71516B48-7409-47A5-BA02-CCD8601E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210" y="1483360"/>
            <a:ext cx="8213090" cy="13385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defPPr algn="l"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4000">
                <a:solidFill>
                  <a:srgbClr val="062A3B"/>
                </a:solidFill>
                <a:latin typeface="SDK_SC_Web"/>
                <a:ea typeface="SDK_SC_Web"/>
                <a:cs typeface="SDK_SC_Web"/>
              </a:rPr>
              <a:t>Towards Higher Performance in Computing</a:t>
            </a:r>
            <a:endParaRPr sz="4000">
              <a:solidFill>
                <a:srgbClr val="062A3B"/>
              </a:solidFill>
              <a:latin typeface="SDK_SC_Web"/>
              <a:ea typeface="SDK_SC_Web"/>
              <a:cs typeface="SDK_SC_Web"/>
            </a:endParaRPr>
          </a:p>
        </p:txBody>
      </p:sp>
      <p:pic>
        <p:nvPicPr>
          <p:cNvPr id="12" name="图片 11">
            <a:extLst xmlns:a="http://schemas.openxmlformats.org/drawingml/2006/main">
              <a:ext uri="{FF2B5EF4-FFF2-40B4-BE49-F238E27FC236}">
                <a16:creationId xmlns:a16="http://schemas.microsoft.com/office/drawing/2014/main" id="{12C20737-3746-4B0A-83F0-62DA9A2E26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8fb264e3df43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55200" y="382362"/>
            <a:ext cx="1964267" cy="618074"/>
          </a:xfrm>
          <a:prstGeom xmlns:a="http://schemas.openxmlformats.org/drawingml/2006/main" prst="rect">
            <a:avLst/>
          </a:prstGeom>
        </p:spPr>
      </p:pic>
      <p:pic>
        <p:nvPicPr>
          <p:cNvPr id="2" name="图片 1">
            <a:extLst xmlns:a="http://schemas.openxmlformats.org/drawingml/2006/main">
              <a:ext uri="{FF2B5EF4-FFF2-40B4-BE49-F238E27FC236}">
                <a16:creationId xmlns:a16="http://schemas.microsoft.com/office/drawing/2014/main" id="{6808D195-8DAC-40D6-93B4-C1C02E29AE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801a75688345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BF3B35BB-C2FF-4053-9029-A09FD376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950" y="3509645"/>
            <a:ext cx="2641600" cy="5886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ln>
                  <a:noFill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/>
                <a:ea typeface="微软雅黑"/>
                <a:cs typeface="微软雅黑"/>
              </a:rPr>
              <a:t>计算机</a:t>
            </a:r>
            <a:r>
              <a:rPr sz="1800" b="1">
                <a:ln>
                  <a:noFill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/>
                <a:ea typeface="微软雅黑"/>
                <a:cs typeface="微软雅黑"/>
              </a:rPr>
              <a:t>2606 </a:t>
            </a:r>
            <a:r>
              <a:rPr sz="1800" b="1">
                <a:ln>
                  <a:noFill/>
                </a:ln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/>
                <a:ea typeface="微软雅黑"/>
                <a:cs typeface="微软雅黑"/>
              </a:rPr>
              <a:t>王正韬</a:t>
            </a:r>
            <a:endParaRPr sz="1800" b="1">
              <a:ln>
                <a:noFill/>
              </a:ln>
              <a:solidFill>
                <a:srgbClr val="FFFFFF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4C1B7A8-D053-4542-9A3E-653B006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88667"/>
            <a:ext cx="12192000" cy="1693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46D2F6F-EC77-4C61-B9C0-3EBDE807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03220"/>
            <a:ext cx="3430270" cy="525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——Melspec</a:t>
            </a:r>
            <a:r>
              <a:rPr sz="24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性能优化</a:t>
            </a:r>
            <a:endParaRPr sz="240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15036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016E7C0D-B7E6-41E2-B4B8-BCA6A1B305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f16e41b6f64b5c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D5426C84-1DC1-422E-A891-DE9A1484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5689D953-026F-4275-95ED-F9A61B3C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原始参考实现的问题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974ADDD-6502-40D7-8C83-1A7CEFA7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6DB5C112-979D-43B7-9301-07D9D9A2B0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f78b40f9842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B93DFFB-C40A-4600-A22A-E03EF89B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实现正确，但热路径存在重复计算、乘零和大块内存流量</a:t>
            </a: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8785CF7-5448-47AB-97FB-7167261C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20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8A9488D-344B-4047-BB38-748014CA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95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重复准备</a:t>
            </a:r>
            <a:endParaRPr sz="20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7D3D8EA-57D3-40CE-9DC4-F8E557DE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733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每帧重新分配中间数组，重算位反转索引，并在每个 FFT stage 生成 twiddle。这些与帧内容无关的准备成本被反复执行。</a:t>
            </a: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3AF64CB-ADD1-4FEA-9118-F64B2908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B69412A-4356-41E9-BBFA-7BB4CB03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20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6942EBE-20C4-4580-9884-20849B75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09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全长度复数 FFT</a:t>
            </a:r>
            <a:endParaRPr sz="20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07A11E4-238C-458A-A32E-CFE8115C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733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实数输入仍走 n_fft 点复数 FFT。打包成 n_fft/2 点复数变换即可保留相同频率分辨率，原路径的计算和中间数组都更长。</a:t>
            </a: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66B1B387-81F9-4C8E-B7A2-0889941A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0FDBCEF-D1CB-40BC-9440-939B21EC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20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79FBD73-646A-4168-8C2C-6D257EAB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稠密 Mel 投影</a:t>
            </a:r>
            <a:endParaRPr sz="20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E3C4487-3080-40DB-BA30-1D310F24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24300"/>
            <a:ext cx="733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每个三角滤波器只有窄带非零，原实现却扫描 n_mels × (n_fft/2+1) 全表。大部分乘法权重为零，访存量也随滤波器数量放大。</a:t>
            </a: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D5834D9-3D48-404E-8F04-2FEF7F9E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4ED5A6FE-14CC-41F3-8642-23DA3020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20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49D6B63-991A-4378-AD96-DD43E3E4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7774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完整功率谱</a:t>
            </a:r>
            <a:endParaRPr sz="20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307B770-6068-4B6F-BFA4-DE6ECDB5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38700"/>
            <a:ext cx="733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按 [bin, frame] 保留完整 double 功率谱，default 约 6.3 GB。Mel 投影跨行读取，缓存局部性差，峰值内存压力高。</a:t>
            </a: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FF58E8C-D030-4745-A8BF-3D2C50B1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同口径 1M default：61.663 s 降至 0.084 s，exp001 加速 731.206x。</a:t>
            </a:r>
            <a:endParaRPr sz="1125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四类浪费叠加在每帧热路径上，主要成本来自计算组织和访存，不是测试脚本或磁盘读取。</a:t>
            </a:r>
            <a:endParaRPr sz="1125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AD06C451-0948-473D-9F25-A01D0710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</a:t>
            </a: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552650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95957CAA-F949-44C0-9C1E-7119DE3E7E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bd404ac2534428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151A4E5E-3270-49F8-805D-4A19D87C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97425FE-67E0-4337-88B5-8C85AAF0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exp001 的算法优化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BFD984D-CD0C-4CC9-A63A-2C71E69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3A87DF47-4D05-4F2D-9078-4102FAD1B5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c9756a197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61A2AC2-4B2C-441A-86D4-2A2F30D1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用半长度实数 FFT、稀疏 Mel 和并行分块消除主要浪费</a:t>
            </a: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AF1518A-1357-4DA1-8454-5DC7127B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20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A45F9A3-6BF1-495B-BE9F-114F2A56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478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打包实数 FFT</a:t>
            </a:r>
            <a:endParaRPr sz="18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D57B901-B325-4176-A32D-98698E53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9077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A019758-560E-4CA3-B308-48E4B635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633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3F6BED2-0DC1-4490-8741-AF388663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20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15BE784-C5AC-4508-800C-EF8DEE57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稀疏 Mel</a:t>
            </a:r>
            <a:endParaRPr sz="18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39AEB70-E535-480F-B323-5042EB69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1472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FACB15B-D1D4-4E82-84D3-EED75BD6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633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ACE3CC0-C313-4477-9EC3-4BB7D836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20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F27E0D4-D241-435C-8C97-134B3668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957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分块与并行</a:t>
            </a:r>
            <a:endParaRPr sz="180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55D17F8-A10C-4B3B-BBB4-253F8C48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3867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endParaRPr sz="120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3DC17B2-AEBA-4AD8-9FB4-42698CF4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3.777 s</a:t>
            </a:r>
            <a:endParaRPr sz="31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E368D0C-7460-411F-9BC8-559DD5CC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289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64 线程四例合计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D155668-F790-4AB5-BEA5-BEE944BD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052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731.206x</a:t>
            </a:r>
            <a:endParaRPr sz="315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9793D8D4-D1C2-453F-A97E-AED2045C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481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原实现 1M 样本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4EC58856-6FA5-4DB5-BA07-35C7FA00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</a:t>
            </a: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2C42A39-18EF-41BB-95C6-15A38011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90775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将相邻两帧的实部和虚部分别打包，把核心 FFT 从 n_fft 点复数变换降到 n_fft/2 点。一次后处理即可恢复实数频谱，频率分辨率不变。</a:t>
            </a:r>
            <a:endParaRPr sz="1125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1E5DE6AA-3EC6-4D78-89D7-C493E679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14725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预先构图，只保存每个三角滤波器的非零区间和权重。计算时直接跳过零权重频率箱，显著减少乘法与无效访存。</a:t>
            </a:r>
            <a:endParaRPr sz="1125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2AB47BAA-8933-4752-AA8C-6320426D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38675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按 256 帧分块，复用 twiddle、位反转表和线程工作区。FFT、功率与稀疏 Mel 融合在 OpenMP 帧循环中，并用 SIMD 累加。</a:t>
            </a:r>
            <a:endParaRPr sz="1125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9B9613A-E78E-4896-B3B4-94D1A1B1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结果：64 线程 spread 下四例合计 3.777 s，4/4 PASS。相比单线程 79.120 s 提升约 20.95x，也为 exp008 和 exp009 保留了同一套 FFT 与 Mel 数学。</a:t>
            </a:r>
            <a:endParaRPr sz="10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153902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740F4627-FB9A-453C-8B90-286A12D8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2D27108-E230-4B6D-A647-E611B53D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48" y="1108749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代码演进关系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28BF57F-5775-4BF5-9857-7C655EBE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-95250" y="-95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5C7D8651-F392-4C28-BF29-167708BA3D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bef1d35fa4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FDB3A5F-3CAE-4649-B569-C410C9B5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48" y="1666875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粗</a:t>
            </a: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线是直接源码包含或主要演化</a:t>
            </a: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细</a:t>
            </a: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线是设计复用与对照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B0FCD70-6C1D-4328-BA7C-51B03C17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A3B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baseline</a:t>
            </a:r>
            <a:endParaRPr sz="10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src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/melspec.cpp</a:t>
            </a:r>
            <a:endParaRPr sz="10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C7F0F47-B74B-4435-8AE5-50CC9A22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C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exp001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单节点纯</a:t>
            </a:r>
            <a:r>
              <a:t>CPU</a:t>
            </a:r>
            <a:r>
              <a:t>基础优化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C7ACEE7-1AB9-40A0-8C7D-026C1EC2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476375"/>
            <a:ext cx="1381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exp002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单节点</a:t>
            </a: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双GPU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D16A273-8789-467F-B5D7-9BEC7EFD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76375"/>
            <a:ext cx="1381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exp003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单节点异构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0F772A8-BD3A-4424-B973-BA4416D7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476375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exp005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多节点异构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034FCB1-CF1E-4981-B0C0-80727339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3812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exp006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多节点</a:t>
            </a: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GPU对照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16B71A81-58E1-4E97-A97C-85D199B8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095625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C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exp004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多节点</a:t>
            </a: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纯</a:t>
            </a: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CPU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CDDF921-FB4B-4510-B260-61772953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952875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exp007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profile</a:t>
            </a:r>
            <a:endParaRPr sz="1050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38B4893-87F9-4597-9B7C-9A9F065D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952875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8F1"/>
          </a:solidFill>
          <a:ln xmlns:a="http://schemas.openxmlformats.org/drawingml/2006/main" w="28575">
            <a:solidFill>
              <a:srgbClr val="18A77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 i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exp008</a:t>
            </a:r>
            <a:endParaRPr sz="1050" b="1" i="1">
              <a:solidFill>
                <a:srgbClr val="FF0000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 i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单节点纯CPU最终</a:t>
            </a:r>
            <a:endParaRPr sz="1050" b="1" i="1">
              <a:solidFill>
                <a:srgbClr val="FF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6C8A15F-E7CE-40F9-9573-3DFF15D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095875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8F1"/>
          </a:solidFill>
          <a:ln xmlns:a="http://schemas.openxmlformats.org/drawingml/2006/main" w="28575">
            <a:solidFill>
              <a:srgbClr val="18A77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 i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exp009</a:t>
            </a:r>
            <a:endParaRPr sz="1050" b="1" i="1">
              <a:solidFill>
                <a:srgbClr val="FF0000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050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 i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多节点</a:t>
            </a:r>
            <a:r>
              <a:rPr i="1">
                <a:solidFill>
                  <a:srgbClr val="FF0000"/>
                </a:solidFill>
              </a:rPr>
              <a:t>纯CPU</a:t>
            </a:r>
            <a:r>
              <a:rPr sz="1050" b="1" i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最终</a:t>
            </a:r>
            <a:endParaRPr sz="1050" b="1" i="1">
              <a:solidFill>
                <a:srgbClr val="FF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CB5513E-607F-4770-90B2-D986566C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8575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B1914F6F-9003-4C85-8B3E-BFEED346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67025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3B61A60-FF77-46E4-80BB-71878EDD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71650"/>
            <a:ext cx="285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D32EEB9-E7A8-4DB7-BF98-E5A54485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225" y="1771650"/>
            <a:ext cx="3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2A2D008D-5D99-4FA4-A440-543DC609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716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E587FB2-38DE-4BC1-BB52-4079A6D4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7716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B528C5C0-0BF8-47E0-B030-C84EBA58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6692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30866E1D-2E02-41F4-808E-B32ACF2A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6702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E74BF56-1A57-4E3D-BEB1-2E4B670E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67025"/>
            <a:ext cx="28575" cy="5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3D63BAA4-7B6F-4A14-8877-54809530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8362"/>
            <a:ext cx="333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4A88C48-8E22-41DA-A121-062AF3B3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162300"/>
            <a:ext cx="285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E191C894-FDCC-4558-9B01-79DD91D6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6437" y="3686175"/>
            <a:ext cx="19050" cy="27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7EDB8CF2-3C0D-4A78-BCEB-F08E73DE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1437" y="4248150"/>
            <a:ext cx="68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6DEB9791-BF32-4A6C-8FC2-A59EC39C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543425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7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B0725A0F-EA45-483E-AC67-2E875660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39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4570738D-699F-40C8-BFFC-848DB791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200" y="3394200"/>
            <a:ext cx="19050" cy="2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0B9FA163-E47F-4951-A2B7-9A634991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00" y="5391150"/>
            <a:ext cx="264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B7AC94BE-3D6C-4B72-B444-13A74E26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</a:t>
            </a: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2794869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A4648BFC-0389-4A7F-A25C-CF79F014FE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33ea47e4914392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A279410B-7F1C-4375-A98B-42B46674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8822BC1F-C099-4AAF-B415-6042F350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exp001–009 结果总览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26DB38F-1BAE-4F70-A757-783CEDE9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636E8517-5FD7-4CA6-BA55-07EC89D55F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c9212a5bf48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EB0709-FCF1-4F2D-9D2F-6BCD333F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官方四用例取三次最小值；相对值统一以 exp001 T=64 的 3.777 s 为基线</a:t>
            </a:r>
            <a:endParaRPr sz="105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9" name="表格 8">
            <a:extLst xmlns:a="http://schemas.openxmlformats.org/drawingml/2006/main">
              <a:ext uri="{FF2B5EF4-FFF2-40B4-BE49-F238E27FC236}">
                <a16:creationId xmlns:a16="http://schemas.microsoft.com/office/drawing/2014/main" id="{8DAE288B-8E6F-4778-BC77-278738EA040D}"/>
              </a:ext>
            </a:extLst>
          </p:cNvPr>
          <p:cNvGraphicFramePr/>
          <p:nvPr/>
        </p:nvGraphicFramePr>
        <p:xfrm>
          <a:off xmlns:a="http://schemas.openxmlformats.org/drawingml/2006/main" x="685800" y="1924050"/>
          <a:ext xmlns:a="http://schemas.openxmlformats.org/drawingml/2006/main" cx="10820400" cy="376238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719455"/>
                <a:gridCol w="7462520"/>
                <a:gridCol w="1381125"/>
                <a:gridCol w="1257300"/>
              </a:tblGrid>
              <a:tr h="376238">
                <a:tc>
                  <a:txBody>
                    <a:bodyPr/>
                    <a:lstStyle/>
                    <a:p>
                      <a:r>
                        <a:t>exp#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关键思路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四例合计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相对 001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打包实数 FFT、稀疏 Mel、SIMD、OpenMP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3.777 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1.000x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单节点双 GPU，cuFFT D2Z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5.164 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0.731x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单节点 CPU + 双 GPU 异构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5.207 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0.725x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多节点 CPU，本地帧区间与 pwrite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2.533 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1.491x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两节点 CPU+GPU 异构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5.179 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0.729x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两节点纯 GPU，CPU 不参与帧计算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4.024 s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0.939x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t>007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阶段 profile，不改变算法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profile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基线分析</a:t>
                      </a:r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b="1"/>
                        <a:t>008</a:t>
                      </a:r>
                      <a:endParaRPr b="1"/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单节点最终：更短的数据路径</a:t>
                      </a:r>
                      <a:endParaRPr b="1"/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2.733 s</a:t>
                      </a:r>
                      <a:endParaRPr b="1"/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1.382x</a:t>
                      </a:r>
                      <a:endParaRPr b="1"/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  <a:tr h="376238">
                <a:tc>
                  <a:txBody>
                    <a:bodyPr/>
                    <a:lstStyle/>
                    <a:p>
                      <a:r>
                        <a:rPr b="1"/>
                        <a:t>009</a:t>
                      </a:r>
                      <a:endParaRPr b="1"/>
                    </a:p>
                  </a:txBody>
                  <a:tcPr marL="91440" marR="91440" marT="45720" marB="45720">
                    <a:lnL w="9525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三节点最终：本地读、并行算、分布写</a:t>
                      </a:r>
                      <a:endParaRPr b="1"/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2.186 s</a:t>
                      </a:r>
                      <a:endParaRPr b="1"/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1.728x</a:t>
                      </a:r>
                      <a:endParaRPr b="1"/>
                    </a:p>
                  </a:txBody>
                  <a:tcPr marL="91440" marR="91440" marT="45720" marB="45720">
                    <a:lnL w="9525" cmpd="sng">
                      <a:solidFill>
                        <a:srgbClr val="CFE2E9"/>
                      </a:solidFill>
                      <a:prstDash val="solid"/>
                    </a:lnL>
                    <a:lnR w="9525">
                      <a:solidFill>
                        <a:srgbClr val="CFE2E9"/>
                      </a:solidFill>
                      <a:prstDash val="solid"/>
                    </a:lnR>
                    <a:lnT w="9525" cmpd="sng">
                      <a:solidFill>
                        <a:srgbClr val="CFE2E9"/>
                      </a:solidFill>
                      <a:prstDash val="solid"/>
                    </a:lnT>
                    <a:lnB w="9525">
                      <a:solidFill>
                        <a:srgbClr val="CFE2E9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572B1EE-A620-4B52-B31F-1AECFD4C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975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最终方案为 exp008 与 exp009；完整原实现对照使用同一 1M 样本前缀。</a:t>
            </a:r>
            <a:endParaRPr sz="975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B40B25C-BD82-4708-B037-29A50D32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</a:t>
            </a: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8826610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81C676AA-0A7B-4C14-BC81-611E8D4459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dd8fbf62184ca3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84B8B2C6-FB8C-4A7B-A485-A6101660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0A0AFEC-C1FD-42CB-BA5D-3DCD07AA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exp008 单节点最终方案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127AF03-C602-4AA8-A9FA-06183A3C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598A5EF6-5F51-41C3-81B5-39A924028E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69500c68947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72EBA47-4EDC-4389-A5E1-6EDBCEF4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从 exp001 到 exp008：保留 FFT 与 Mel 数学，重点改并行粒度、输出精度和内存生命周期</a:t>
            </a:r>
            <a:endParaRPr sz="105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B229333-FF43-49E9-B44B-67391C1C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C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读取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本地 PCM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99FC1A3-5599-48F4-ADF4-814E1BD3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241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66FC23E-4BF6-4D03-B466-358F4D9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C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归一化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64 threads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B56BAE9-5588-4B2A-979A-6FA94AC5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241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424EBF1-0BDE-4A45-82B4-7821A6BA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95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1905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计算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direct float32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A559D4F-459B-4221-B78D-83F3A49D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2412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ACCF3CF-1EE4-45B3-B905-1D6CAD24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955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C"/>
          </a:solidFill>
          <a:ln xmlns:a="http://schemas.openxmlformats.org/drawingml/2006/main" w="19050">
            <a:solidFill>
              <a:srgbClr val="00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写入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ctr">
              <a:buNone/>
              <a:def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single pass</a:t>
            </a:r>
            <a:endParaRPr sz="127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69262DF4-D474-4495-A70E-CEB19EE0C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2.733 s</a:t>
            </a:r>
            <a:endParaRPr sz="315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14F53F4-DA0F-491E-B2E4-0980D081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四例合计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8D5C48C-D4CE-428E-A9B3-E8E67C78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290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1.382x</a:t>
            </a:r>
            <a:endParaRPr sz="31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5A215BB-4AB9-4F50-AEBE-72DED990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71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相对 exp001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3E838B6-85F3-4EEF-9EBB-7D515DC9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1427.391x</a:t>
            </a:r>
            <a:endParaRPr sz="3150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9B8EF0E-AC99-4891-81A8-4A101C6B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7192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原实现 1M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6020E3A-5E97-4E03-B7C3-DA7AB8EF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070475" cy="996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just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PCM 归一化串行执行。每个 256 帧 tile 单独创建 OpenMP 区域。保留完整 double 输出矩阵和 double tile staging，最后再做一遍串行 double 到 float32 转换。</a:t>
            </a:r>
            <a:endParaRPr sz="1600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9E7F90B-F34B-45CD-8862-8E048564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06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187A558E-A8A7-428B-B74C-37B58874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exp001 的额外成本</a:t>
            </a:r>
            <a:endParaRPr sz="1125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CACB2C3-1450-4804-8C5E-AF1FC417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exp008 的改法</a:t>
            </a:r>
            <a:endParaRPr sz="1125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6323F52-F4BF-4577-8789-4FA18D86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21F1080-1ADE-40F6-86BF-006EA93B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4953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just">
              <a:buNone/>
              <a:def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PCM 归一化改为 64 线程并行。用一个 OpenMP 区域覆盖全部帧，减少反复创建并行区和 barrier。线程完成 Mel 后直接写 float32，删除 double 全矩阵、staging 与末遍转换</a:t>
            </a:r>
            <a:r>
              <a:rPr sz="1050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050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61D794C1-55C9-49D8-BC24-5D2435FB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default profile：读取 0.06 s，归一化 0.11 s，计算 0.36 s，写入 0.08 s。峰值内存（RSS）从 779 MB 降至 394 MB，四例从 3.777 s 降至 2.733 s。</a:t>
            </a:r>
            <a:endParaRPr sz="975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1994717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53DCBCD7-804D-43E9-9BC8-9F31F93061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828a265dbd4382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B2866DBB-B9AA-485F-861B-F8D92C0A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0F0F918-D8A3-42A7-AAA8-CFEEAF13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单节点到多节点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A51B410-2DE5-4A1E-8CF9-30494979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C68FF537-9680-4C47-B65B-3917444D92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3ea6b9d6ba4f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B8FCBB0-289C-4545-902B-C9F5FD75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计算路径稳定后，把连续帧区间拆给不同节点</a:t>
            </a:r>
            <a:endParaRPr sz="1050" b="0">
              <a:solidFill>
                <a:schemeClr val="tx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110AEAF-0E3D-40E5-B254-D8095FA3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57500"/>
            <a:ext cx="762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05737532-186D-4FA2-832C-FD1A5CA1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57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5BE7B93-5F6A-46DF-B04B-D1E012CA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724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9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B7CED2D-51C9-4D57-BAC0-1DF928A8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2885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exp00</a:t>
            </a: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5F735F5-AB11-472F-B678-7632D644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单节点</a:t>
            </a:r>
            <a:endParaRPr sz="112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7BA194B-77AC-4467-805D-EC5D3BC0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81400"/>
            <a:ext cx="100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3.777</a:t>
            </a:r>
            <a:r>
              <a: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s</a:t>
            </a:r>
            <a:endParaRPr sz="1500" b="1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176249F4-F2F2-4333-AB9E-60FD5E9C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57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E6FA255-9D38-41AC-9554-85F7F4F3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24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9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DC40A9-0957-4F58-9BAC-63954D18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2885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exp004</a:t>
            </a:r>
            <a:endParaRPr sz="10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7FF9F94-70C6-4316-9AD8-24884E7B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两节点</a:t>
            </a:r>
            <a:endParaRPr sz="112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78F0B5E-1893-453B-85CF-6876B974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81400"/>
            <a:ext cx="100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3.083 s</a:t>
            </a:r>
            <a:endParaRPr sz="1500" b="1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椭圆 19">
            <a:extLst xmlns:a="http://schemas.openxmlformats.org/drawingml/2006/main">
              <a:ext uri="{FF2B5EF4-FFF2-40B4-BE49-F238E27FC236}">
                <a16:creationId xmlns:a16="http://schemas.microsoft.com/office/drawing/2014/main" id="{A55E398F-F9BC-4B56-8CE9-FD019362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57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FA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5D505C9-4D8B-466F-BED1-ED643082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24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9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A5CB20F4-3315-47AC-A4E5-B7AFB050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22885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exp004</a:t>
            </a:r>
            <a:endParaRPr sz="10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C0A146B-77FC-4E4D-A719-62E6F9B7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19450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三节点</a:t>
            </a:r>
            <a:endParaRPr sz="112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65D2D93-DC97-4667-ABBB-F44DE99B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581400"/>
            <a:ext cx="100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2.533 s</a:t>
            </a:r>
            <a:endParaRPr sz="1500" b="1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椭圆 24">
            <a:extLst xmlns:a="http://schemas.openxmlformats.org/drawingml/2006/main">
              <a:ext uri="{FF2B5EF4-FFF2-40B4-BE49-F238E27FC236}">
                <a16:creationId xmlns:a16="http://schemas.microsoft.com/office/drawing/2014/main" id="{3A3913BE-99F5-404A-8E6A-3FFD8C8F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574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77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FE3EB56E-7DF5-4CEA-B85C-0EF56E7C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24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9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4A592EE5-ABD1-4343-A187-E6C333BF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2885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exp009</a:t>
            </a:r>
            <a:endParaRPr sz="10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00CA6E83-64BB-4C48-B507-F34BE83F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三节点最终</a:t>
            </a:r>
            <a:endParaRPr sz="1125" b="1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8A81A10B-EFF0-48DC-964E-06E47A4D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81400"/>
            <a:ext cx="100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ctr"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defPPr>
            <a:lvl1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1pPr>
            <a:lvl2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2pPr>
            <a:lvl3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3pPr>
            <a:lvl4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4pPr>
            <a:lvl5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5pPr>
            <a:lvl6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6pPr>
            <a:lvl7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7pPr>
            <a:lvl8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8pPr>
            <a:lvl9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rPr>
              <a:t>2.186 s</a:t>
            </a:r>
            <a:endParaRPr sz="1500" b="1">
              <a:solidFill>
                <a:srgbClr val="18A77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DFFC84BC-AA6A-47F2-85C7-4B332CBF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4160"/>
            <a:ext cx="9906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每个 rank 只读取自己的连续 PCM 帧区间</a:t>
            </a:r>
            <a:endParaRPr sz="20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各 rank 直接 pwrite 不重叠输出列，不需要 Gather</a:t>
            </a:r>
            <a:endParaRPr sz="20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原生 Slurm 协调避免 MPI 启动开销</a:t>
            </a:r>
            <a:endParaRPr sz="20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200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两节点旧路径慢于 exp008，三节点才形成明显收益</a:t>
            </a:r>
            <a:endParaRPr sz="20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2A898E15-A71D-4EC2-988A-EEF91C73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07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413179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E344891B-DCA7-4DE8-88B3-DB0A686B51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76f589304246a8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A5A48895-E625-420D-992A-A849D33D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24404FC6-2AFB-4B42-8BBA-D9DD66A4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两个最终成果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CA9F12C-43E9-4D3E-BDE1-90D8C690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5E621F30-4E5F-41B8-8273-71ABC43AD3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be4dcbb4d48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57FE4ED-D881-4164-A836-D3F5EC61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两个方案均通过官方四例；相对加速与同口径原实现加速分别标注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2FA5F77-84C2-4964-9013-5F5225F3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43125"/>
            <a:ext cx="95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2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11FF86F-096C-4230-99DF-DA5DA955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exp008  单节点最终</a:t>
            </a:r>
            <a:endParaRPr sz="1275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B429FA-48C4-4983-85F7-985FAC67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2.733 s</a:t>
            </a:r>
            <a:endParaRPr sz="3450" b="1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8397AC3-D330-4D2C-84EB-143D3820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相对 001 1.382x</a:t>
            </a:r>
            <a:endParaRPr sz="1275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54FAE3C-1EF5-4CB9-8121-5C0B8F32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原实现 1M 1427.391x</a:t>
            </a:r>
            <a:endParaRPr sz="120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D18ADF2-E50E-476A-BB71-D799E71C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8A77A"/>
                </a:solidFill>
                <a:latin typeface="微软雅黑"/>
                <a:ea typeface="微软雅黑"/>
                <a:cs typeface="微软雅黑"/>
              </a:rPr>
              <a:t>exp009  三节点最终</a:t>
            </a:r>
            <a:endParaRPr sz="1275" b="1">
              <a:solidFill>
                <a:srgbClr val="18A77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0FCC8CF-F4B5-4E9E-97F4-919A799A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rPr>
              <a:t>2.186 s</a:t>
            </a:r>
            <a:endParaRPr sz="3450" b="1">
              <a:solidFill>
                <a:srgbClr val="18A77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6CC1CCFE-B504-4F0E-A752-44117363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861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相对 001 1.728x</a:t>
            </a:r>
            <a:endParaRPr sz="1275" b="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186AD30-7220-4BC6-A483-387D985B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290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原实现 1M 156.271x</a:t>
            </a:r>
            <a:endParaRPr sz="120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72E21E8-9CBF-4754-9799-E2D34C3C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defRPr>
            </a:pPr>
            <a:r>
              <a:rPr sz="1400" b="1">
                <a:solidFill>
                  <a:srgbClr val="18A77A"/>
                </a:solidFill>
                <a:latin typeface="微软雅黑"/>
                <a:ea typeface="微软雅黑"/>
                <a:cs typeface="微软雅黑"/>
              </a:rPr>
              <a:t>两个方案均 4/4 PASS</a:t>
            </a:r>
            <a:endParaRPr sz="1400" b="1">
              <a:solidFill>
                <a:srgbClr val="18A77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BE75E34-4A83-45BC-9603-AE2DBF8C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参考：项目源码与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README  /  NVIDIA 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cuFFT、CUDA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/  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OpenMP、GCC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/  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Slurm</a:t>
            </a:r>
            <a:endParaRPr sz="90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CE06FC4C-23BB-4C96-AC67-D59EC432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AI 工具：Codex 外接 DeepSeek-V4.1-Flash-1017（reasoning_effort=max），用于源码理解、方案讨论、实现草稿、实验编排与文档整理；所有数据来自实际 Slurm 作业。</a:t>
            </a:r>
            <a:endParaRPr sz="90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6E06E20-2104-4D73-B99E-6B5B9A73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</a:t>
            </a: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7271507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EA31FB95-B9AA-4EBC-ABB5-0E5CCC92F3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c87df6442c4bfd">
            <a:alphaModFix amt="4000"/>
          </a:blip>
          <a:srcRect xmlns:a="http://schemas.openxmlformats.org/drawingml/2006/main" l="0" t="4939" r="28793" b="22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1601" y="902926"/>
            <a:ext cx="9550400" cy="5955074"/>
          </a:xfrm>
          <a:prstGeom xmlns:a="http://schemas.openxmlformats.org/drawingml/2006/main" prst="rect">
            <a:avLst/>
          </a:prstGeom>
        </p:spPr>
      </p:pic>
      <p:sp>
        <p:nvSpPr>
          <p:cNvPr id="4" name="文本框 3">
            <a:extLst xmlns:a="http://schemas.openxmlformats.org/drawingml/2006/main">
              <a:ext uri="{FF2B5EF4-FFF2-40B4-BE49-F238E27FC236}">
                <a16:creationId xmlns:a16="http://schemas.microsoft.com/office/drawing/2014/main" id="{3C804CDB-06D2-4DFB-BEDA-6BAD6652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38225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just">
              <a:buNone/>
            </a:pPr>
            <a:endParaRPr sz="2000">
              <a:solidFill>
                <a:schemeClr val="tx1">
                  <a:lumMod val="50000"/>
                  <a:lumOff val="5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A29405BD-9FEB-4859-A00B-F5A04CBE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062A3B"/>
                </a:solidFill>
                <a:latin typeface="微软雅黑"/>
                <a:ea typeface="微软雅黑"/>
                <a:cs typeface="微软雅黑"/>
              </a:rPr>
              <a:t>GPU 与 CPU+GPU 为什么没有胜出</a:t>
            </a:r>
            <a:endParaRPr sz="32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9DF3E75-9BBC-448E-8EEA-2343C321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5800" y="18859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598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图片 6">
            <a:extLst xmlns:a="http://schemas.openxmlformats.org/drawingml/2006/main">
              <a:ext uri="{FF2B5EF4-FFF2-40B4-BE49-F238E27FC236}">
                <a16:creationId xmlns:a16="http://schemas.microsoft.com/office/drawing/2014/main" id="{B4A0D1D5-940F-4F8E-9BB5-6702677855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9885e79f6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4170" y="333375"/>
            <a:ext cx="2924175" cy="666750"/>
          </a:xfrm>
          <a:prstGeom xmlns:a="http://schemas.openxmlformats.org/drawingml/2006/main" prst="rect">
            <a:avLst/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D731D2A-C165-4D5E-A1BE-73E2D7F1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计算本身很快，固定启动、设备传输、同步和共享输出共同拖慢完整 CLI</a:t>
            </a:r>
            <a:endParaRPr sz="1050" b="0">
              <a:solidFill>
                <a:srgbClr val="66708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F6CD8E0-4C35-4F27-A83A-43BB92FA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620" y="2062480"/>
            <a:ext cx="4495165" cy="3808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GPU 路线最快是两节点纯 GPU exp006，合计 4.024 s，仍慢于 exp001 3.777 s 和 exp008 2.733 s。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GPU 路径含 H2D、kernel、D2H 和同步约 0.161–0.233 s，核心算术本身并不慢。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输入 PCM 读取约 0.093 s/rank，只占阶段时间约 9%，磁盘读取不是主要原因。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每 1024 帧同步一次，default 每 rank 约 94 次。pageable 输出缓冲使传输无法与下一批计算重叠。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共享输出写入约 0.280–0.489 s，rank 1 约占 49%，default 完整输出约 188 MiB。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CUDA 初始化、显存分配和 cuFFT plan 另有约 0.056–0.060 s 固定开销，短用例难以摊薄。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28600" indent="-114300" algn="l">
              <a:spcAft>
                <a:spcPts val="400"/>
              </a:spcAft>
              <a:buChar char="•"/>
              <a:def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1D2939"/>
                </a:solidFill>
                <a:latin typeface="微软雅黑"/>
                <a:ea typeface="微软雅黑"/>
                <a:cs typeface="微软雅黑"/>
              </a:rPr>
              <a:t>CPU+GPU 还会竞争主机内存、缓存和 I/O，并等待较慢一侧。纯 GPU 5.164 s 仍快于异构 5.179/5.207 s。</a:t>
            </a:r>
            <a:endParaRPr sz="1400">
              <a:solidFill>
                <a:srgbClr val="1D293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41205C3-3754-48B9-8D60-5F8E91BC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75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结论：在当前四个短用例和共享输出路径下，GPU 算术不是主要瓶颈，耗时主要落在设备传输、同步与输出 I/O。</a:t>
            </a:r>
            <a:endParaRPr sz="1275" b="1">
              <a:solidFill>
                <a:srgbClr val="F59E0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0F67F00-A2AD-48CC-AD8C-4DA990BC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7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r"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defPPr>
            <a:lvl1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1pPr>
            <a:lvl2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2pPr>
            <a:lvl3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3pPr>
            <a:lvl4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4pPr>
            <a:lvl5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5pPr>
            <a:lvl6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6pPr>
            <a:lvl7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7pPr>
            <a:lvl8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8pPr>
            <a:lvl9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r">
              <a:buNone/>
              <a:def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Melspec 优化  /  0</a:t>
            </a:r>
            <a:r>
              <a:rPr sz="750" b="0">
                <a:solidFill>
                  <a:srgbClr val="007FA6"/>
                </a:solidFill>
                <a:latin typeface="微软雅黑"/>
                <a:ea typeface="微软雅黑"/>
                <a:cs typeface="微软雅黑"/>
              </a:rPr>
              <a:t>9</a:t>
            </a:r>
            <a:endParaRPr sz="750" b="0">
              <a:solidFill>
                <a:srgbClr val="007FA6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3" name="Chart">
            <a:extLst xmlns:a="http://schemas.openxmlformats.org/drawingml/2006/main">
              <a:ext uri="{FF2B5EF4-FFF2-40B4-BE49-F238E27FC236}">
                <a16:creationId xmlns:a16="http://schemas.microsoft.com/office/drawing/2014/main" id="{EE058BE1-25AE-4D5E-A188-FAA30BDA0ADA}"/>
              </a:ext>
            </a:extLst>
          </p:cNvPr>
          <p:cNvGraphicFramePr/>
          <p:nvPr/>
        </p:nvGraphicFramePr>
        <p:xfrm>
          <a:off xmlns:a="http://schemas.openxmlformats.org/drawingml/2006/main" x="685800" y="1952625"/>
          <a:ext xmlns:a="http://schemas.openxmlformats.org/drawingml/2006/main" cx="6096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e5f725ed564fbc"/>
          </a:graphicData>
        </a:graphic>
      </p:graphicFrame>
    </p:spTree>
    <p:extLst>
      <p:ext uri="{BB962C8B-B14F-4D97-AF65-F5344CB8AC3E}">
        <p14:creationId xmlns:p14="http://schemas.microsoft.com/office/powerpoint/2010/main" val="31067022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2">
            <a:extLst xmlns:a="http://schemas.openxmlformats.org/drawingml/2006/main">
              <a:ext uri="{FF2B5EF4-FFF2-40B4-BE49-F238E27FC236}">
                <a16:creationId xmlns:a16="http://schemas.microsoft.com/office/drawing/2014/main" id="{9E714B4F-BEF8-4980-94C6-86D79851B7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e99713a3145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365" cy="6866255"/>
          </a:xfrm>
          <a:prstGeom xmlns:a="http://schemas.openxmlformats.org/drawingml/2006/main" prst="rect">
            <a:avLst/>
          </a:prstGeom>
        </p:spPr>
      </p:pic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4C71744E-C27E-4A09-8ABE-27D6EC61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143125"/>
            <a:ext cx="7470775" cy="802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4400" b="1">
                <a:solidFill>
                  <a:srgbClr val="FFFFFF"/>
                </a:solidFill>
                <a:latin typeface="SDK_SC_Web"/>
                <a:ea typeface="SDK_SC_Web"/>
                <a:cs typeface="SDK_SC_Web"/>
              </a:rPr>
              <a:t>Thanks for Listening!</a:t>
            </a:r>
            <a:endParaRPr sz="4400" b="1">
              <a:solidFill>
                <a:srgbClr val="FFFFFF"/>
              </a:solidFill>
              <a:latin typeface="SDK_SC_Web"/>
              <a:ea typeface="SDK_SC_Web"/>
              <a:cs typeface="SDK_SC_Web"/>
            </a:endParaRP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1060D85-C4FD-40A4-B45D-8665F126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defPPr>
            <a:lvl1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1pPr>
            <a:lvl2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2pPr>
            <a:lvl3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3pPr>
            <a:lvl4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4pPr>
            <a:lvl5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5pPr>
            <a:lvl6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6pPr>
            <a:lvl7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7pPr>
            <a:lvl8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8pPr>
            <a:lvl9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24A8DD"/>
                </a:solidFill>
                <a:latin typeface="微软雅黑"/>
                <a:ea typeface="微软雅黑"/>
                <a:cs typeface="微软雅黑"/>
              </a:defRPr>
            </a:pPr>
            <a:endParaRPr sz="1200" b="0">
              <a:solidFill>
                <a:srgbClr val="24A8DD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323665610"/>
      </p:ext>
    </p:extLst>
  </p:cSld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2026-10-31T09:29:19.6020000Z</dcterms:created>
  <dcterms:modified xsi:type="dcterms:W3CDTF">2026-10-31T09:29:19.6020000Z</dcterms:modified>
</coreProperties>
</file>